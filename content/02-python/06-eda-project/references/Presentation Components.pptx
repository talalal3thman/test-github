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429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9F50-3724-1F28-5ADB-309A64E21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55ADC-572D-CC13-9578-6C5358065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0120F-1131-C200-7E61-360823CEA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822F1-56A5-4C34-9614-076E0EFF3B1E}" type="datetimeFigureOut">
              <a:rPr lang="en-US" smtClean="0"/>
              <a:t>2026-09-09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C57C0-84D9-2A5F-0813-105FB0D13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8AD61-6B6F-67B2-87C8-BC72369F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0176-EF3E-4BE4-A0B6-F5F12D0C0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93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6D82-5D61-6159-6191-E2060BCD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BB55F-30CB-4B65-525D-E9F42C61C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E6985-BA66-96F5-B169-31FED9617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822F1-56A5-4C34-9614-076E0EFF3B1E}" type="datetimeFigureOut">
              <a:rPr lang="en-US" smtClean="0"/>
              <a:t>2026-09-09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70F62-80B0-875C-376B-44DD629E4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882A0-CBE2-15E3-C0DE-D591C0B4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0176-EF3E-4BE4-A0B6-F5F12D0C0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1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4D64A-314B-CB75-E25F-AD7E79741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431E6-935A-3A0F-3692-55315FA00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54FD4-9CB5-8701-0797-2985E249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822F1-56A5-4C34-9614-076E0EFF3B1E}" type="datetimeFigureOut">
              <a:rPr lang="en-US" smtClean="0"/>
              <a:t>2026-09-09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61E9B-20B0-443C-D904-492C1A773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60AF7-11E7-4EC4-DCA6-EC7B548DA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0176-EF3E-4BE4-A0B6-F5F12D0C0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63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CA32-13EF-7BAA-1C43-628F98C8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A2996-7C7E-33B1-C9C2-9F0A4D252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9CBAE-49AF-E3CD-6D01-E4B2079EA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5D464-A2C3-6E7C-9CDC-D28244CE1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822F1-56A5-4C34-9614-076E0EFF3B1E}" type="datetimeFigureOut">
              <a:rPr lang="en-US" smtClean="0"/>
              <a:t>2026-09-09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3CFD2-CA4A-2DFD-8465-5E561DD1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18D2E-1251-A065-19F5-10A185C35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0176-EF3E-4BE4-A0B6-F5F12D0C0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03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8817A-8D80-971E-3C03-31309321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5044B-E35A-5C21-BE4C-1FDE3DFA8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45B74-8076-0317-0011-86A97BD1D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22BF78-5DFD-C97B-B454-BF8AB93D4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A8CF29-3789-0A3F-BB7E-38DCA9B2C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32CAA-8D19-B157-AC19-25AD53DD4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822F1-56A5-4C34-9614-076E0EFF3B1E}" type="datetimeFigureOut">
              <a:rPr lang="en-US" smtClean="0"/>
              <a:t>2026-09-09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A5E7C1-3543-050F-2B17-5D77F5261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0F49A-D00E-30A8-1C4A-02761E53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0176-EF3E-4BE4-A0B6-F5F12D0C0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6C09-30B3-6534-C093-0C5357265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239D9B-9BDE-DC63-3B49-F78718A67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822F1-56A5-4C34-9614-076E0EFF3B1E}" type="datetimeFigureOut">
              <a:rPr lang="en-US" smtClean="0"/>
              <a:t>2026-09-09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1906D-E976-E26D-BDF9-561BD933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B5654-9BFA-EA14-7BBC-19BF79E34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0176-EF3E-4BE4-A0B6-F5F12D0C0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4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7A789A-D6EC-4065-D97A-CA141F0C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822F1-56A5-4C34-9614-076E0EFF3B1E}" type="datetimeFigureOut">
              <a:rPr lang="en-US" smtClean="0"/>
              <a:t>2026-09-09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46BB16-2675-3AD8-CD0E-AEE5489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09217-3FDD-AAE0-9862-C294E9599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0176-EF3E-4BE4-A0B6-F5F12D0C0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10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AA87-5813-ABF6-A59A-408F28280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E3AD5-A0DE-DC24-56AD-8B4D91B65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C9AE1-DE26-CB3F-AD32-555B3B56E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88128-EA58-6139-E179-33A00A199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822F1-56A5-4C34-9614-076E0EFF3B1E}" type="datetimeFigureOut">
              <a:rPr lang="en-US" smtClean="0"/>
              <a:t>2026-09-09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F2E38-71AC-BB55-DFE7-577333648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60794-4AD5-EB22-CEAE-B2158DD7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0176-EF3E-4BE4-A0B6-F5F12D0C0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2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295F-B307-7E0D-C8BC-FD246F17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E6664-9AAD-6FC9-8670-93557CB4F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B124D-86EE-E8AB-27FE-992099BD6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19872-D671-43BC-E54F-1B0589B9E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822F1-56A5-4C34-9614-076E0EFF3B1E}" type="datetimeFigureOut">
              <a:rPr lang="en-US" smtClean="0"/>
              <a:t>2026-09-09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BD496-F2CB-B870-88A3-10591FD7A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C3394-FF85-56B1-AC5E-559D0D1FE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0176-EF3E-4BE4-A0B6-F5F12D0C0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76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F831-3641-27D0-0365-551B5C206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3F684-5E4D-0F6C-F5C4-2789BAA0E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22814-317B-749F-3AE5-009A78099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822F1-56A5-4C34-9614-076E0EFF3B1E}" type="datetimeFigureOut">
              <a:rPr lang="en-US" smtClean="0"/>
              <a:t>2026-09-09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C2D8E-8CC3-C562-0CD6-87E922CD1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ADAD0-5972-791B-C05B-B036343D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0176-EF3E-4BE4-A0B6-F5F12D0C0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21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CBEDBB-E462-098B-7DDA-5D37A4E9C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017EE-8C25-D9A3-5BF1-338466E6A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D9746-49E0-7370-956C-FA8D1AD3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822F1-56A5-4C34-9614-076E0EFF3B1E}" type="datetimeFigureOut">
              <a:rPr lang="en-US" smtClean="0"/>
              <a:t>2026-09-09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B5DEA-D8DA-AB6F-5985-E531705C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8D0A0-8979-2C5B-DF4A-F25992A13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F0176-EF3E-4BE4-A0B6-F5F12D0C0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3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F742DC-6376-4858-4B6A-24DB7AEFE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C87D2-6390-FBB2-9B95-39052EF33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9E4A0-C124-F267-4243-C124FF710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822F1-56A5-4C34-9614-076E0EFF3B1E}" type="datetimeFigureOut">
              <a:rPr lang="en-US" smtClean="0"/>
              <a:t>2026-09-09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B40F1-E8AA-65A2-5475-D4EBF9F9A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46524-BB32-4546-F0EF-445EF075D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F0176-EF3E-4BE4-A0B6-F5F12D0C0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2956" y="1606663"/>
            <a:ext cx="685782" cy="520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67407" y="2600215"/>
            <a:ext cx="5456878" cy="184807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2080"/>
              </a:spcAft>
            </a:pPr>
            <a:r>
              <a:rPr sz="4305" b="1">
                <a:solidFill>
                  <a:srgbClr val="1284BA"/>
                </a:solidFill>
                <a:latin typeface="Source Code Pro"/>
              </a:rPr>
              <a:t> </a:t>
            </a:r>
            <a:r>
              <a:rPr lang="en-US" sz="4305" b="1">
                <a:solidFill>
                  <a:srgbClr val="1284BA"/>
                </a:solidFill>
                <a:latin typeface="Source Code Pro"/>
              </a:rPr>
              <a:t>EDA </a:t>
            </a:r>
            <a:r>
              <a:rPr sz="4305" b="1">
                <a:solidFill>
                  <a:srgbClr val="1284BA"/>
                </a:solidFill>
                <a:latin typeface="Source Code Pro"/>
              </a:rPr>
              <a:t>Project</a:t>
            </a:r>
            <a:r>
              <a:rPr sz="1104" dirty="0"/>
              <a:t>
</a:t>
            </a:r>
            <a:r>
              <a:rPr sz="4305" b="1" dirty="0">
                <a:solidFill>
                  <a:srgbClr val="1284BA"/>
                </a:solidFill>
                <a:latin typeface="Source Code Pro"/>
              </a:rPr>
              <a:t>Deck Components 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1885" y="4686300"/>
            <a:ext cx="3047923" cy="38100"/>
          </a:xfrm>
          <a:prstGeom prst="rect">
            <a:avLst/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5567" y="5029200"/>
            <a:ext cx="560055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1284BA"/>
                </a:solidFill>
                <a:latin typeface="Roboto Flex"/>
              </a:rPr>
              <a:t>A Complete Guide to Building Your Presentation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428750"/>
            <a:ext cx="27621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862F"/>
                </a:solidFill>
                <a:latin typeface="Source Code Pro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5347" y="1466849"/>
            <a:ext cx="205734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</a:rPr>
              <a:t>Cover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33" y="2038349"/>
            <a:ext cx="914377" cy="38100"/>
          </a:xfrm>
          <a:prstGeom prst="rect">
            <a:avLst/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367583"/>
            <a:ext cx="266693" cy="1797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9624" y="2305049"/>
            <a:ext cx="205734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</a:rPr>
              <a:t>What to Include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23" y="2724150"/>
            <a:ext cx="5810104" cy="28575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Roboto Flex"/>
              </a:rPr>
              <a:t>• Project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23" y="3086100"/>
            <a:ext cx="5810104" cy="28575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 dirty="0">
                <a:solidFill>
                  <a:srgbClr val="333333"/>
                </a:solidFill>
                <a:latin typeface="Roboto Flex"/>
              </a:rPr>
              <a:t>• Team member(s)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23" y="3421871"/>
            <a:ext cx="1701235" cy="338106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 dirty="0">
                <a:solidFill>
                  <a:srgbClr val="333333"/>
                </a:solidFill>
                <a:latin typeface="Roboto Flex"/>
              </a:rPr>
              <a:t>• Organization </a:t>
            </a:r>
            <a:r>
              <a:rPr lang="en-US" sz="1196" b="0" dirty="0">
                <a:solidFill>
                  <a:srgbClr val="333333"/>
                </a:solidFill>
                <a:latin typeface="Roboto Flex"/>
              </a:rPr>
              <a:t>if exist</a:t>
            </a:r>
            <a:endParaRPr sz="1196" b="0" dirty="0">
              <a:solidFill>
                <a:srgbClr val="333333"/>
              </a:solidFill>
              <a:latin typeface="Roboto Flex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7723" y="3809999"/>
            <a:ext cx="5810104" cy="28575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Roboto Flex"/>
              </a:rPr>
              <a:t>• Date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4444240"/>
            <a:ext cx="266693" cy="2174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24" y="4400550"/>
            <a:ext cx="192400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23" y="4819650"/>
            <a:ext cx="5810104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Roboto Flex"/>
              </a:rPr>
              <a:t> Sets context and professionalism.</a:t>
            </a:r>
            <a:r>
              <a:rPr sz="1104"/>
              <a:t>
</a:t>
            </a:r>
            <a:r>
              <a:rPr sz="1196" b="0">
                <a:solidFill>
                  <a:srgbClr val="333333"/>
                </a:solidFill>
                <a:latin typeface="Roboto Flex"/>
              </a:rPr>
              <a:t> Creates first impression and establishes credibility.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8C6215-3ED5-7A42-99A8-E7200ACA2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991" y="1203638"/>
            <a:ext cx="6679931" cy="37939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36352"/>
            <a:ext cx="368947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70" b="1" dirty="0">
                <a:solidFill>
                  <a:srgbClr val="FF862F"/>
                </a:solidFill>
                <a:latin typeface="Source Code Pro"/>
              </a:rPr>
              <a:t>2</a:t>
            </a:r>
            <a:endParaRPr sz="2870" b="1" dirty="0">
              <a:solidFill>
                <a:srgbClr val="FF862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8199" y="174119"/>
            <a:ext cx="2954591" cy="43281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52" b="1" dirty="0">
                <a:solidFill>
                  <a:srgbClr val="1284BA"/>
                </a:solidFill>
                <a:latin typeface="Source Code Pro"/>
              </a:rPr>
              <a:t>Problem</a:t>
            </a:r>
            <a:r>
              <a:rPr sz="2152" b="1" dirty="0">
                <a:solidFill>
                  <a:srgbClr val="1284BA"/>
                </a:solidFill>
                <a:latin typeface="Source Code Pro"/>
              </a:rPr>
              <a:t> Statement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423635"/>
            <a:ext cx="304792" cy="2608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1382604"/>
            <a:ext cx="257168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 dirty="0">
                <a:solidFill>
                  <a:srgbClr val="1284BA"/>
                </a:solidFill>
                <a:latin typeface="Source Code Pro"/>
              </a:rPr>
              <a:t>What to Include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6773" y="206840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5368" y="1968718"/>
            <a:ext cx="3746712" cy="71372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 dirty="0">
                <a:solidFill>
                  <a:srgbClr val="333333"/>
                </a:solidFill>
                <a:latin typeface="Roboto Flex"/>
              </a:rPr>
              <a:t>Clear problem statement or business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773" y="303995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5367" y="2925655"/>
            <a:ext cx="256216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33333"/>
                </a:solidFill>
                <a:latin typeface="Roboto Flex"/>
              </a:rPr>
              <a:t>Objectives of the analysis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02" y="3767661"/>
            <a:ext cx="304792" cy="2579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7692" y="3725164"/>
            <a:ext cx="240023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284BA"/>
                </a:solidFill>
                <a:latin typeface="Source Code Pro"/>
              </a:rPr>
              <a:t>Why It Matters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791" y="441096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385" y="4311278"/>
            <a:ext cx="3544753" cy="71372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 dirty="0">
                <a:solidFill>
                  <a:srgbClr val="333333"/>
                </a:solidFill>
                <a:latin typeface="Roboto Flex"/>
              </a:rPr>
              <a:t>Defines what problem you are solving and why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791" y="538251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385" y="5268215"/>
            <a:ext cx="285742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33333"/>
                </a:solidFill>
                <a:latin typeface="Roboto Flex"/>
              </a:rPr>
              <a:t>Provides focus and direction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9A1715-32E5-F5D2-ECE1-B128D8351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344" y="1214240"/>
            <a:ext cx="6485054" cy="3727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36352"/>
            <a:ext cx="368947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70" b="1" dirty="0">
                <a:solidFill>
                  <a:srgbClr val="FF862F"/>
                </a:solidFill>
                <a:latin typeface="Source Code Pro"/>
              </a:rPr>
              <a:t>3</a:t>
            </a:r>
            <a:endParaRPr sz="2870" b="1" dirty="0">
              <a:solidFill>
                <a:srgbClr val="FF862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8199" y="200025"/>
            <a:ext cx="1647783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</a:rPr>
              <a:t>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78197" y="273294"/>
            <a:ext cx="2438339" cy="2028825"/>
          </a:xfrm>
          <a:prstGeom prst="roundRect">
            <a:avLst>
              <a:gd name="adj" fmla="val 7511"/>
            </a:avLst>
          </a:prstGeom>
          <a:gradFill rotWithShape="1">
            <a:gsLst>
              <a:gs pos="0">
                <a:srgbClr val="1284BA"/>
              </a:gs>
              <a:gs pos="100000">
                <a:srgbClr val="0D6A9A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2574" y="575047"/>
            <a:ext cx="609584" cy="4632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36051" y="1080508"/>
            <a:ext cx="2122632" cy="7477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780"/>
              </a:spcAft>
            </a:pPr>
            <a:r>
              <a:rPr sz="1600" b="1" dirty="0">
                <a:solidFill>
                  <a:srgbClr val="FFFFFF"/>
                </a:solidFill>
                <a:latin typeface="Source Code Pro"/>
              </a:rPr>
              <a:t>Core Work</a:t>
            </a:r>
            <a:br>
              <a:rPr lang="en-US" sz="1600" b="1" dirty="0">
                <a:solidFill>
                  <a:srgbClr val="FFFFFF"/>
                </a:solidFill>
                <a:latin typeface="Source Code Pro"/>
              </a:rPr>
            </a:br>
            <a:r>
              <a:rPr lang="en-US" sz="1600" b="1" dirty="0">
                <a:solidFill>
                  <a:srgbClr val="FFFFFF"/>
                </a:solidFill>
                <a:latin typeface="Source Code Pro"/>
              </a:rPr>
              <a:t>5 slides minimum</a:t>
            </a:r>
            <a:endParaRPr sz="1600" b="1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78237" y="1759195"/>
            <a:ext cx="163825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</a:rPr>
              <a:t>Evidence &amp; Insights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3" y="2250607"/>
            <a:ext cx="304792" cy="2344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5913" y="2196387"/>
            <a:ext cx="257168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284BA"/>
                </a:solidFill>
                <a:latin typeface="Source Code Pro"/>
              </a:rPr>
              <a:t>What to Include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4012" y="2844088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2606" y="2729788"/>
            <a:ext cx="494335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33333"/>
                </a:solidFill>
                <a:latin typeface="Roboto Flex"/>
              </a:rPr>
              <a:t>Methods used (EDA, statistics, modeling, trends)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012" y="3377488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2606" y="3263188"/>
            <a:ext cx="369560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33333"/>
                </a:solidFill>
                <a:latin typeface="Roboto Flex"/>
              </a:rPr>
              <a:t>Key insights and patterns discovered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3" y="3988553"/>
            <a:ext cx="304792" cy="22566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5913" y="3929937"/>
            <a:ext cx="240023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284BA"/>
                </a:solidFill>
                <a:latin typeface="Source Code Pro"/>
              </a:rPr>
              <a:t>Why It Matters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012" y="4577638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2606" y="4463338"/>
            <a:ext cx="3781330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33333"/>
                </a:solidFill>
                <a:latin typeface="Roboto Flex"/>
              </a:rPr>
              <a:t>The core analytics work and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012" y="5111038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2606" y="4996738"/>
            <a:ext cx="343843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33333"/>
                </a:solidFill>
                <a:latin typeface="Roboto Flex"/>
              </a:rPr>
              <a:t>Provides substance and credibility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A83E824-C889-A835-7A19-CF306155FB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9247" y="2635493"/>
            <a:ext cx="6602826" cy="33886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36352"/>
            <a:ext cx="368947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70" b="1" dirty="0">
                <a:solidFill>
                  <a:srgbClr val="FF862F"/>
                </a:solidFill>
                <a:latin typeface="Source Code Pro"/>
              </a:rPr>
              <a:t>4</a:t>
            </a:r>
            <a:endParaRPr sz="2870" b="1" dirty="0">
              <a:solidFill>
                <a:srgbClr val="FF862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8199" y="200025"/>
            <a:ext cx="287647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</a:rPr>
              <a:t>Recommendation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195146"/>
            <a:ext cx="304792" cy="257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2152650"/>
            <a:ext cx="257168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284BA"/>
                </a:solidFill>
                <a:latin typeface="Source Code Pro"/>
              </a:rPr>
              <a:t>What to Include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6773" y="28003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5367" y="2686050"/>
            <a:ext cx="363845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33333"/>
                </a:solidFill>
                <a:latin typeface="Roboto Flex"/>
              </a:rPr>
              <a:t>Actionable, data-driven suggestions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773" y="33337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5367" y="3219449"/>
            <a:ext cx="419089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33333"/>
                </a:solidFill>
                <a:latin typeface="Roboto Flex"/>
              </a:rPr>
              <a:t>Business impact of the recommendations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" y="4066682"/>
            <a:ext cx="342891" cy="2867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6773" y="4038599"/>
            <a:ext cx="240023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862F"/>
                </a:solidFill>
                <a:latin typeface="Source Code Pro"/>
              </a:rPr>
              <a:t>Why It Matters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6773" y="46863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95367" y="4572000"/>
            <a:ext cx="2933626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33333"/>
                </a:solidFill>
                <a:latin typeface="Roboto Flex"/>
              </a:rPr>
              <a:t>Turns insights into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6773" y="52578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5367" y="5143500"/>
            <a:ext cx="345748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33333"/>
                </a:solidFill>
                <a:latin typeface="Roboto Flex"/>
              </a:rPr>
              <a:t>Drives action and implementation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046BA2-6EBF-E274-6248-A6D8B20FE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057" y="1611116"/>
            <a:ext cx="6610711" cy="35976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36352"/>
            <a:ext cx="368947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70" b="1">
                <a:solidFill>
                  <a:srgbClr val="FF862F"/>
                </a:solidFill>
                <a:latin typeface="Source Code Pro"/>
              </a:rPr>
              <a:t>5</a:t>
            </a:r>
            <a:endParaRPr sz="2870" b="1" dirty="0">
              <a:solidFill>
                <a:srgbClr val="FF862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8199" y="200025"/>
            <a:ext cx="205734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</a:rPr>
              <a:t>Limitation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1000" y="1886770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8267" y="1860166"/>
            <a:ext cx="257168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 dirty="0">
                <a:solidFill>
                  <a:srgbClr val="1284BA"/>
                </a:solidFill>
                <a:latin typeface="Source Code Pro"/>
              </a:rPr>
              <a:t>What to Include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593" y="32765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1089" y="3130104"/>
            <a:ext cx="189542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 dirty="0">
                <a:solidFill>
                  <a:srgbClr val="333333"/>
                </a:solidFill>
                <a:latin typeface="Roboto Flex"/>
              </a:rPr>
              <a:t>Data quality issues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291" y="2793648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786" y="2634275"/>
            <a:ext cx="2943151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 dirty="0">
                <a:solidFill>
                  <a:srgbClr val="333333"/>
                </a:solidFill>
                <a:latin typeface="Roboto Flex"/>
              </a:rPr>
              <a:t>Assumptions and constraints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8526" y="37016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9021" y="3542227"/>
            <a:ext cx="279075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 dirty="0">
                <a:solidFill>
                  <a:srgbClr val="333333"/>
                </a:solidFill>
                <a:latin typeface="Roboto Flex"/>
              </a:rPr>
              <a:t>What could not be analyzed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36" y="4145674"/>
            <a:ext cx="342891" cy="3192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4624" y="4133849"/>
            <a:ext cx="240023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 dirty="0">
                <a:solidFill>
                  <a:srgbClr val="FF862F"/>
                </a:solidFill>
                <a:latin typeface="Source Code Pro"/>
              </a:rPr>
              <a:t>Why It Matters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513" y="482608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3008" y="4673155"/>
            <a:ext cx="523861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 dirty="0">
                <a:solidFill>
                  <a:srgbClr val="333333"/>
                </a:solidFill>
                <a:latin typeface="Roboto Flex"/>
              </a:rPr>
              <a:t>Demonstrates analytical maturity and transparency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288" y="55344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6783" y="5387929"/>
            <a:ext cx="267645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 dirty="0">
                <a:solidFill>
                  <a:srgbClr val="333333"/>
                </a:solidFill>
                <a:latin typeface="Roboto Flex"/>
              </a:rPr>
              <a:t>Builds trust and credibility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64CFBA4-C232-4062-1B20-FCDA71305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2" y="1669424"/>
            <a:ext cx="6853613" cy="4064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181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Roboto Flex</vt:lpstr>
      <vt:lpstr>Source Code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Sayed Ali Alholaibi (Student)</dc:creator>
  <cp:lastModifiedBy>Sayed Ali Alholaibi (Student)</cp:lastModifiedBy>
  <cp:revision>2</cp:revision>
  <dcterms:created xsi:type="dcterms:W3CDTF">2026-09-09T16:47:01Z</dcterms:created>
  <dcterms:modified xsi:type="dcterms:W3CDTF">2026-09-09T16:48:48Z</dcterms:modified>
</cp:coreProperties>
</file>