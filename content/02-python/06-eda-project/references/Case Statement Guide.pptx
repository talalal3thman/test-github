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0"/>
  </p:notesMasterIdLst>
  <p:sldIdLst>
    <p:sldId id="256" r:id="rId2"/>
    <p:sldId id="258" r:id="rId3"/>
    <p:sldId id="261" r:id="rId4"/>
    <p:sldId id="266" r:id="rId5"/>
    <p:sldId id="270" r:id="rId6"/>
    <p:sldId id="267" r:id="rId7"/>
    <p:sldId id="268" r:id="rId8"/>
    <p:sldId id="269" r:id="rId9"/>
  </p:sldIdLst>
  <p:sldSz cx="12192000" cy="6858000"/>
  <p:notesSz cx="6858000" cy="12192000"/>
  <p:embeddedFontLst>
    <p:embeddedFont>
      <p:font typeface="Liter" panose="020B0604020202020204" charset="0"/>
      <p:regular r:id="rId1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0" d="100"/>
          <a:sy n="90" d="100"/>
        </p:scale>
        <p:origin x="19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892634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A959D-042B-03F2-35A4-B7DD6479C4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1C6B6A-37FE-805A-A2DE-6BA1F47E1B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CEC446-34C6-8690-F5B1-73F04AD3B08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05AEFC-D3E2-02F4-2C7D-2369BC73E35B}"/>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4079407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5715000" y="1528763"/>
            <a:ext cx="762000" cy="762000"/>
          </a:xfrm>
          <a:custGeom>
            <a:avLst/>
            <a:gdLst/>
            <a:ahLst/>
            <a:cxnLst/>
            <a:rect l="l" t="t" r="r" b="b"/>
            <a:pathLst>
              <a:path w="762000" h="762000">
                <a:moveTo>
                  <a:pt x="381000" y="0"/>
                </a:moveTo>
                <a:lnTo>
                  <a:pt x="381000" y="0"/>
                </a:lnTo>
                <a:cubicBezTo>
                  <a:pt x="591280" y="0"/>
                  <a:pt x="762000" y="170720"/>
                  <a:pt x="762000" y="381000"/>
                </a:cubicBezTo>
                <a:lnTo>
                  <a:pt x="762000" y="381000"/>
                </a:lnTo>
                <a:cubicBezTo>
                  <a:pt x="762000" y="591280"/>
                  <a:pt x="591280" y="762000"/>
                  <a:pt x="381000" y="762000"/>
                </a:cubicBezTo>
                <a:lnTo>
                  <a:pt x="381000" y="762000"/>
                </a:lnTo>
                <a:cubicBezTo>
                  <a:pt x="170720" y="762000"/>
                  <a:pt x="0" y="591280"/>
                  <a:pt x="0" y="381000"/>
                </a:cubicBezTo>
                <a:lnTo>
                  <a:pt x="0" y="381000"/>
                </a:lnTo>
                <a:cubicBezTo>
                  <a:pt x="0" y="170720"/>
                  <a:pt x="170720" y="0"/>
                  <a:pt x="381000" y="0"/>
                </a:cubicBezTo>
                <a:close/>
              </a:path>
            </a:pathLst>
          </a:custGeom>
          <a:solidFill>
            <a:srgbClr val="1D1D1D"/>
          </a:solidFill>
          <a:ln/>
        </p:spPr>
        <p:txBody>
          <a:bodyPr/>
          <a:lstStyle/>
          <a:p>
            <a:endParaRPr lang="en-US"/>
          </a:p>
        </p:txBody>
      </p:sp>
      <p:sp>
        <p:nvSpPr>
          <p:cNvPr id="3" name="Shape 1"/>
          <p:cNvSpPr/>
          <p:nvPr/>
        </p:nvSpPr>
        <p:spPr>
          <a:xfrm>
            <a:off x="5991225" y="1766888"/>
            <a:ext cx="214313" cy="285750"/>
          </a:xfrm>
          <a:custGeom>
            <a:avLst/>
            <a:gdLst/>
            <a:ahLst/>
            <a:cxnLst/>
            <a:rect l="l" t="t" r="r" b="b"/>
            <a:pathLst>
              <a:path w="214313" h="285750">
                <a:moveTo>
                  <a:pt x="0" y="35719"/>
                </a:moveTo>
                <a:cubicBezTo>
                  <a:pt x="0" y="16018"/>
                  <a:pt x="16018" y="0"/>
                  <a:pt x="35719" y="0"/>
                </a:cubicBezTo>
                <a:lnTo>
                  <a:pt x="119156" y="0"/>
                </a:lnTo>
                <a:cubicBezTo>
                  <a:pt x="128643" y="0"/>
                  <a:pt x="137740" y="3739"/>
                  <a:pt x="144438" y="10437"/>
                </a:cubicBezTo>
                <a:lnTo>
                  <a:pt x="203876" y="69931"/>
                </a:lnTo>
                <a:cubicBezTo>
                  <a:pt x="210573" y="76628"/>
                  <a:pt x="214313" y="85725"/>
                  <a:pt x="214313" y="95213"/>
                </a:cubicBezTo>
                <a:lnTo>
                  <a:pt x="214313" y="250031"/>
                </a:lnTo>
                <a:cubicBezTo>
                  <a:pt x="214313" y="269732"/>
                  <a:pt x="198295" y="285750"/>
                  <a:pt x="178594" y="285750"/>
                </a:cubicBezTo>
                <a:lnTo>
                  <a:pt x="35719" y="285750"/>
                </a:lnTo>
                <a:cubicBezTo>
                  <a:pt x="16018" y="285750"/>
                  <a:pt x="0" y="269732"/>
                  <a:pt x="0" y="250031"/>
                </a:cubicBezTo>
                <a:lnTo>
                  <a:pt x="0" y="35719"/>
                </a:lnTo>
                <a:close/>
                <a:moveTo>
                  <a:pt x="116086" y="32649"/>
                </a:moveTo>
                <a:lnTo>
                  <a:pt x="116086" y="84832"/>
                </a:lnTo>
                <a:cubicBezTo>
                  <a:pt x="116086" y="92255"/>
                  <a:pt x="122058" y="98227"/>
                  <a:pt x="129480" y="98227"/>
                </a:cubicBezTo>
                <a:lnTo>
                  <a:pt x="181663" y="98227"/>
                </a:lnTo>
                <a:lnTo>
                  <a:pt x="116086" y="32649"/>
                </a:lnTo>
                <a:close/>
                <a:moveTo>
                  <a:pt x="66973" y="142875"/>
                </a:moveTo>
                <a:cubicBezTo>
                  <a:pt x="59550" y="142875"/>
                  <a:pt x="53578" y="148847"/>
                  <a:pt x="53578" y="156270"/>
                </a:cubicBezTo>
                <a:cubicBezTo>
                  <a:pt x="53578" y="163692"/>
                  <a:pt x="59550" y="169664"/>
                  <a:pt x="66973" y="169664"/>
                </a:cubicBezTo>
                <a:lnTo>
                  <a:pt x="147340" y="169664"/>
                </a:lnTo>
                <a:cubicBezTo>
                  <a:pt x="154763" y="169664"/>
                  <a:pt x="160734" y="163692"/>
                  <a:pt x="160734" y="156270"/>
                </a:cubicBezTo>
                <a:cubicBezTo>
                  <a:pt x="160734" y="148847"/>
                  <a:pt x="154763" y="142875"/>
                  <a:pt x="147340" y="142875"/>
                </a:cubicBezTo>
                <a:lnTo>
                  <a:pt x="66973" y="142875"/>
                </a:lnTo>
                <a:close/>
                <a:moveTo>
                  <a:pt x="66973" y="196453"/>
                </a:moveTo>
                <a:cubicBezTo>
                  <a:pt x="59550" y="196453"/>
                  <a:pt x="53578" y="202425"/>
                  <a:pt x="53578" y="209848"/>
                </a:cubicBezTo>
                <a:cubicBezTo>
                  <a:pt x="53578" y="217270"/>
                  <a:pt x="59550" y="223242"/>
                  <a:pt x="66973" y="223242"/>
                </a:cubicBezTo>
                <a:lnTo>
                  <a:pt x="147340" y="223242"/>
                </a:lnTo>
                <a:cubicBezTo>
                  <a:pt x="154763" y="223242"/>
                  <a:pt x="160734" y="217270"/>
                  <a:pt x="160734" y="209848"/>
                </a:cubicBezTo>
                <a:cubicBezTo>
                  <a:pt x="160734" y="202425"/>
                  <a:pt x="154763" y="196453"/>
                  <a:pt x="147340" y="196453"/>
                </a:cubicBezTo>
                <a:lnTo>
                  <a:pt x="66973" y="196453"/>
                </a:lnTo>
                <a:close/>
              </a:path>
            </a:pathLst>
          </a:custGeom>
          <a:solidFill>
            <a:srgbClr val="FFFFFF"/>
          </a:solidFill>
          <a:ln/>
        </p:spPr>
        <p:txBody>
          <a:bodyPr/>
          <a:lstStyle/>
          <a:p>
            <a:endParaRPr lang="en-US"/>
          </a:p>
        </p:txBody>
      </p:sp>
      <p:sp>
        <p:nvSpPr>
          <p:cNvPr id="4" name="Text 2"/>
          <p:cNvSpPr/>
          <p:nvPr/>
        </p:nvSpPr>
        <p:spPr>
          <a:xfrm>
            <a:off x="3509792" y="2824163"/>
            <a:ext cx="5840099" cy="857250"/>
          </a:xfrm>
          <a:prstGeom prst="rect">
            <a:avLst/>
          </a:prstGeom>
          <a:noFill/>
          <a:ln/>
        </p:spPr>
        <p:txBody>
          <a:bodyPr wrap="square" lIns="0" tIns="0" rIns="0" bIns="0" rtlCol="0" anchor="ctr"/>
          <a:lstStyle/>
          <a:p>
            <a:pPr algn="ctr">
              <a:lnSpc>
                <a:spcPct val="100000"/>
              </a:lnSpc>
            </a:pPr>
            <a:r>
              <a:rPr lang="en-US" sz="5400" b="1" dirty="0">
                <a:solidFill>
                  <a:srgbClr val="1D1D1D"/>
                </a:solidFill>
                <a:latin typeface="Liter" pitchFamily="34" charset="0"/>
                <a:ea typeface="Liter" pitchFamily="34" charset="-122"/>
                <a:cs typeface="Liter" pitchFamily="34" charset="-120"/>
              </a:rPr>
              <a:t>Problem Statement</a:t>
            </a:r>
            <a:endParaRPr lang="en-US" sz="1600" dirty="0"/>
          </a:p>
        </p:txBody>
      </p:sp>
      <p:sp>
        <p:nvSpPr>
          <p:cNvPr id="5" name="Text 3"/>
          <p:cNvSpPr/>
          <p:nvPr/>
        </p:nvSpPr>
        <p:spPr>
          <a:xfrm>
            <a:off x="2899087" y="3910013"/>
            <a:ext cx="6391275" cy="371475"/>
          </a:xfrm>
          <a:prstGeom prst="rect">
            <a:avLst/>
          </a:prstGeom>
          <a:noFill/>
          <a:ln/>
        </p:spPr>
        <p:txBody>
          <a:bodyPr wrap="square" lIns="0" tIns="0" rIns="0" bIns="0" rtlCol="0" anchor="ctr"/>
          <a:lstStyle/>
          <a:p>
            <a:pPr algn="ctr">
              <a:lnSpc>
                <a:spcPct val="140000"/>
              </a:lnSpc>
            </a:pPr>
            <a:r>
              <a:rPr lang="en-US" sz="1800" dirty="0">
                <a:solidFill>
                  <a:srgbClr val="86868B"/>
                </a:solidFill>
                <a:latin typeface="Liter" pitchFamily="34" charset="0"/>
                <a:ea typeface="Liter" pitchFamily="34" charset="-122"/>
                <a:cs typeface="Liter" pitchFamily="34" charset="-120"/>
              </a:rPr>
              <a:t>How to Write an Effective Case Statement for Your Projects</a:t>
            </a:r>
            <a:endParaRPr lang="en-US" sz="1600" dirty="0"/>
          </a:p>
        </p:txBody>
      </p:sp>
      <p:sp>
        <p:nvSpPr>
          <p:cNvPr id="6" name="Shape 4"/>
          <p:cNvSpPr/>
          <p:nvPr/>
        </p:nvSpPr>
        <p:spPr>
          <a:xfrm>
            <a:off x="5638800" y="4738688"/>
            <a:ext cx="914400" cy="19050"/>
          </a:xfrm>
          <a:custGeom>
            <a:avLst/>
            <a:gdLst/>
            <a:ahLst/>
            <a:cxnLst/>
            <a:rect l="l" t="t" r="r" b="b"/>
            <a:pathLst>
              <a:path w="914400" h="19050">
                <a:moveTo>
                  <a:pt x="0" y="0"/>
                </a:moveTo>
                <a:lnTo>
                  <a:pt x="914400" y="0"/>
                </a:lnTo>
                <a:lnTo>
                  <a:pt x="914400" y="19050"/>
                </a:lnTo>
                <a:lnTo>
                  <a:pt x="0" y="19050"/>
                </a:lnTo>
                <a:lnTo>
                  <a:pt x="0" y="0"/>
                </a:lnTo>
                <a:close/>
              </a:path>
            </a:pathLst>
          </a:custGeom>
          <a:solidFill>
            <a:srgbClr val="1D1D1D"/>
          </a:solidFill>
          <a:ln/>
        </p:spPr>
        <p:txBody>
          <a:bodyPr/>
          <a:lstStyle/>
          <a:p>
            <a:endParaRPr lang="en-US"/>
          </a:p>
        </p:txBody>
      </p:sp>
      <p:sp>
        <p:nvSpPr>
          <p:cNvPr id="7" name="Text 5"/>
          <p:cNvSpPr/>
          <p:nvPr/>
        </p:nvSpPr>
        <p:spPr>
          <a:xfrm>
            <a:off x="5368783" y="5062538"/>
            <a:ext cx="1457325" cy="266700"/>
          </a:xfrm>
          <a:prstGeom prst="rect">
            <a:avLst/>
          </a:prstGeom>
          <a:noFill/>
          <a:ln/>
        </p:spPr>
        <p:txBody>
          <a:bodyPr wrap="square" lIns="0" tIns="0" rIns="0" bIns="0" rtlCol="0" anchor="ctr"/>
          <a:lstStyle/>
          <a:p>
            <a:pPr algn="ctr">
              <a:lnSpc>
                <a:spcPct val="130000"/>
              </a:lnSpc>
            </a:pPr>
            <a:r>
              <a:rPr lang="en-US" sz="1350" dirty="0">
                <a:solidFill>
                  <a:srgbClr val="86868B"/>
                </a:solidFill>
                <a:latin typeface="Liter" pitchFamily="34" charset="0"/>
                <a:ea typeface="Liter" pitchFamily="34" charset="-122"/>
                <a:cs typeface="Liter" pitchFamily="34" charset="-120"/>
              </a:rPr>
              <a:t>A Complete Guide</a:t>
            </a:r>
            <a:endParaRPr lang="en-US" sz="1600" dirty="0"/>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kern="0" spc="105" dirty="0">
                <a:solidFill>
                  <a:srgbClr val="86868B"/>
                </a:solidFill>
                <a:latin typeface="Liter" pitchFamily="34" charset="0"/>
                <a:ea typeface="Liter" pitchFamily="34" charset="-122"/>
                <a:cs typeface="Liter" pitchFamily="34" charset="-120"/>
              </a:rPr>
              <a:t>FOUNDATION</a:t>
            </a:r>
            <a:endParaRPr lang="en-US" sz="1600" dirty="0"/>
          </a:p>
        </p:txBody>
      </p:sp>
      <p:sp>
        <p:nvSpPr>
          <p:cNvPr id="3" name="Text 1"/>
          <p:cNvSpPr/>
          <p:nvPr/>
        </p:nvSpPr>
        <p:spPr>
          <a:xfrm>
            <a:off x="381000" y="685800"/>
            <a:ext cx="11658600" cy="457200"/>
          </a:xfrm>
          <a:prstGeom prst="rect">
            <a:avLst/>
          </a:prstGeom>
          <a:noFill/>
          <a:ln/>
        </p:spPr>
        <p:txBody>
          <a:bodyPr wrap="square" lIns="0" tIns="0" rIns="0" bIns="0" rtlCol="0" anchor="ctr"/>
          <a:lstStyle/>
          <a:p>
            <a:pPr>
              <a:lnSpc>
                <a:spcPct val="80000"/>
              </a:lnSpc>
            </a:pPr>
            <a:r>
              <a:rPr lang="en-US" sz="3600" b="1" dirty="0">
                <a:solidFill>
                  <a:srgbClr val="1D1D1D"/>
                </a:solidFill>
                <a:latin typeface="Liter" pitchFamily="34" charset="0"/>
                <a:ea typeface="Liter" pitchFamily="34" charset="-122"/>
                <a:cs typeface="Liter" pitchFamily="34" charset="-120"/>
              </a:rPr>
              <a:t>What is a Problem Statement?</a:t>
            </a:r>
            <a:endParaRPr lang="en-US" sz="1600" dirty="0"/>
          </a:p>
        </p:txBody>
      </p:sp>
      <p:sp>
        <p:nvSpPr>
          <p:cNvPr id="4" name="Text 2"/>
          <p:cNvSpPr/>
          <p:nvPr/>
        </p:nvSpPr>
        <p:spPr>
          <a:xfrm>
            <a:off x="381000" y="1841726"/>
            <a:ext cx="11544300" cy="742950"/>
          </a:xfrm>
          <a:prstGeom prst="rect">
            <a:avLst/>
          </a:prstGeom>
          <a:noFill/>
          <a:ln/>
        </p:spPr>
        <p:txBody>
          <a:bodyPr wrap="square" lIns="0" tIns="0" rIns="0" bIns="0" rtlCol="0" anchor="ctr"/>
          <a:lstStyle/>
          <a:p>
            <a:pPr>
              <a:lnSpc>
                <a:spcPct val="140000"/>
              </a:lnSpc>
            </a:pPr>
            <a:r>
              <a:rPr lang="en-US" sz="1800" dirty="0">
                <a:solidFill>
                  <a:srgbClr val="1D1D1D"/>
                </a:solidFill>
                <a:latin typeface="Liter" pitchFamily="34" charset="0"/>
                <a:ea typeface="Liter" pitchFamily="34" charset="-122"/>
                <a:cs typeface="Liter" pitchFamily="34" charset="-120"/>
              </a:rPr>
              <a:t>A </a:t>
            </a:r>
            <a:r>
              <a:rPr lang="en-US" b="1" dirty="0">
                <a:solidFill>
                  <a:srgbClr val="1D1D1D"/>
                </a:solidFill>
                <a:latin typeface="Liter" pitchFamily="34" charset="0"/>
                <a:ea typeface="Liter" pitchFamily="34" charset="-122"/>
                <a:cs typeface="Liter" pitchFamily="34" charset="-120"/>
              </a:rPr>
              <a:t>problem</a:t>
            </a:r>
            <a:r>
              <a:rPr lang="en-US" sz="1800" b="1" dirty="0">
                <a:solidFill>
                  <a:srgbClr val="1D1D1D"/>
                </a:solidFill>
                <a:latin typeface="Liter" pitchFamily="34" charset="0"/>
                <a:ea typeface="Liter" pitchFamily="34" charset="-122"/>
                <a:cs typeface="Liter" pitchFamily="34" charset="-120"/>
              </a:rPr>
              <a:t> statement</a:t>
            </a:r>
            <a:r>
              <a:rPr lang="en-US" sz="1800" dirty="0">
                <a:solidFill>
                  <a:srgbClr val="1D1D1D"/>
                </a:solidFill>
                <a:latin typeface="Liter" pitchFamily="34" charset="0"/>
                <a:ea typeface="Liter" pitchFamily="34" charset="-122"/>
                <a:cs typeface="Liter" pitchFamily="34" charset="-120"/>
              </a:rPr>
              <a:t> (also known as a case statement) is a </a:t>
            </a:r>
            <a:r>
              <a:rPr lang="en-US" sz="1800" dirty="0">
                <a:solidFill>
                  <a:srgbClr val="0071E3"/>
                </a:solidFill>
                <a:latin typeface="Liter" pitchFamily="34" charset="0"/>
                <a:ea typeface="Liter" pitchFamily="34" charset="-122"/>
                <a:cs typeface="Liter" pitchFamily="34" charset="-120"/>
              </a:rPr>
              <a:t>brief description of an issue</a:t>
            </a:r>
            <a:r>
              <a:rPr lang="en-US" sz="1800" dirty="0">
                <a:solidFill>
                  <a:srgbClr val="1D1D1D"/>
                </a:solidFill>
                <a:latin typeface="Liter" pitchFamily="34" charset="0"/>
                <a:ea typeface="Liter" pitchFamily="34" charset="-122"/>
                <a:cs typeface="Liter" pitchFamily="34" charset="-120"/>
              </a:rPr>
              <a:t> within a project or research context that requires resolution.</a:t>
            </a:r>
            <a:endParaRPr lang="en-US" sz="1600" dirty="0"/>
          </a:p>
        </p:txBody>
      </p:sp>
      <p:sp>
        <p:nvSpPr>
          <p:cNvPr id="5" name="Text 3"/>
          <p:cNvSpPr/>
          <p:nvPr/>
        </p:nvSpPr>
        <p:spPr>
          <a:xfrm>
            <a:off x="381000" y="2813276"/>
            <a:ext cx="11525250" cy="619125"/>
          </a:xfrm>
          <a:prstGeom prst="rect">
            <a:avLst/>
          </a:prstGeom>
          <a:noFill/>
          <a:ln/>
        </p:spPr>
        <p:txBody>
          <a:bodyPr wrap="square" lIns="0" tIns="0" rIns="0" bIns="0" rtlCol="0" anchor="ctr"/>
          <a:lstStyle/>
          <a:p>
            <a:pPr>
              <a:lnSpc>
                <a:spcPct val="140000"/>
              </a:lnSpc>
            </a:pPr>
            <a:r>
              <a:rPr lang="en-US" sz="1500" dirty="0">
                <a:solidFill>
                  <a:srgbClr val="86868B"/>
                </a:solidFill>
                <a:latin typeface="Liter" pitchFamily="34" charset="0"/>
                <a:ea typeface="Liter" pitchFamily="34" charset="-122"/>
                <a:cs typeface="Liter" pitchFamily="34" charset="-120"/>
              </a:rPr>
              <a:t>Its main objective is to identify the gap of the </a:t>
            </a:r>
            <a:r>
              <a:rPr lang="en-US" sz="1500" b="1" dirty="0">
                <a:solidFill>
                  <a:srgbClr val="86868B"/>
                </a:solidFill>
                <a:latin typeface="Liter" pitchFamily="34" charset="0"/>
                <a:ea typeface="Liter" pitchFamily="34" charset="-122"/>
                <a:cs typeface="Liter" pitchFamily="34" charset="-120"/>
              </a:rPr>
              <a:t>current state, </a:t>
            </a:r>
            <a:r>
              <a:rPr lang="en-US" sz="1500" dirty="0">
                <a:solidFill>
                  <a:srgbClr val="86868B"/>
                </a:solidFill>
                <a:latin typeface="Liter" pitchFamily="34" charset="0"/>
                <a:ea typeface="Liter" pitchFamily="34" charset="-122"/>
                <a:cs typeface="Liter" pitchFamily="34" charset="-120"/>
              </a:rPr>
              <a:t>acting as a guide for the direction of analysis and action.</a:t>
            </a:r>
            <a:endParaRPr lang="en-US" sz="1600" dirty="0"/>
          </a:p>
        </p:txBody>
      </p:sp>
      <p:sp>
        <p:nvSpPr>
          <p:cNvPr id="6" name="Shape 4"/>
          <p:cNvSpPr/>
          <p:nvPr/>
        </p:nvSpPr>
        <p:spPr>
          <a:xfrm>
            <a:off x="381000" y="3821565"/>
            <a:ext cx="3609975" cy="16329"/>
          </a:xfrm>
          <a:custGeom>
            <a:avLst/>
            <a:gdLst/>
            <a:ahLst/>
            <a:cxnLst/>
            <a:rect l="l" t="t" r="r" b="b"/>
            <a:pathLst>
              <a:path w="3609975" h="16329">
                <a:moveTo>
                  <a:pt x="0" y="0"/>
                </a:moveTo>
                <a:lnTo>
                  <a:pt x="3609975" y="0"/>
                </a:lnTo>
                <a:lnTo>
                  <a:pt x="3609975" y="16329"/>
                </a:lnTo>
                <a:lnTo>
                  <a:pt x="0" y="16329"/>
                </a:lnTo>
                <a:lnTo>
                  <a:pt x="0" y="0"/>
                </a:lnTo>
                <a:close/>
              </a:path>
            </a:pathLst>
          </a:custGeom>
          <a:solidFill>
            <a:srgbClr val="1D1D1D"/>
          </a:solidFill>
          <a:ln/>
        </p:spPr>
        <p:txBody>
          <a:bodyPr/>
          <a:lstStyle/>
          <a:p>
            <a:endParaRPr lang="en-US"/>
          </a:p>
        </p:txBody>
      </p:sp>
      <p:sp>
        <p:nvSpPr>
          <p:cNvPr id="7" name="Shape 5"/>
          <p:cNvSpPr/>
          <p:nvPr/>
        </p:nvSpPr>
        <p:spPr>
          <a:xfrm>
            <a:off x="419100" y="4058330"/>
            <a:ext cx="285750" cy="285750"/>
          </a:xfrm>
          <a:custGeom>
            <a:avLst/>
            <a:gdLst/>
            <a:ahLst/>
            <a:cxnLst/>
            <a:rect l="l" t="t" r="r" b="b"/>
            <a:pathLst>
              <a:path w="285750" h="285750">
                <a:moveTo>
                  <a:pt x="250031" y="142875"/>
                </a:moveTo>
                <a:cubicBezTo>
                  <a:pt x="250031" y="83734"/>
                  <a:pt x="202016" y="35719"/>
                  <a:pt x="142875" y="35719"/>
                </a:cubicBezTo>
                <a:cubicBezTo>
                  <a:pt x="83734" y="35719"/>
                  <a:pt x="35719" y="83734"/>
                  <a:pt x="35719" y="142875"/>
                </a:cubicBezTo>
                <a:cubicBezTo>
                  <a:pt x="35719" y="202016"/>
                  <a:pt x="83734" y="250031"/>
                  <a:pt x="142875" y="250031"/>
                </a:cubicBezTo>
                <a:cubicBezTo>
                  <a:pt x="202016" y="250031"/>
                  <a:pt x="250031" y="202016"/>
                  <a:pt x="250031" y="142875"/>
                </a:cubicBezTo>
                <a:close/>
                <a:moveTo>
                  <a:pt x="0" y="142875"/>
                </a:moveTo>
                <a:cubicBezTo>
                  <a:pt x="0" y="64020"/>
                  <a:pt x="64020" y="0"/>
                  <a:pt x="142875" y="0"/>
                </a:cubicBezTo>
                <a:cubicBezTo>
                  <a:pt x="221730" y="0"/>
                  <a:pt x="285750" y="64020"/>
                  <a:pt x="285750" y="142875"/>
                </a:cubicBezTo>
                <a:cubicBezTo>
                  <a:pt x="285750" y="221730"/>
                  <a:pt x="221730" y="285750"/>
                  <a:pt x="142875" y="285750"/>
                </a:cubicBezTo>
                <a:cubicBezTo>
                  <a:pt x="64020" y="285750"/>
                  <a:pt x="0" y="221730"/>
                  <a:pt x="0" y="142875"/>
                </a:cubicBezTo>
                <a:close/>
                <a:moveTo>
                  <a:pt x="142875" y="187523"/>
                </a:moveTo>
                <a:cubicBezTo>
                  <a:pt x="167517" y="187523"/>
                  <a:pt x="187523" y="167517"/>
                  <a:pt x="187523" y="142875"/>
                </a:cubicBezTo>
                <a:cubicBezTo>
                  <a:pt x="187523" y="118233"/>
                  <a:pt x="167517" y="98227"/>
                  <a:pt x="142875" y="98227"/>
                </a:cubicBezTo>
                <a:cubicBezTo>
                  <a:pt x="118233" y="98227"/>
                  <a:pt x="98227" y="118233"/>
                  <a:pt x="98227" y="142875"/>
                </a:cubicBezTo>
                <a:cubicBezTo>
                  <a:pt x="98227" y="167517"/>
                  <a:pt x="118233" y="187523"/>
                  <a:pt x="142875" y="187523"/>
                </a:cubicBezTo>
                <a:close/>
                <a:moveTo>
                  <a:pt x="142875" y="62508"/>
                </a:moveTo>
                <a:cubicBezTo>
                  <a:pt x="187231" y="62508"/>
                  <a:pt x="223242" y="98519"/>
                  <a:pt x="223242" y="142875"/>
                </a:cubicBezTo>
                <a:cubicBezTo>
                  <a:pt x="223242" y="187231"/>
                  <a:pt x="187231" y="223242"/>
                  <a:pt x="142875" y="223242"/>
                </a:cubicBezTo>
                <a:cubicBezTo>
                  <a:pt x="98519" y="223242"/>
                  <a:pt x="62508" y="187231"/>
                  <a:pt x="62508" y="142875"/>
                </a:cubicBezTo>
                <a:cubicBezTo>
                  <a:pt x="62508" y="98519"/>
                  <a:pt x="98519" y="62508"/>
                  <a:pt x="142875" y="62508"/>
                </a:cubicBezTo>
                <a:close/>
                <a:moveTo>
                  <a:pt x="125016" y="142875"/>
                </a:moveTo>
                <a:cubicBezTo>
                  <a:pt x="125016" y="133018"/>
                  <a:pt x="133018" y="125016"/>
                  <a:pt x="142875" y="125016"/>
                </a:cubicBezTo>
                <a:cubicBezTo>
                  <a:pt x="152732" y="125016"/>
                  <a:pt x="160734" y="133018"/>
                  <a:pt x="160734" y="142875"/>
                </a:cubicBezTo>
                <a:cubicBezTo>
                  <a:pt x="160734" y="152732"/>
                  <a:pt x="152732" y="160734"/>
                  <a:pt x="142875" y="160734"/>
                </a:cubicBezTo>
                <a:cubicBezTo>
                  <a:pt x="133018" y="160734"/>
                  <a:pt x="125016" y="152732"/>
                  <a:pt x="125016" y="142875"/>
                </a:cubicBezTo>
                <a:close/>
              </a:path>
            </a:pathLst>
          </a:custGeom>
          <a:solidFill>
            <a:srgbClr val="1D1D1D"/>
          </a:solidFill>
          <a:ln/>
        </p:spPr>
        <p:txBody>
          <a:bodyPr/>
          <a:lstStyle/>
          <a:p>
            <a:endParaRPr lang="en-US"/>
          </a:p>
        </p:txBody>
      </p:sp>
      <p:sp>
        <p:nvSpPr>
          <p:cNvPr id="8" name="Text 6"/>
          <p:cNvSpPr/>
          <p:nvPr/>
        </p:nvSpPr>
        <p:spPr>
          <a:xfrm>
            <a:off x="381000" y="4515530"/>
            <a:ext cx="3705225" cy="266700"/>
          </a:xfrm>
          <a:prstGeom prst="rect">
            <a:avLst/>
          </a:prstGeom>
          <a:noFill/>
          <a:ln/>
        </p:spPr>
        <p:txBody>
          <a:bodyPr wrap="square" lIns="0" tIns="0" rIns="0" bIns="0" rtlCol="0" anchor="ctr"/>
          <a:lstStyle/>
          <a:p>
            <a:pPr>
              <a:lnSpc>
                <a:spcPct val="120000"/>
              </a:lnSpc>
            </a:pPr>
            <a:r>
              <a:rPr lang="en-US" sz="1500" b="1" dirty="0">
                <a:solidFill>
                  <a:srgbClr val="1D1D1D"/>
                </a:solidFill>
                <a:latin typeface="Liter" pitchFamily="34" charset="0"/>
                <a:ea typeface="Liter" pitchFamily="34" charset="-122"/>
                <a:cs typeface="Liter" pitchFamily="34" charset="-120"/>
              </a:rPr>
              <a:t>Defines the Gap</a:t>
            </a:r>
            <a:endParaRPr lang="en-US" sz="1600" dirty="0"/>
          </a:p>
        </p:txBody>
      </p:sp>
      <p:sp>
        <p:nvSpPr>
          <p:cNvPr id="9" name="Text 7"/>
          <p:cNvSpPr/>
          <p:nvPr/>
        </p:nvSpPr>
        <p:spPr>
          <a:xfrm>
            <a:off x="381000" y="4896530"/>
            <a:ext cx="3686175" cy="495300"/>
          </a:xfrm>
          <a:prstGeom prst="rect">
            <a:avLst/>
          </a:prstGeom>
          <a:noFill/>
          <a:ln/>
        </p:spPr>
        <p:txBody>
          <a:bodyPr wrap="square" lIns="0" tIns="0" rIns="0" bIns="0" rtlCol="0" anchor="ctr"/>
          <a:lstStyle/>
          <a:p>
            <a:pPr>
              <a:lnSpc>
                <a:spcPct val="140000"/>
              </a:lnSpc>
            </a:pPr>
            <a:r>
              <a:rPr lang="en-US" sz="1200" dirty="0">
                <a:solidFill>
                  <a:srgbClr val="86868B"/>
                </a:solidFill>
                <a:latin typeface="Liter" pitchFamily="34" charset="0"/>
                <a:ea typeface="Liter" pitchFamily="34" charset="-122"/>
                <a:cs typeface="Liter" pitchFamily="34" charset="-120"/>
              </a:rPr>
              <a:t>Clearly articulates the difference of where you are now</a:t>
            </a:r>
            <a:endParaRPr lang="en-US" sz="1600" dirty="0"/>
          </a:p>
        </p:txBody>
      </p:sp>
      <p:sp>
        <p:nvSpPr>
          <p:cNvPr id="10" name="Shape 8"/>
          <p:cNvSpPr/>
          <p:nvPr/>
        </p:nvSpPr>
        <p:spPr>
          <a:xfrm>
            <a:off x="4292544" y="3821565"/>
            <a:ext cx="3609975" cy="16329"/>
          </a:xfrm>
          <a:custGeom>
            <a:avLst/>
            <a:gdLst/>
            <a:ahLst/>
            <a:cxnLst/>
            <a:rect l="l" t="t" r="r" b="b"/>
            <a:pathLst>
              <a:path w="3609975" h="16329">
                <a:moveTo>
                  <a:pt x="0" y="0"/>
                </a:moveTo>
                <a:lnTo>
                  <a:pt x="3609975" y="0"/>
                </a:lnTo>
                <a:lnTo>
                  <a:pt x="3609975" y="16329"/>
                </a:lnTo>
                <a:lnTo>
                  <a:pt x="0" y="16329"/>
                </a:lnTo>
                <a:lnTo>
                  <a:pt x="0" y="0"/>
                </a:lnTo>
                <a:close/>
              </a:path>
            </a:pathLst>
          </a:custGeom>
          <a:solidFill>
            <a:srgbClr val="1D1D1D"/>
          </a:solidFill>
          <a:ln/>
        </p:spPr>
        <p:txBody>
          <a:bodyPr/>
          <a:lstStyle/>
          <a:p>
            <a:endParaRPr lang="en-US"/>
          </a:p>
        </p:txBody>
      </p:sp>
      <p:sp>
        <p:nvSpPr>
          <p:cNvPr id="11" name="Shape 9"/>
          <p:cNvSpPr/>
          <p:nvPr/>
        </p:nvSpPr>
        <p:spPr>
          <a:xfrm>
            <a:off x="4330644" y="4058330"/>
            <a:ext cx="285750" cy="285750"/>
          </a:xfrm>
          <a:custGeom>
            <a:avLst/>
            <a:gdLst/>
            <a:ahLst/>
            <a:cxnLst/>
            <a:rect l="l" t="t" r="r" b="b"/>
            <a:pathLst>
              <a:path w="285750" h="285750">
                <a:moveTo>
                  <a:pt x="142875" y="285750"/>
                </a:moveTo>
                <a:cubicBezTo>
                  <a:pt x="221730" y="285750"/>
                  <a:pt x="285750" y="221730"/>
                  <a:pt x="285750" y="142875"/>
                </a:cubicBezTo>
                <a:cubicBezTo>
                  <a:pt x="285750" y="64020"/>
                  <a:pt x="221730" y="0"/>
                  <a:pt x="142875" y="0"/>
                </a:cubicBezTo>
                <a:cubicBezTo>
                  <a:pt x="64020" y="0"/>
                  <a:pt x="0" y="64020"/>
                  <a:pt x="0" y="142875"/>
                </a:cubicBezTo>
                <a:cubicBezTo>
                  <a:pt x="0" y="221730"/>
                  <a:pt x="64020" y="285750"/>
                  <a:pt x="142875" y="285750"/>
                </a:cubicBezTo>
                <a:close/>
                <a:moveTo>
                  <a:pt x="171171" y="181440"/>
                </a:moveTo>
                <a:lnTo>
                  <a:pt x="90636" y="212415"/>
                </a:lnTo>
                <a:cubicBezTo>
                  <a:pt x="79809" y="216601"/>
                  <a:pt x="69149" y="205941"/>
                  <a:pt x="73335" y="195114"/>
                </a:cubicBezTo>
                <a:lnTo>
                  <a:pt x="104310" y="114579"/>
                </a:lnTo>
                <a:cubicBezTo>
                  <a:pt x="106152" y="109835"/>
                  <a:pt x="109835" y="106152"/>
                  <a:pt x="114579" y="104310"/>
                </a:cubicBezTo>
                <a:lnTo>
                  <a:pt x="195114" y="73335"/>
                </a:lnTo>
                <a:cubicBezTo>
                  <a:pt x="205941" y="69149"/>
                  <a:pt x="216601" y="79809"/>
                  <a:pt x="212415" y="90636"/>
                </a:cubicBezTo>
                <a:lnTo>
                  <a:pt x="181440" y="171171"/>
                </a:lnTo>
                <a:cubicBezTo>
                  <a:pt x="179654" y="175915"/>
                  <a:pt x="175915" y="179598"/>
                  <a:pt x="171171" y="181440"/>
                </a:cubicBezTo>
                <a:close/>
                <a:moveTo>
                  <a:pt x="160734" y="142875"/>
                </a:moveTo>
                <a:cubicBezTo>
                  <a:pt x="160734" y="133018"/>
                  <a:pt x="152732" y="125016"/>
                  <a:pt x="142875" y="125016"/>
                </a:cubicBezTo>
                <a:cubicBezTo>
                  <a:pt x="133018" y="125016"/>
                  <a:pt x="125016" y="133018"/>
                  <a:pt x="125016" y="142875"/>
                </a:cubicBezTo>
                <a:cubicBezTo>
                  <a:pt x="125016" y="152732"/>
                  <a:pt x="133018" y="160734"/>
                  <a:pt x="142875" y="160734"/>
                </a:cubicBezTo>
                <a:cubicBezTo>
                  <a:pt x="152732" y="160734"/>
                  <a:pt x="160734" y="152732"/>
                  <a:pt x="160734" y="142875"/>
                </a:cubicBezTo>
                <a:close/>
              </a:path>
            </a:pathLst>
          </a:custGeom>
          <a:solidFill>
            <a:srgbClr val="1D1D1D"/>
          </a:solidFill>
          <a:ln/>
        </p:spPr>
        <p:txBody>
          <a:bodyPr/>
          <a:lstStyle/>
          <a:p>
            <a:endParaRPr lang="en-US"/>
          </a:p>
        </p:txBody>
      </p:sp>
      <p:sp>
        <p:nvSpPr>
          <p:cNvPr id="12" name="Text 10"/>
          <p:cNvSpPr/>
          <p:nvPr/>
        </p:nvSpPr>
        <p:spPr>
          <a:xfrm>
            <a:off x="4292544" y="4515530"/>
            <a:ext cx="3705225" cy="266700"/>
          </a:xfrm>
          <a:prstGeom prst="rect">
            <a:avLst/>
          </a:prstGeom>
          <a:noFill/>
          <a:ln/>
        </p:spPr>
        <p:txBody>
          <a:bodyPr wrap="square" lIns="0" tIns="0" rIns="0" bIns="0" rtlCol="0" anchor="ctr"/>
          <a:lstStyle/>
          <a:p>
            <a:pPr>
              <a:lnSpc>
                <a:spcPct val="120000"/>
              </a:lnSpc>
            </a:pPr>
            <a:r>
              <a:rPr lang="en-US" sz="1500" b="1" dirty="0">
                <a:solidFill>
                  <a:srgbClr val="1D1D1D"/>
                </a:solidFill>
                <a:latin typeface="Liter" pitchFamily="34" charset="0"/>
                <a:ea typeface="Liter" pitchFamily="34" charset="-122"/>
                <a:cs typeface="Liter" pitchFamily="34" charset="-120"/>
              </a:rPr>
              <a:t>Provides Direction</a:t>
            </a:r>
            <a:endParaRPr lang="en-US" sz="1600" dirty="0"/>
          </a:p>
        </p:txBody>
      </p:sp>
      <p:sp>
        <p:nvSpPr>
          <p:cNvPr id="13" name="Text 11"/>
          <p:cNvSpPr/>
          <p:nvPr/>
        </p:nvSpPr>
        <p:spPr>
          <a:xfrm>
            <a:off x="4292544" y="4896530"/>
            <a:ext cx="3686175" cy="495300"/>
          </a:xfrm>
          <a:prstGeom prst="rect">
            <a:avLst/>
          </a:prstGeom>
          <a:noFill/>
          <a:ln/>
        </p:spPr>
        <p:txBody>
          <a:bodyPr wrap="square" lIns="0" tIns="0" rIns="0" bIns="0" rtlCol="0" anchor="ctr"/>
          <a:lstStyle/>
          <a:p>
            <a:pPr>
              <a:lnSpc>
                <a:spcPct val="140000"/>
              </a:lnSpc>
            </a:pPr>
            <a:r>
              <a:rPr lang="en-US" sz="1200" dirty="0">
                <a:solidFill>
                  <a:srgbClr val="86868B"/>
                </a:solidFill>
                <a:latin typeface="Liter" pitchFamily="34" charset="0"/>
                <a:ea typeface="Liter" pitchFamily="34" charset="-122"/>
                <a:cs typeface="Liter" pitchFamily="34" charset="-120"/>
              </a:rPr>
              <a:t>Serves as a compass that guides all subsequent analysis, research, and solution development</a:t>
            </a:r>
            <a:endParaRPr lang="en-US" sz="1600" dirty="0"/>
          </a:p>
        </p:txBody>
      </p:sp>
      <p:sp>
        <p:nvSpPr>
          <p:cNvPr id="14" name="Shape 12"/>
          <p:cNvSpPr/>
          <p:nvPr/>
        </p:nvSpPr>
        <p:spPr>
          <a:xfrm>
            <a:off x="8204172" y="3821565"/>
            <a:ext cx="3609975" cy="16329"/>
          </a:xfrm>
          <a:custGeom>
            <a:avLst/>
            <a:gdLst/>
            <a:ahLst/>
            <a:cxnLst/>
            <a:rect l="l" t="t" r="r" b="b"/>
            <a:pathLst>
              <a:path w="3609975" h="16329">
                <a:moveTo>
                  <a:pt x="0" y="0"/>
                </a:moveTo>
                <a:lnTo>
                  <a:pt x="3609975" y="0"/>
                </a:lnTo>
                <a:lnTo>
                  <a:pt x="3609975" y="16329"/>
                </a:lnTo>
                <a:lnTo>
                  <a:pt x="0" y="16329"/>
                </a:lnTo>
                <a:lnTo>
                  <a:pt x="0" y="0"/>
                </a:lnTo>
                <a:close/>
              </a:path>
            </a:pathLst>
          </a:custGeom>
          <a:solidFill>
            <a:srgbClr val="1D1D1D"/>
          </a:solidFill>
          <a:ln/>
        </p:spPr>
        <p:txBody>
          <a:bodyPr/>
          <a:lstStyle/>
          <a:p>
            <a:endParaRPr lang="en-US"/>
          </a:p>
        </p:txBody>
      </p:sp>
      <p:sp>
        <p:nvSpPr>
          <p:cNvPr id="15" name="Shape 13"/>
          <p:cNvSpPr/>
          <p:nvPr/>
        </p:nvSpPr>
        <p:spPr>
          <a:xfrm>
            <a:off x="8206553" y="4058330"/>
            <a:ext cx="357188" cy="285750"/>
          </a:xfrm>
          <a:custGeom>
            <a:avLst/>
            <a:gdLst/>
            <a:ahLst/>
            <a:cxnLst/>
            <a:rect l="l" t="t" r="r" b="b"/>
            <a:pathLst>
              <a:path w="357188" h="285750">
                <a:moveTo>
                  <a:pt x="178594" y="8930"/>
                </a:moveTo>
                <a:cubicBezTo>
                  <a:pt x="210629" y="8930"/>
                  <a:pt x="236637" y="34938"/>
                  <a:pt x="236637" y="66973"/>
                </a:cubicBezTo>
                <a:cubicBezTo>
                  <a:pt x="236637" y="99007"/>
                  <a:pt x="210629" y="125016"/>
                  <a:pt x="178594" y="125016"/>
                </a:cubicBezTo>
                <a:cubicBezTo>
                  <a:pt x="146559" y="125016"/>
                  <a:pt x="120551" y="99007"/>
                  <a:pt x="120551" y="66973"/>
                </a:cubicBezTo>
                <a:cubicBezTo>
                  <a:pt x="120551" y="34938"/>
                  <a:pt x="146559" y="8930"/>
                  <a:pt x="178594" y="8930"/>
                </a:cubicBezTo>
                <a:close/>
                <a:moveTo>
                  <a:pt x="53578" y="49113"/>
                </a:moveTo>
                <a:cubicBezTo>
                  <a:pt x="75756" y="49113"/>
                  <a:pt x="93762" y="67119"/>
                  <a:pt x="93762" y="89297"/>
                </a:cubicBezTo>
                <a:cubicBezTo>
                  <a:pt x="93762" y="111475"/>
                  <a:pt x="75756" y="129480"/>
                  <a:pt x="53578" y="129480"/>
                </a:cubicBezTo>
                <a:cubicBezTo>
                  <a:pt x="31400" y="129480"/>
                  <a:pt x="13395" y="111475"/>
                  <a:pt x="13395" y="89297"/>
                </a:cubicBezTo>
                <a:cubicBezTo>
                  <a:pt x="13395" y="67119"/>
                  <a:pt x="31400" y="49113"/>
                  <a:pt x="53578" y="49113"/>
                </a:cubicBezTo>
                <a:close/>
                <a:moveTo>
                  <a:pt x="0" y="232172"/>
                </a:moveTo>
                <a:cubicBezTo>
                  <a:pt x="0" y="192714"/>
                  <a:pt x="31979" y="160734"/>
                  <a:pt x="71438" y="160734"/>
                </a:cubicBezTo>
                <a:cubicBezTo>
                  <a:pt x="78581" y="160734"/>
                  <a:pt x="85502" y="161795"/>
                  <a:pt x="92032" y="163748"/>
                </a:cubicBezTo>
                <a:cubicBezTo>
                  <a:pt x="73670" y="184286"/>
                  <a:pt x="62508" y="211410"/>
                  <a:pt x="62508" y="241102"/>
                </a:cubicBezTo>
                <a:lnTo>
                  <a:pt x="62508" y="250031"/>
                </a:lnTo>
                <a:cubicBezTo>
                  <a:pt x="62508" y="256394"/>
                  <a:pt x="63847" y="262421"/>
                  <a:pt x="66247" y="267891"/>
                </a:cubicBezTo>
                <a:lnTo>
                  <a:pt x="17859" y="267891"/>
                </a:lnTo>
                <a:cubicBezTo>
                  <a:pt x="7981" y="267891"/>
                  <a:pt x="0" y="259910"/>
                  <a:pt x="0" y="250031"/>
                </a:cubicBezTo>
                <a:lnTo>
                  <a:pt x="0" y="232172"/>
                </a:lnTo>
                <a:close/>
                <a:moveTo>
                  <a:pt x="290940" y="267891"/>
                </a:moveTo>
                <a:cubicBezTo>
                  <a:pt x="293340" y="262421"/>
                  <a:pt x="294680" y="256394"/>
                  <a:pt x="294680" y="250031"/>
                </a:cubicBezTo>
                <a:lnTo>
                  <a:pt x="294680" y="241102"/>
                </a:lnTo>
                <a:cubicBezTo>
                  <a:pt x="294680" y="211410"/>
                  <a:pt x="283518" y="184286"/>
                  <a:pt x="265156" y="163748"/>
                </a:cubicBezTo>
                <a:cubicBezTo>
                  <a:pt x="271686" y="161795"/>
                  <a:pt x="278606" y="160734"/>
                  <a:pt x="285750" y="160734"/>
                </a:cubicBezTo>
                <a:cubicBezTo>
                  <a:pt x="325208" y="160734"/>
                  <a:pt x="357188" y="192714"/>
                  <a:pt x="357188" y="232172"/>
                </a:cubicBezTo>
                <a:lnTo>
                  <a:pt x="357188" y="250031"/>
                </a:lnTo>
                <a:cubicBezTo>
                  <a:pt x="357188" y="259910"/>
                  <a:pt x="349207" y="267891"/>
                  <a:pt x="339328" y="267891"/>
                </a:cubicBezTo>
                <a:lnTo>
                  <a:pt x="290940" y="267891"/>
                </a:lnTo>
                <a:close/>
                <a:moveTo>
                  <a:pt x="263426" y="89297"/>
                </a:moveTo>
                <a:cubicBezTo>
                  <a:pt x="263426" y="67119"/>
                  <a:pt x="281431" y="49113"/>
                  <a:pt x="303609" y="49113"/>
                </a:cubicBezTo>
                <a:cubicBezTo>
                  <a:pt x="325787" y="49113"/>
                  <a:pt x="343793" y="67119"/>
                  <a:pt x="343793" y="89297"/>
                </a:cubicBezTo>
                <a:cubicBezTo>
                  <a:pt x="343793" y="111475"/>
                  <a:pt x="325787" y="129480"/>
                  <a:pt x="303609" y="129480"/>
                </a:cubicBezTo>
                <a:cubicBezTo>
                  <a:pt x="281431" y="129480"/>
                  <a:pt x="263426" y="111475"/>
                  <a:pt x="263426" y="89297"/>
                </a:cubicBezTo>
                <a:close/>
                <a:moveTo>
                  <a:pt x="89297" y="241102"/>
                </a:moveTo>
                <a:cubicBezTo>
                  <a:pt x="89297" y="191765"/>
                  <a:pt x="129257" y="151805"/>
                  <a:pt x="178594" y="151805"/>
                </a:cubicBezTo>
                <a:cubicBezTo>
                  <a:pt x="227930" y="151805"/>
                  <a:pt x="267891" y="191765"/>
                  <a:pt x="267891" y="241102"/>
                </a:cubicBezTo>
                <a:lnTo>
                  <a:pt x="267891" y="250031"/>
                </a:lnTo>
                <a:cubicBezTo>
                  <a:pt x="267891" y="259910"/>
                  <a:pt x="259910" y="267891"/>
                  <a:pt x="250031" y="267891"/>
                </a:cubicBezTo>
                <a:lnTo>
                  <a:pt x="107156" y="267891"/>
                </a:lnTo>
                <a:cubicBezTo>
                  <a:pt x="97278" y="267891"/>
                  <a:pt x="89297" y="259910"/>
                  <a:pt x="89297" y="250031"/>
                </a:cubicBezTo>
                <a:lnTo>
                  <a:pt x="89297" y="241102"/>
                </a:lnTo>
                <a:close/>
              </a:path>
            </a:pathLst>
          </a:custGeom>
          <a:solidFill>
            <a:srgbClr val="1D1D1D"/>
          </a:solidFill>
          <a:ln/>
        </p:spPr>
        <p:txBody>
          <a:bodyPr/>
          <a:lstStyle/>
          <a:p>
            <a:endParaRPr lang="en-US"/>
          </a:p>
        </p:txBody>
      </p:sp>
      <p:sp>
        <p:nvSpPr>
          <p:cNvPr id="16" name="Text 14"/>
          <p:cNvSpPr/>
          <p:nvPr/>
        </p:nvSpPr>
        <p:spPr>
          <a:xfrm>
            <a:off x="8204172" y="4515530"/>
            <a:ext cx="3705225" cy="266700"/>
          </a:xfrm>
          <a:prstGeom prst="rect">
            <a:avLst/>
          </a:prstGeom>
          <a:noFill/>
          <a:ln/>
        </p:spPr>
        <p:txBody>
          <a:bodyPr wrap="square" lIns="0" tIns="0" rIns="0" bIns="0" rtlCol="0" anchor="ctr"/>
          <a:lstStyle/>
          <a:p>
            <a:pPr>
              <a:lnSpc>
                <a:spcPct val="120000"/>
              </a:lnSpc>
            </a:pPr>
            <a:r>
              <a:rPr lang="en-US" sz="1500" b="1" dirty="0">
                <a:solidFill>
                  <a:srgbClr val="1D1D1D"/>
                </a:solidFill>
                <a:latin typeface="Liter" pitchFamily="34" charset="0"/>
                <a:ea typeface="Liter" pitchFamily="34" charset="-122"/>
                <a:cs typeface="Liter" pitchFamily="34" charset="-120"/>
              </a:rPr>
              <a:t>Aligns Stakeholders</a:t>
            </a:r>
            <a:endParaRPr lang="en-US" sz="1600" dirty="0"/>
          </a:p>
        </p:txBody>
      </p:sp>
      <p:sp>
        <p:nvSpPr>
          <p:cNvPr id="17" name="Text 15"/>
          <p:cNvSpPr/>
          <p:nvPr/>
        </p:nvSpPr>
        <p:spPr>
          <a:xfrm>
            <a:off x="8204172" y="4896530"/>
            <a:ext cx="3686175" cy="495300"/>
          </a:xfrm>
          <a:prstGeom prst="rect">
            <a:avLst/>
          </a:prstGeom>
          <a:noFill/>
          <a:ln/>
        </p:spPr>
        <p:txBody>
          <a:bodyPr wrap="square" lIns="0" tIns="0" rIns="0" bIns="0" rtlCol="0" anchor="ctr"/>
          <a:lstStyle/>
          <a:p>
            <a:pPr>
              <a:lnSpc>
                <a:spcPct val="140000"/>
              </a:lnSpc>
            </a:pPr>
            <a:r>
              <a:rPr lang="en-US" sz="1200" dirty="0">
                <a:solidFill>
                  <a:srgbClr val="86868B"/>
                </a:solidFill>
                <a:latin typeface="Liter" pitchFamily="34" charset="0"/>
                <a:ea typeface="Liter" pitchFamily="34" charset="-122"/>
                <a:cs typeface="Liter" pitchFamily="34" charset="-120"/>
              </a:rPr>
              <a:t>Ensures everyone involved has a shared understanding of what needs to be solved</a:t>
            </a:r>
            <a:endParaRPr lang="en-US" sz="1600"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name="Slide 6">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kern="0" spc="105" dirty="0">
                <a:solidFill>
                  <a:srgbClr val="86868B"/>
                </a:solidFill>
                <a:latin typeface="Liter" pitchFamily="34" charset="0"/>
                <a:ea typeface="Liter" pitchFamily="34" charset="-122"/>
                <a:cs typeface="Liter" pitchFamily="34" charset="-120"/>
              </a:rPr>
              <a:t>FRAMEWORK</a:t>
            </a:r>
            <a:endParaRPr lang="en-US" sz="1600" dirty="0"/>
          </a:p>
        </p:txBody>
      </p:sp>
      <p:sp>
        <p:nvSpPr>
          <p:cNvPr id="3" name="Text 1"/>
          <p:cNvSpPr/>
          <p:nvPr/>
        </p:nvSpPr>
        <p:spPr>
          <a:xfrm>
            <a:off x="381000" y="685800"/>
            <a:ext cx="11658600" cy="457200"/>
          </a:xfrm>
          <a:prstGeom prst="rect">
            <a:avLst/>
          </a:prstGeom>
          <a:noFill/>
          <a:ln/>
        </p:spPr>
        <p:txBody>
          <a:bodyPr wrap="square" lIns="0" tIns="0" rIns="0" bIns="0" rtlCol="0" anchor="ctr"/>
          <a:lstStyle/>
          <a:p>
            <a:pPr>
              <a:lnSpc>
                <a:spcPct val="80000"/>
              </a:lnSpc>
            </a:pPr>
            <a:r>
              <a:rPr lang="en-US" sz="3600" b="1" dirty="0">
                <a:solidFill>
                  <a:srgbClr val="1D1D1D"/>
                </a:solidFill>
                <a:latin typeface="Liter" pitchFamily="34" charset="0"/>
                <a:ea typeface="Liter" pitchFamily="34" charset="-122"/>
                <a:cs typeface="Liter" pitchFamily="34" charset="-120"/>
              </a:rPr>
              <a:t>The 5Ws Framework</a:t>
            </a:r>
            <a:endParaRPr lang="en-US" sz="1600" dirty="0"/>
          </a:p>
        </p:txBody>
      </p:sp>
      <p:sp>
        <p:nvSpPr>
          <p:cNvPr id="4" name="Text 2"/>
          <p:cNvSpPr/>
          <p:nvPr/>
        </p:nvSpPr>
        <p:spPr>
          <a:xfrm>
            <a:off x="381000" y="1371600"/>
            <a:ext cx="8620125" cy="276225"/>
          </a:xfrm>
          <a:prstGeom prst="rect">
            <a:avLst/>
          </a:prstGeom>
          <a:noFill/>
          <a:ln/>
        </p:spPr>
        <p:txBody>
          <a:bodyPr wrap="square" lIns="0" tIns="0" rIns="0" bIns="0" rtlCol="0" anchor="ctr"/>
          <a:lstStyle/>
          <a:p>
            <a:pPr>
              <a:lnSpc>
                <a:spcPct val="140000"/>
              </a:lnSpc>
            </a:pPr>
            <a:r>
              <a:rPr lang="en-US" sz="1350" dirty="0">
                <a:solidFill>
                  <a:srgbClr val="86868B"/>
                </a:solidFill>
                <a:latin typeface="Liter" pitchFamily="34" charset="0"/>
                <a:ea typeface="Liter" pitchFamily="34" charset="-122"/>
                <a:cs typeface="Liter" pitchFamily="34" charset="-120"/>
              </a:rPr>
              <a:t>Use the </a:t>
            </a:r>
            <a:r>
              <a:rPr lang="en-US" sz="1350" b="1" dirty="0">
                <a:solidFill>
                  <a:srgbClr val="1D1D1D"/>
                </a:solidFill>
                <a:latin typeface="Liter" pitchFamily="34" charset="0"/>
                <a:ea typeface="Liter" pitchFamily="34" charset="-122"/>
                <a:cs typeface="Liter" pitchFamily="34" charset="-120"/>
              </a:rPr>
              <a:t>5W1H framework</a:t>
            </a:r>
            <a:r>
              <a:rPr lang="en-US" sz="1350" dirty="0">
                <a:solidFill>
                  <a:srgbClr val="86868B"/>
                </a:solidFill>
                <a:latin typeface="Liter" pitchFamily="34" charset="0"/>
                <a:ea typeface="Liter" pitchFamily="34" charset="-122"/>
                <a:cs typeface="Liter" pitchFamily="34" charset="-120"/>
              </a:rPr>
              <a:t> to ensure your case statement covers all critical aspects comprehensively.</a:t>
            </a:r>
            <a:endParaRPr lang="en-US" sz="1600" dirty="0"/>
          </a:p>
        </p:txBody>
      </p:sp>
      <p:sp>
        <p:nvSpPr>
          <p:cNvPr id="5" name="Shape 3"/>
          <p:cNvSpPr/>
          <p:nvPr/>
        </p:nvSpPr>
        <p:spPr>
          <a:xfrm>
            <a:off x="383721" y="1881528"/>
            <a:ext cx="3682093" cy="1891393"/>
          </a:xfrm>
          <a:custGeom>
            <a:avLst/>
            <a:gdLst/>
            <a:ahLst/>
            <a:cxnLst/>
            <a:rect l="l" t="t" r="r" b="b"/>
            <a:pathLst>
              <a:path w="3682093" h="1891393">
                <a:moveTo>
                  <a:pt x="76204" y="0"/>
                </a:moveTo>
                <a:lnTo>
                  <a:pt x="3605889" y="0"/>
                </a:lnTo>
                <a:cubicBezTo>
                  <a:pt x="3647975" y="0"/>
                  <a:pt x="3682093" y="34118"/>
                  <a:pt x="3682093" y="76204"/>
                </a:cubicBezTo>
                <a:lnTo>
                  <a:pt x="3682093" y="1815189"/>
                </a:lnTo>
                <a:cubicBezTo>
                  <a:pt x="3682093" y="1857275"/>
                  <a:pt x="3647975" y="1891393"/>
                  <a:pt x="3605889" y="1891393"/>
                </a:cubicBezTo>
                <a:lnTo>
                  <a:pt x="76204" y="1891393"/>
                </a:lnTo>
                <a:cubicBezTo>
                  <a:pt x="34118" y="1891393"/>
                  <a:pt x="0" y="1857275"/>
                  <a:pt x="0" y="1815189"/>
                </a:cubicBezTo>
                <a:lnTo>
                  <a:pt x="0" y="76204"/>
                </a:lnTo>
                <a:cubicBezTo>
                  <a:pt x="0" y="34146"/>
                  <a:pt x="34146" y="0"/>
                  <a:pt x="76204" y="0"/>
                </a:cubicBezTo>
                <a:close/>
              </a:path>
            </a:pathLst>
          </a:custGeom>
          <a:solidFill>
            <a:srgbClr val="000000">
              <a:alpha val="0"/>
            </a:srgbClr>
          </a:solidFill>
          <a:ln w="7257">
            <a:solidFill>
              <a:srgbClr val="E5E5E5"/>
            </a:solidFill>
            <a:prstDash val="solid"/>
          </a:ln>
        </p:spPr>
        <p:txBody>
          <a:bodyPr/>
          <a:lstStyle/>
          <a:p>
            <a:endParaRPr lang="en-US"/>
          </a:p>
        </p:txBody>
      </p:sp>
      <p:sp>
        <p:nvSpPr>
          <p:cNvPr id="6" name="Shape 4"/>
          <p:cNvSpPr/>
          <p:nvPr/>
        </p:nvSpPr>
        <p:spPr>
          <a:xfrm>
            <a:off x="615043" y="2112848"/>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1D1D1D"/>
          </a:solidFill>
          <a:ln/>
        </p:spPr>
        <p:txBody>
          <a:bodyPr/>
          <a:lstStyle/>
          <a:p>
            <a:endParaRPr lang="en-US"/>
          </a:p>
        </p:txBody>
      </p:sp>
      <p:sp>
        <p:nvSpPr>
          <p:cNvPr id="7" name="Text 5"/>
          <p:cNvSpPr/>
          <p:nvPr/>
        </p:nvSpPr>
        <p:spPr>
          <a:xfrm>
            <a:off x="557893" y="2112848"/>
            <a:ext cx="647700" cy="533400"/>
          </a:xfrm>
          <a:prstGeom prst="rect">
            <a:avLst/>
          </a:prstGeom>
          <a:noFill/>
          <a:ln/>
        </p:spPr>
        <p:txBody>
          <a:bodyPr wrap="square" lIns="0" tIns="0" rIns="0" bIns="0" rtlCol="0" anchor="ctr"/>
          <a:lstStyle/>
          <a:p>
            <a:pPr algn="ctr">
              <a:lnSpc>
                <a:spcPct val="110000"/>
              </a:lnSpc>
            </a:pPr>
            <a:r>
              <a:rPr lang="en-US" sz="1800" b="1" dirty="0">
                <a:solidFill>
                  <a:srgbClr val="FFFFFF"/>
                </a:solidFill>
                <a:latin typeface="Liter" pitchFamily="34" charset="0"/>
                <a:ea typeface="Liter" pitchFamily="34" charset="-122"/>
                <a:cs typeface="Liter" pitchFamily="34" charset="-120"/>
              </a:rPr>
              <a:t>W</a:t>
            </a:r>
            <a:endParaRPr lang="en-US" sz="1600" dirty="0"/>
          </a:p>
        </p:txBody>
      </p:sp>
      <p:sp>
        <p:nvSpPr>
          <p:cNvPr id="8" name="Text 6"/>
          <p:cNvSpPr/>
          <p:nvPr/>
        </p:nvSpPr>
        <p:spPr>
          <a:xfrm>
            <a:off x="1300843" y="2227148"/>
            <a:ext cx="657225" cy="304800"/>
          </a:xfrm>
          <a:prstGeom prst="rect">
            <a:avLst/>
          </a:prstGeom>
          <a:noFill/>
          <a:ln/>
        </p:spPr>
        <p:txBody>
          <a:bodyPr wrap="square" lIns="0" tIns="0" rIns="0" bIns="0" rtlCol="0" anchor="ctr"/>
          <a:lstStyle/>
          <a:p>
            <a:pPr>
              <a:lnSpc>
                <a:spcPct val="110000"/>
              </a:lnSpc>
            </a:pPr>
            <a:r>
              <a:rPr lang="en-US" sz="1800" b="1" dirty="0">
                <a:solidFill>
                  <a:srgbClr val="1D1D1D"/>
                </a:solidFill>
                <a:latin typeface="Liter" pitchFamily="34" charset="0"/>
                <a:ea typeface="Liter" pitchFamily="34" charset="-122"/>
                <a:cs typeface="Liter" pitchFamily="34" charset="-120"/>
              </a:rPr>
              <a:t>What</a:t>
            </a:r>
            <a:endParaRPr lang="en-US" sz="1600" dirty="0"/>
          </a:p>
        </p:txBody>
      </p:sp>
      <p:sp>
        <p:nvSpPr>
          <p:cNvPr id="9" name="Text 7"/>
          <p:cNvSpPr/>
          <p:nvPr/>
        </p:nvSpPr>
        <p:spPr>
          <a:xfrm>
            <a:off x="615043" y="2798650"/>
            <a:ext cx="3295650" cy="247650"/>
          </a:xfrm>
          <a:prstGeom prst="rect">
            <a:avLst/>
          </a:prstGeom>
          <a:noFill/>
          <a:ln/>
        </p:spPr>
        <p:txBody>
          <a:bodyPr wrap="square" lIns="0" tIns="0" rIns="0" bIns="0" rtlCol="0" anchor="ctr"/>
          <a:lstStyle/>
          <a:p>
            <a:pPr>
              <a:lnSpc>
                <a:spcPct val="140000"/>
              </a:lnSpc>
            </a:pPr>
            <a:r>
              <a:rPr lang="en-US" sz="1200" dirty="0">
                <a:solidFill>
                  <a:srgbClr val="86868B"/>
                </a:solidFill>
                <a:latin typeface="Liter" pitchFamily="34" charset="0"/>
                <a:ea typeface="Liter" pitchFamily="34" charset="-122"/>
                <a:cs typeface="Liter" pitchFamily="34" charset="-120"/>
              </a:rPr>
              <a:t>The specific problem or issue</a:t>
            </a:r>
            <a:endParaRPr lang="en-US" sz="1600" dirty="0"/>
          </a:p>
        </p:txBody>
      </p:sp>
      <p:sp>
        <p:nvSpPr>
          <p:cNvPr id="10" name="Text 8"/>
          <p:cNvSpPr/>
          <p:nvPr/>
        </p:nvSpPr>
        <p:spPr>
          <a:xfrm>
            <a:off x="615043" y="3160600"/>
            <a:ext cx="3286125" cy="190500"/>
          </a:xfrm>
          <a:prstGeom prst="rect">
            <a:avLst/>
          </a:prstGeom>
          <a:noFill/>
          <a:ln/>
        </p:spPr>
        <p:txBody>
          <a:bodyPr wrap="square" lIns="0" tIns="0" rIns="0" bIns="0" rtlCol="0" anchor="ctr"/>
          <a:lstStyle/>
          <a:p>
            <a:pPr>
              <a:lnSpc>
                <a:spcPct val="120000"/>
              </a:lnSpc>
            </a:pPr>
            <a:r>
              <a:rPr lang="en-US" sz="1050" b="1" dirty="0">
                <a:solidFill>
                  <a:srgbClr val="1D1D1D"/>
                </a:solidFill>
                <a:latin typeface="Liter" pitchFamily="34" charset="0"/>
                <a:ea typeface="Liter" pitchFamily="34" charset="-122"/>
                <a:cs typeface="Liter" pitchFamily="34" charset="-120"/>
              </a:rPr>
              <a:t>Example:</a:t>
            </a:r>
            <a:r>
              <a:rPr lang="en-US" sz="1050" dirty="0">
                <a:solidFill>
                  <a:srgbClr val="1D1D1D"/>
                </a:solidFill>
                <a:latin typeface="Liter" pitchFamily="34" charset="0"/>
                <a:ea typeface="Liter" pitchFamily="34" charset="-122"/>
                <a:cs typeface="Liter" pitchFamily="34" charset="-120"/>
              </a:rPr>
              <a:t> "Customer churn rate has increased by 25%"</a:t>
            </a:r>
            <a:endParaRPr lang="en-US" sz="1600" dirty="0"/>
          </a:p>
        </p:txBody>
      </p:sp>
      <p:sp>
        <p:nvSpPr>
          <p:cNvPr id="11" name="Shape 9"/>
          <p:cNvSpPr/>
          <p:nvPr/>
        </p:nvSpPr>
        <p:spPr>
          <a:xfrm>
            <a:off x="4257165" y="1881528"/>
            <a:ext cx="3682093" cy="1891393"/>
          </a:xfrm>
          <a:custGeom>
            <a:avLst/>
            <a:gdLst/>
            <a:ahLst/>
            <a:cxnLst/>
            <a:rect l="l" t="t" r="r" b="b"/>
            <a:pathLst>
              <a:path w="3682093" h="1891393">
                <a:moveTo>
                  <a:pt x="76204" y="0"/>
                </a:moveTo>
                <a:lnTo>
                  <a:pt x="3605889" y="0"/>
                </a:lnTo>
                <a:cubicBezTo>
                  <a:pt x="3647975" y="0"/>
                  <a:pt x="3682093" y="34118"/>
                  <a:pt x="3682093" y="76204"/>
                </a:cubicBezTo>
                <a:lnTo>
                  <a:pt x="3682093" y="1815189"/>
                </a:lnTo>
                <a:cubicBezTo>
                  <a:pt x="3682093" y="1857275"/>
                  <a:pt x="3647975" y="1891393"/>
                  <a:pt x="3605889" y="1891393"/>
                </a:cubicBezTo>
                <a:lnTo>
                  <a:pt x="76204" y="1891393"/>
                </a:lnTo>
                <a:cubicBezTo>
                  <a:pt x="34118" y="1891393"/>
                  <a:pt x="0" y="1857275"/>
                  <a:pt x="0" y="1815189"/>
                </a:cubicBezTo>
                <a:lnTo>
                  <a:pt x="0" y="76204"/>
                </a:lnTo>
                <a:cubicBezTo>
                  <a:pt x="0" y="34146"/>
                  <a:pt x="34146" y="0"/>
                  <a:pt x="76204" y="0"/>
                </a:cubicBezTo>
                <a:close/>
              </a:path>
            </a:pathLst>
          </a:custGeom>
          <a:solidFill>
            <a:srgbClr val="000000">
              <a:alpha val="0"/>
            </a:srgbClr>
          </a:solidFill>
          <a:ln w="7257">
            <a:solidFill>
              <a:srgbClr val="E5E5E5"/>
            </a:solidFill>
            <a:prstDash val="solid"/>
          </a:ln>
        </p:spPr>
        <p:txBody>
          <a:bodyPr/>
          <a:lstStyle/>
          <a:p>
            <a:endParaRPr lang="en-US"/>
          </a:p>
        </p:txBody>
      </p:sp>
      <p:sp>
        <p:nvSpPr>
          <p:cNvPr id="12" name="Shape 10"/>
          <p:cNvSpPr/>
          <p:nvPr/>
        </p:nvSpPr>
        <p:spPr>
          <a:xfrm>
            <a:off x="4488486" y="2112848"/>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1D1D1D"/>
          </a:solidFill>
          <a:ln/>
        </p:spPr>
        <p:txBody>
          <a:bodyPr/>
          <a:lstStyle/>
          <a:p>
            <a:endParaRPr lang="en-US"/>
          </a:p>
        </p:txBody>
      </p:sp>
      <p:sp>
        <p:nvSpPr>
          <p:cNvPr id="13" name="Text 11"/>
          <p:cNvSpPr/>
          <p:nvPr/>
        </p:nvSpPr>
        <p:spPr>
          <a:xfrm>
            <a:off x="4431336" y="2112848"/>
            <a:ext cx="647700" cy="533400"/>
          </a:xfrm>
          <a:prstGeom prst="rect">
            <a:avLst/>
          </a:prstGeom>
          <a:noFill/>
          <a:ln/>
        </p:spPr>
        <p:txBody>
          <a:bodyPr wrap="square" lIns="0" tIns="0" rIns="0" bIns="0" rtlCol="0" anchor="ctr"/>
          <a:lstStyle/>
          <a:p>
            <a:pPr algn="ctr">
              <a:lnSpc>
                <a:spcPct val="110000"/>
              </a:lnSpc>
            </a:pPr>
            <a:r>
              <a:rPr lang="en-US" sz="1800" b="1" dirty="0">
                <a:solidFill>
                  <a:srgbClr val="FFFFFF"/>
                </a:solidFill>
                <a:latin typeface="Liter" pitchFamily="34" charset="0"/>
                <a:ea typeface="Liter" pitchFamily="34" charset="-122"/>
                <a:cs typeface="Liter" pitchFamily="34" charset="-120"/>
              </a:rPr>
              <a:t>W</a:t>
            </a:r>
            <a:endParaRPr lang="en-US" sz="1600" dirty="0"/>
          </a:p>
        </p:txBody>
      </p:sp>
      <p:sp>
        <p:nvSpPr>
          <p:cNvPr id="14" name="Text 12"/>
          <p:cNvSpPr/>
          <p:nvPr/>
        </p:nvSpPr>
        <p:spPr>
          <a:xfrm>
            <a:off x="5174286" y="2227148"/>
            <a:ext cx="581025" cy="304800"/>
          </a:xfrm>
          <a:prstGeom prst="rect">
            <a:avLst/>
          </a:prstGeom>
          <a:noFill/>
          <a:ln/>
        </p:spPr>
        <p:txBody>
          <a:bodyPr wrap="square" lIns="0" tIns="0" rIns="0" bIns="0" rtlCol="0" anchor="ctr"/>
          <a:lstStyle/>
          <a:p>
            <a:pPr>
              <a:lnSpc>
                <a:spcPct val="110000"/>
              </a:lnSpc>
            </a:pPr>
            <a:r>
              <a:rPr lang="en-US" sz="1800" b="1" dirty="0">
                <a:solidFill>
                  <a:srgbClr val="1D1D1D"/>
                </a:solidFill>
                <a:latin typeface="Liter" pitchFamily="34" charset="0"/>
                <a:ea typeface="Liter" pitchFamily="34" charset="-122"/>
                <a:cs typeface="Liter" pitchFamily="34" charset="-120"/>
              </a:rPr>
              <a:t>Why</a:t>
            </a:r>
            <a:endParaRPr lang="en-US" sz="1600" dirty="0"/>
          </a:p>
        </p:txBody>
      </p:sp>
      <p:sp>
        <p:nvSpPr>
          <p:cNvPr id="15" name="Text 13"/>
          <p:cNvSpPr/>
          <p:nvPr/>
        </p:nvSpPr>
        <p:spPr>
          <a:xfrm>
            <a:off x="4488486" y="2798650"/>
            <a:ext cx="3295650" cy="247650"/>
          </a:xfrm>
          <a:prstGeom prst="rect">
            <a:avLst/>
          </a:prstGeom>
          <a:noFill/>
          <a:ln/>
        </p:spPr>
        <p:txBody>
          <a:bodyPr wrap="square" lIns="0" tIns="0" rIns="0" bIns="0" rtlCol="0" anchor="ctr"/>
          <a:lstStyle/>
          <a:p>
            <a:pPr>
              <a:lnSpc>
                <a:spcPct val="140000"/>
              </a:lnSpc>
            </a:pPr>
            <a:r>
              <a:rPr lang="en-US" sz="1200" dirty="0">
                <a:solidFill>
                  <a:srgbClr val="86868B"/>
                </a:solidFill>
                <a:latin typeface="Liter" pitchFamily="34" charset="0"/>
                <a:ea typeface="Liter" pitchFamily="34" charset="-122"/>
                <a:cs typeface="Liter" pitchFamily="34" charset="-120"/>
              </a:rPr>
              <a:t>Importance and impact</a:t>
            </a:r>
            <a:endParaRPr lang="en-US" sz="1600" dirty="0"/>
          </a:p>
        </p:txBody>
      </p:sp>
      <p:sp>
        <p:nvSpPr>
          <p:cNvPr id="16" name="Text 14"/>
          <p:cNvSpPr/>
          <p:nvPr/>
        </p:nvSpPr>
        <p:spPr>
          <a:xfrm>
            <a:off x="4488486" y="3160600"/>
            <a:ext cx="3286125" cy="381000"/>
          </a:xfrm>
          <a:prstGeom prst="rect">
            <a:avLst/>
          </a:prstGeom>
          <a:noFill/>
          <a:ln/>
        </p:spPr>
        <p:txBody>
          <a:bodyPr wrap="square" lIns="0" tIns="0" rIns="0" bIns="0" rtlCol="0" anchor="ctr"/>
          <a:lstStyle/>
          <a:p>
            <a:pPr>
              <a:lnSpc>
                <a:spcPct val="120000"/>
              </a:lnSpc>
            </a:pPr>
            <a:r>
              <a:rPr lang="en-US" sz="1050" b="1" dirty="0">
                <a:solidFill>
                  <a:srgbClr val="1D1D1D"/>
                </a:solidFill>
                <a:latin typeface="Liter" pitchFamily="34" charset="0"/>
                <a:ea typeface="Liter" pitchFamily="34" charset="-122"/>
                <a:cs typeface="Liter" pitchFamily="34" charset="-120"/>
              </a:rPr>
              <a:t>Example:</a:t>
            </a:r>
            <a:r>
              <a:rPr lang="en-US" sz="1050" dirty="0">
                <a:solidFill>
                  <a:srgbClr val="1D1D1D"/>
                </a:solidFill>
                <a:latin typeface="Liter" pitchFamily="34" charset="0"/>
                <a:ea typeface="Liter" pitchFamily="34" charset="-122"/>
                <a:cs typeface="Liter" pitchFamily="34" charset="-120"/>
              </a:rPr>
              <a:t> "Affecting revenue and customer satisfaction"</a:t>
            </a:r>
            <a:endParaRPr lang="en-US" sz="1600" dirty="0"/>
          </a:p>
        </p:txBody>
      </p:sp>
      <p:sp>
        <p:nvSpPr>
          <p:cNvPr id="17" name="Shape 15"/>
          <p:cNvSpPr/>
          <p:nvPr/>
        </p:nvSpPr>
        <p:spPr>
          <a:xfrm>
            <a:off x="8130693" y="1881528"/>
            <a:ext cx="3682093" cy="1891393"/>
          </a:xfrm>
          <a:custGeom>
            <a:avLst/>
            <a:gdLst/>
            <a:ahLst/>
            <a:cxnLst/>
            <a:rect l="l" t="t" r="r" b="b"/>
            <a:pathLst>
              <a:path w="3682093" h="1891393">
                <a:moveTo>
                  <a:pt x="76204" y="0"/>
                </a:moveTo>
                <a:lnTo>
                  <a:pt x="3605889" y="0"/>
                </a:lnTo>
                <a:cubicBezTo>
                  <a:pt x="3647975" y="0"/>
                  <a:pt x="3682093" y="34118"/>
                  <a:pt x="3682093" y="76204"/>
                </a:cubicBezTo>
                <a:lnTo>
                  <a:pt x="3682093" y="1815189"/>
                </a:lnTo>
                <a:cubicBezTo>
                  <a:pt x="3682093" y="1857275"/>
                  <a:pt x="3647975" y="1891393"/>
                  <a:pt x="3605889" y="1891393"/>
                </a:cubicBezTo>
                <a:lnTo>
                  <a:pt x="76204" y="1891393"/>
                </a:lnTo>
                <a:cubicBezTo>
                  <a:pt x="34118" y="1891393"/>
                  <a:pt x="0" y="1857275"/>
                  <a:pt x="0" y="1815189"/>
                </a:cubicBezTo>
                <a:lnTo>
                  <a:pt x="0" y="76204"/>
                </a:lnTo>
                <a:cubicBezTo>
                  <a:pt x="0" y="34146"/>
                  <a:pt x="34146" y="0"/>
                  <a:pt x="76204" y="0"/>
                </a:cubicBezTo>
                <a:close/>
              </a:path>
            </a:pathLst>
          </a:custGeom>
          <a:solidFill>
            <a:srgbClr val="000000">
              <a:alpha val="0"/>
            </a:srgbClr>
          </a:solidFill>
          <a:ln w="7257">
            <a:solidFill>
              <a:srgbClr val="E5E5E5"/>
            </a:solidFill>
            <a:prstDash val="solid"/>
          </a:ln>
        </p:spPr>
        <p:txBody>
          <a:bodyPr/>
          <a:lstStyle/>
          <a:p>
            <a:endParaRPr lang="en-US"/>
          </a:p>
        </p:txBody>
      </p:sp>
      <p:sp>
        <p:nvSpPr>
          <p:cNvPr id="18" name="Shape 16"/>
          <p:cNvSpPr/>
          <p:nvPr/>
        </p:nvSpPr>
        <p:spPr>
          <a:xfrm>
            <a:off x="8362015" y="2112848"/>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1D1D1D"/>
          </a:solidFill>
          <a:ln/>
        </p:spPr>
        <p:txBody>
          <a:bodyPr/>
          <a:lstStyle/>
          <a:p>
            <a:endParaRPr lang="en-US"/>
          </a:p>
        </p:txBody>
      </p:sp>
      <p:sp>
        <p:nvSpPr>
          <p:cNvPr id="19" name="Text 17"/>
          <p:cNvSpPr/>
          <p:nvPr/>
        </p:nvSpPr>
        <p:spPr>
          <a:xfrm>
            <a:off x="8304865" y="2112848"/>
            <a:ext cx="647700" cy="533400"/>
          </a:xfrm>
          <a:prstGeom prst="rect">
            <a:avLst/>
          </a:prstGeom>
          <a:noFill/>
          <a:ln/>
        </p:spPr>
        <p:txBody>
          <a:bodyPr wrap="square" lIns="0" tIns="0" rIns="0" bIns="0" rtlCol="0" anchor="ctr"/>
          <a:lstStyle/>
          <a:p>
            <a:pPr algn="ctr">
              <a:lnSpc>
                <a:spcPct val="110000"/>
              </a:lnSpc>
            </a:pPr>
            <a:r>
              <a:rPr lang="en-US" sz="1800" b="1" dirty="0">
                <a:solidFill>
                  <a:srgbClr val="FFFFFF"/>
                </a:solidFill>
                <a:latin typeface="Liter" pitchFamily="34" charset="0"/>
                <a:ea typeface="Liter" pitchFamily="34" charset="-122"/>
                <a:cs typeface="Liter" pitchFamily="34" charset="-120"/>
              </a:rPr>
              <a:t>W</a:t>
            </a:r>
            <a:endParaRPr lang="en-US" sz="1600" dirty="0"/>
          </a:p>
        </p:txBody>
      </p:sp>
      <p:sp>
        <p:nvSpPr>
          <p:cNvPr id="20" name="Text 18"/>
          <p:cNvSpPr/>
          <p:nvPr/>
        </p:nvSpPr>
        <p:spPr>
          <a:xfrm>
            <a:off x="9047815" y="2227148"/>
            <a:ext cx="590550" cy="304800"/>
          </a:xfrm>
          <a:prstGeom prst="rect">
            <a:avLst/>
          </a:prstGeom>
          <a:noFill/>
          <a:ln/>
        </p:spPr>
        <p:txBody>
          <a:bodyPr wrap="square" lIns="0" tIns="0" rIns="0" bIns="0" rtlCol="0" anchor="ctr"/>
          <a:lstStyle/>
          <a:p>
            <a:pPr>
              <a:lnSpc>
                <a:spcPct val="110000"/>
              </a:lnSpc>
            </a:pPr>
            <a:r>
              <a:rPr lang="en-US" sz="1800" b="1" dirty="0">
                <a:solidFill>
                  <a:srgbClr val="1D1D1D"/>
                </a:solidFill>
                <a:latin typeface="Liter" pitchFamily="34" charset="0"/>
                <a:ea typeface="Liter" pitchFamily="34" charset="-122"/>
                <a:cs typeface="Liter" pitchFamily="34" charset="-120"/>
              </a:rPr>
              <a:t>Who</a:t>
            </a:r>
            <a:endParaRPr lang="en-US" sz="1600" dirty="0"/>
          </a:p>
        </p:txBody>
      </p:sp>
      <p:sp>
        <p:nvSpPr>
          <p:cNvPr id="21" name="Text 19"/>
          <p:cNvSpPr/>
          <p:nvPr/>
        </p:nvSpPr>
        <p:spPr>
          <a:xfrm>
            <a:off x="8362015" y="2798650"/>
            <a:ext cx="3295650" cy="247650"/>
          </a:xfrm>
          <a:prstGeom prst="rect">
            <a:avLst/>
          </a:prstGeom>
          <a:noFill/>
          <a:ln/>
        </p:spPr>
        <p:txBody>
          <a:bodyPr wrap="square" lIns="0" tIns="0" rIns="0" bIns="0" rtlCol="0" anchor="ctr"/>
          <a:lstStyle/>
          <a:p>
            <a:pPr>
              <a:lnSpc>
                <a:spcPct val="140000"/>
              </a:lnSpc>
            </a:pPr>
            <a:r>
              <a:rPr lang="en-US" sz="1200" dirty="0">
                <a:solidFill>
                  <a:srgbClr val="86868B"/>
                </a:solidFill>
                <a:latin typeface="Liter" pitchFamily="34" charset="0"/>
                <a:ea typeface="Liter" pitchFamily="34" charset="-122"/>
                <a:cs typeface="Liter" pitchFamily="34" charset="-120"/>
              </a:rPr>
              <a:t>Affected stakeholders</a:t>
            </a:r>
            <a:endParaRPr lang="en-US" sz="1600" dirty="0"/>
          </a:p>
        </p:txBody>
      </p:sp>
      <p:sp>
        <p:nvSpPr>
          <p:cNvPr id="22" name="Text 20"/>
          <p:cNvSpPr/>
          <p:nvPr/>
        </p:nvSpPr>
        <p:spPr>
          <a:xfrm>
            <a:off x="8362015" y="3160600"/>
            <a:ext cx="3286125" cy="190500"/>
          </a:xfrm>
          <a:prstGeom prst="rect">
            <a:avLst/>
          </a:prstGeom>
          <a:noFill/>
          <a:ln/>
        </p:spPr>
        <p:txBody>
          <a:bodyPr wrap="square" lIns="0" tIns="0" rIns="0" bIns="0" rtlCol="0" anchor="ctr"/>
          <a:lstStyle/>
          <a:p>
            <a:pPr>
              <a:lnSpc>
                <a:spcPct val="120000"/>
              </a:lnSpc>
            </a:pPr>
            <a:r>
              <a:rPr lang="en-US" sz="1050" b="1" dirty="0">
                <a:solidFill>
                  <a:srgbClr val="1D1D1D"/>
                </a:solidFill>
                <a:latin typeface="Liter" pitchFamily="34" charset="0"/>
                <a:ea typeface="Liter" pitchFamily="34" charset="-122"/>
                <a:cs typeface="Liter" pitchFamily="34" charset="-120"/>
              </a:rPr>
              <a:t>Example:</a:t>
            </a:r>
            <a:r>
              <a:rPr lang="en-US" sz="1050" dirty="0">
                <a:solidFill>
                  <a:srgbClr val="1D1D1D"/>
                </a:solidFill>
                <a:latin typeface="Liter" pitchFamily="34" charset="0"/>
                <a:ea typeface="Liter" pitchFamily="34" charset="-122"/>
                <a:cs typeface="Liter" pitchFamily="34" charset="-120"/>
              </a:rPr>
              <a:t> "Premium customers in the </a:t>
            </a:r>
            <a:r>
              <a:rPr lang="en-US" sz="1050" b="1" dirty="0">
                <a:solidFill>
                  <a:srgbClr val="1D1D1D"/>
                </a:solidFill>
                <a:latin typeface="Liter" pitchFamily="34" charset="0"/>
                <a:ea typeface="Liter" pitchFamily="34" charset="-122"/>
                <a:cs typeface="Liter" pitchFamily="34" charset="-120"/>
              </a:rPr>
              <a:t>Northeast region</a:t>
            </a:r>
            <a:r>
              <a:rPr lang="en-US" sz="1050" dirty="0">
                <a:solidFill>
                  <a:srgbClr val="1D1D1D"/>
                </a:solidFill>
                <a:latin typeface="Liter" pitchFamily="34" charset="0"/>
                <a:ea typeface="Liter" pitchFamily="34" charset="-122"/>
                <a:cs typeface="Liter" pitchFamily="34" charset="-120"/>
              </a:rPr>
              <a:t>"</a:t>
            </a:r>
            <a:endParaRPr lang="en-US" sz="1600" dirty="0"/>
          </a:p>
        </p:txBody>
      </p:sp>
      <p:sp>
        <p:nvSpPr>
          <p:cNvPr id="23" name="Shape 21"/>
          <p:cNvSpPr/>
          <p:nvPr/>
        </p:nvSpPr>
        <p:spPr>
          <a:xfrm>
            <a:off x="383721" y="3968863"/>
            <a:ext cx="3682093" cy="1891393"/>
          </a:xfrm>
          <a:custGeom>
            <a:avLst/>
            <a:gdLst/>
            <a:ahLst/>
            <a:cxnLst/>
            <a:rect l="l" t="t" r="r" b="b"/>
            <a:pathLst>
              <a:path w="3682093" h="1891393">
                <a:moveTo>
                  <a:pt x="76204" y="0"/>
                </a:moveTo>
                <a:lnTo>
                  <a:pt x="3605889" y="0"/>
                </a:lnTo>
                <a:cubicBezTo>
                  <a:pt x="3647975" y="0"/>
                  <a:pt x="3682093" y="34118"/>
                  <a:pt x="3682093" y="76204"/>
                </a:cubicBezTo>
                <a:lnTo>
                  <a:pt x="3682093" y="1815189"/>
                </a:lnTo>
                <a:cubicBezTo>
                  <a:pt x="3682093" y="1857275"/>
                  <a:pt x="3647975" y="1891393"/>
                  <a:pt x="3605889" y="1891393"/>
                </a:cubicBezTo>
                <a:lnTo>
                  <a:pt x="76204" y="1891393"/>
                </a:lnTo>
                <a:cubicBezTo>
                  <a:pt x="34118" y="1891393"/>
                  <a:pt x="0" y="1857275"/>
                  <a:pt x="0" y="1815189"/>
                </a:cubicBezTo>
                <a:lnTo>
                  <a:pt x="0" y="76204"/>
                </a:lnTo>
                <a:cubicBezTo>
                  <a:pt x="0" y="34146"/>
                  <a:pt x="34146" y="0"/>
                  <a:pt x="76204" y="0"/>
                </a:cubicBezTo>
                <a:close/>
              </a:path>
            </a:pathLst>
          </a:custGeom>
          <a:solidFill>
            <a:srgbClr val="000000">
              <a:alpha val="0"/>
            </a:srgbClr>
          </a:solidFill>
          <a:ln w="7257">
            <a:solidFill>
              <a:srgbClr val="E5E5E5"/>
            </a:solidFill>
            <a:prstDash val="solid"/>
          </a:ln>
        </p:spPr>
        <p:txBody>
          <a:bodyPr/>
          <a:lstStyle/>
          <a:p>
            <a:endParaRPr lang="en-US" dirty="0"/>
          </a:p>
        </p:txBody>
      </p:sp>
      <p:sp>
        <p:nvSpPr>
          <p:cNvPr id="24" name="Shape 22"/>
          <p:cNvSpPr/>
          <p:nvPr/>
        </p:nvSpPr>
        <p:spPr>
          <a:xfrm>
            <a:off x="615043" y="4200183"/>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1D1D1D"/>
          </a:solidFill>
          <a:ln/>
        </p:spPr>
        <p:txBody>
          <a:bodyPr/>
          <a:lstStyle/>
          <a:p>
            <a:endParaRPr lang="en-US"/>
          </a:p>
        </p:txBody>
      </p:sp>
      <p:sp>
        <p:nvSpPr>
          <p:cNvPr id="25" name="Text 23"/>
          <p:cNvSpPr/>
          <p:nvPr/>
        </p:nvSpPr>
        <p:spPr>
          <a:xfrm>
            <a:off x="557893" y="4200183"/>
            <a:ext cx="647700" cy="533400"/>
          </a:xfrm>
          <a:prstGeom prst="rect">
            <a:avLst/>
          </a:prstGeom>
          <a:noFill/>
          <a:ln/>
        </p:spPr>
        <p:txBody>
          <a:bodyPr wrap="square" lIns="0" tIns="0" rIns="0" bIns="0" rtlCol="0" anchor="ctr"/>
          <a:lstStyle/>
          <a:p>
            <a:pPr algn="ctr">
              <a:lnSpc>
                <a:spcPct val="110000"/>
              </a:lnSpc>
            </a:pPr>
            <a:r>
              <a:rPr lang="en-US" sz="1800" b="1" dirty="0">
                <a:solidFill>
                  <a:srgbClr val="FFFFFF"/>
                </a:solidFill>
                <a:latin typeface="Liter" pitchFamily="34" charset="0"/>
                <a:ea typeface="Liter" pitchFamily="34" charset="-122"/>
                <a:cs typeface="Liter" pitchFamily="34" charset="-120"/>
              </a:rPr>
              <a:t>W</a:t>
            </a:r>
            <a:endParaRPr lang="en-US" sz="1600" dirty="0"/>
          </a:p>
        </p:txBody>
      </p:sp>
      <p:sp>
        <p:nvSpPr>
          <p:cNvPr id="26" name="Text 24"/>
          <p:cNvSpPr/>
          <p:nvPr/>
        </p:nvSpPr>
        <p:spPr>
          <a:xfrm>
            <a:off x="1300843" y="4314483"/>
            <a:ext cx="2302256" cy="304800"/>
          </a:xfrm>
          <a:prstGeom prst="rect">
            <a:avLst/>
          </a:prstGeom>
          <a:noFill/>
          <a:ln/>
        </p:spPr>
        <p:txBody>
          <a:bodyPr wrap="square" lIns="0" tIns="0" rIns="0" bIns="0" rtlCol="0" anchor="ctr"/>
          <a:lstStyle/>
          <a:p>
            <a:pPr>
              <a:lnSpc>
                <a:spcPct val="110000"/>
              </a:lnSpc>
            </a:pPr>
            <a:r>
              <a:rPr lang="en-US" sz="1800" b="1" dirty="0">
                <a:solidFill>
                  <a:srgbClr val="1D1D1D"/>
                </a:solidFill>
                <a:latin typeface="Liter" pitchFamily="34" charset="0"/>
                <a:ea typeface="Liter" pitchFamily="34" charset="-122"/>
                <a:cs typeface="Liter" pitchFamily="34" charset="-120"/>
              </a:rPr>
              <a:t>Where </a:t>
            </a:r>
            <a:r>
              <a:rPr lang="en-US" sz="1800" b="1" i="1" dirty="0">
                <a:solidFill>
                  <a:schemeClr val="accent3"/>
                </a:solidFill>
                <a:latin typeface="Liter" pitchFamily="34" charset="0"/>
                <a:ea typeface="Liter" pitchFamily="34" charset="-122"/>
                <a:cs typeface="Liter" pitchFamily="34" charset="-120"/>
              </a:rPr>
              <a:t>(if Applicable)</a:t>
            </a:r>
            <a:endParaRPr lang="en-US" sz="1600" i="1" dirty="0">
              <a:solidFill>
                <a:schemeClr val="accent3"/>
              </a:solidFill>
            </a:endParaRPr>
          </a:p>
        </p:txBody>
      </p:sp>
      <p:sp>
        <p:nvSpPr>
          <p:cNvPr id="27" name="Text 25"/>
          <p:cNvSpPr/>
          <p:nvPr/>
        </p:nvSpPr>
        <p:spPr>
          <a:xfrm>
            <a:off x="615043" y="4885983"/>
            <a:ext cx="3295650" cy="247650"/>
          </a:xfrm>
          <a:prstGeom prst="rect">
            <a:avLst/>
          </a:prstGeom>
          <a:noFill/>
          <a:ln/>
        </p:spPr>
        <p:txBody>
          <a:bodyPr wrap="square" lIns="0" tIns="0" rIns="0" bIns="0" rtlCol="0" anchor="ctr"/>
          <a:lstStyle/>
          <a:p>
            <a:pPr>
              <a:lnSpc>
                <a:spcPct val="140000"/>
              </a:lnSpc>
            </a:pPr>
            <a:r>
              <a:rPr lang="en-US" sz="1200" dirty="0">
                <a:solidFill>
                  <a:srgbClr val="86868B"/>
                </a:solidFill>
                <a:latin typeface="Liter" pitchFamily="34" charset="0"/>
                <a:ea typeface="Liter" pitchFamily="34" charset="-122"/>
                <a:cs typeface="Liter" pitchFamily="34" charset="-120"/>
              </a:rPr>
              <a:t>Context or location</a:t>
            </a:r>
            <a:endParaRPr lang="en-US" sz="1600" dirty="0"/>
          </a:p>
        </p:txBody>
      </p:sp>
      <p:sp>
        <p:nvSpPr>
          <p:cNvPr id="28" name="Text 26"/>
          <p:cNvSpPr/>
          <p:nvPr/>
        </p:nvSpPr>
        <p:spPr>
          <a:xfrm>
            <a:off x="615043" y="5247933"/>
            <a:ext cx="3286125" cy="381000"/>
          </a:xfrm>
          <a:prstGeom prst="rect">
            <a:avLst/>
          </a:prstGeom>
          <a:noFill/>
          <a:ln/>
        </p:spPr>
        <p:txBody>
          <a:bodyPr wrap="square" lIns="0" tIns="0" rIns="0" bIns="0" rtlCol="0" anchor="ctr"/>
          <a:lstStyle/>
          <a:p>
            <a:pPr>
              <a:lnSpc>
                <a:spcPct val="120000"/>
              </a:lnSpc>
            </a:pPr>
            <a:r>
              <a:rPr lang="en-US" sz="1050" b="1" dirty="0">
                <a:solidFill>
                  <a:srgbClr val="1D1D1D"/>
                </a:solidFill>
                <a:latin typeface="Liter" pitchFamily="34" charset="0"/>
                <a:ea typeface="Liter" pitchFamily="34" charset="-122"/>
                <a:cs typeface="Liter" pitchFamily="34" charset="-120"/>
              </a:rPr>
              <a:t>Example:</a:t>
            </a:r>
            <a:r>
              <a:rPr lang="en-US" sz="1050" dirty="0">
                <a:solidFill>
                  <a:srgbClr val="1D1D1D"/>
                </a:solidFill>
                <a:latin typeface="Liter" pitchFamily="34" charset="0"/>
                <a:ea typeface="Liter" pitchFamily="34" charset="-122"/>
                <a:cs typeface="Liter" pitchFamily="34" charset="-120"/>
              </a:rPr>
              <a:t> "In our mobile app and customer service channels"</a:t>
            </a:r>
            <a:endParaRPr lang="en-US" sz="1600" dirty="0"/>
          </a:p>
        </p:txBody>
      </p:sp>
      <p:sp>
        <p:nvSpPr>
          <p:cNvPr id="29" name="Shape 27"/>
          <p:cNvSpPr/>
          <p:nvPr/>
        </p:nvSpPr>
        <p:spPr>
          <a:xfrm>
            <a:off x="4257165" y="3968863"/>
            <a:ext cx="3682093" cy="1891393"/>
          </a:xfrm>
          <a:custGeom>
            <a:avLst/>
            <a:gdLst/>
            <a:ahLst/>
            <a:cxnLst/>
            <a:rect l="l" t="t" r="r" b="b"/>
            <a:pathLst>
              <a:path w="3682093" h="1891393">
                <a:moveTo>
                  <a:pt x="76204" y="0"/>
                </a:moveTo>
                <a:lnTo>
                  <a:pt x="3605889" y="0"/>
                </a:lnTo>
                <a:cubicBezTo>
                  <a:pt x="3647975" y="0"/>
                  <a:pt x="3682093" y="34118"/>
                  <a:pt x="3682093" y="76204"/>
                </a:cubicBezTo>
                <a:lnTo>
                  <a:pt x="3682093" y="1815189"/>
                </a:lnTo>
                <a:cubicBezTo>
                  <a:pt x="3682093" y="1857275"/>
                  <a:pt x="3647975" y="1891393"/>
                  <a:pt x="3605889" y="1891393"/>
                </a:cubicBezTo>
                <a:lnTo>
                  <a:pt x="76204" y="1891393"/>
                </a:lnTo>
                <a:cubicBezTo>
                  <a:pt x="34118" y="1891393"/>
                  <a:pt x="0" y="1857275"/>
                  <a:pt x="0" y="1815189"/>
                </a:cubicBezTo>
                <a:lnTo>
                  <a:pt x="0" y="76204"/>
                </a:lnTo>
                <a:cubicBezTo>
                  <a:pt x="0" y="34146"/>
                  <a:pt x="34146" y="0"/>
                  <a:pt x="76204" y="0"/>
                </a:cubicBezTo>
                <a:close/>
              </a:path>
            </a:pathLst>
          </a:custGeom>
          <a:solidFill>
            <a:srgbClr val="000000">
              <a:alpha val="0"/>
            </a:srgbClr>
          </a:solidFill>
          <a:ln w="7257">
            <a:solidFill>
              <a:srgbClr val="E5E5E5"/>
            </a:solidFill>
            <a:prstDash val="solid"/>
          </a:ln>
        </p:spPr>
        <p:txBody>
          <a:bodyPr/>
          <a:lstStyle/>
          <a:p>
            <a:endParaRPr lang="en-US"/>
          </a:p>
        </p:txBody>
      </p:sp>
      <p:sp>
        <p:nvSpPr>
          <p:cNvPr id="30" name="Shape 28"/>
          <p:cNvSpPr/>
          <p:nvPr/>
        </p:nvSpPr>
        <p:spPr>
          <a:xfrm>
            <a:off x="4488486" y="4200183"/>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1D1D1D"/>
          </a:solidFill>
          <a:ln/>
        </p:spPr>
        <p:txBody>
          <a:bodyPr/>
          <a:lstStyle/>
          <a:p>
            <a:endParaRPr lang="en-US"/>
          </a:p>
        </p:txBody>
      </p:sp>
      <p:sp>
        <p:nvSpPr>
          <p:cNvPr id="31" name="Text 29"/>
          <p:cNvSpPr/>
          <p:nvPr/>
        </p:nvSpPr>
        <p:spPr>
          <a:xfrm>
            <a:off x="4431336" y="4200183"/>
            <a:ext cx="647700" cy="533400"/>
          </a:xfrm>
          <a:prstGeom prst="rect">
            <a:avLst/>
          </a:prstGeom>
          <a:noFill/>
          <a:ln/>
        </p:spPr>
        <p:txBody>
          <a:bodyPr wrap="square" lIns="0" tIns="0" rIns="0" bIns="0" rtlCol="0" anchor="ctr"/>
          <a:lstStyle/>
          <a:p>
            <a:pPr algn="ctr">
              <a:lnSpc>
                <a:spcPct val="110000"/>
              </a:lnSpc>
            </a:pPr>
            <a:r>
              <a:rPr lang="en-US" sz="1800" b="1" dirty="0">
                <a:solidFill>
                  <a:srgbClr val="FFFFFF"/>
                </a:solidFill>
                <a:latin typeface="Liter" pitchFamily="34" charset="0"/>
                <a:ea typeface="Liter" pitchFamily="34" charset="-122"/>
                <a:cs typeface="Liter" pitchFamily="34" charset="-120"/>
              </a:rPr>
              <a:t>W</a:t>
            </a:r>
            <a:endParaRPr lang="en-US" sz="1600" dirty="0"/>
          </a:p>
        </p:txBody>
      </p:sp>
      <p:sp>
        <p:nvSpPr>
          <p:cNvPr id="32" name="Text 30"/>
          <p:cNvSpPr/>
          <p:nvPr/>
        </p:nvSpPr>
        <p:spPr>
          <a:xfrm>
            <a:off x="5174286" y="4314483"/>
            <a:ext cx="2268082" cy="304800"/>
          </a:xfrm>
          <a:prstGeom prst="rect">
            <a:avLst/>
          </a:prstGeom>
          <a:noFill/>
          <a:ln/>
        </p:spPr>
        <p:txBody>
          <a:bodyPr wrap="square" lIns="0" tIns="0" rIns="0" bIns="0" rtlCol="0" anchor="ctr"/>
          <a:lstStyle/>
          <a:p>
            <a:pPr>
              <a:lnSpc>
                <a:spcPct val="110000"/>
              </a:lnSpc>
            </a:pPr>
            <a:r>
              <a:rPr lang="en-US" sz="1800" b="1" dirty="0">
                <a:solidFill>
                  <a:srgbClr val="1D1D1D"/>
                </a:solidFill>
                <a:latin typeface="Liter" pitchFamily="34" charset="0"/>
                <a:ea typeface="Liter" pitchFamily="34" charset="-122"/>
                <a:cs typeface="Liter" pitchFamily="34" charset="-120"/>
              </a:rPr>
              <a:t>When </a:t>
            </a:r>
            <a:r>
              <a:rPr lang="en-US" sz="1600" b="1" i="1" dirty="0">
                <a:solidFill>
                  <a:schemeClr val="accent3"/>
                </a:solidFill>
                <a:latin typeface="Liter" pitchFamily="34" charset="0"/>
                <a:ea typeface="Liter" pitchFamily="34" charset="-122"/>
                <a:cs typeface="Liter" pitchFamily="34" charset="-120"/>
              </a:rPr>
              <a:t>(if Applicable)</a:t>
            </a:r>
            <a:endParaRPr lang="en-US" sz="1600" dirty="0"/>
          </a:p>
        </p:txBody>
      </p:sp>
      <p:sp>
        <p:nvSpPr>
          <p:cNvPr id="33" name="Text 31"/>
          <p:cNvSpPr/>
          <p:nvPr/>
        </p:nvSpPr>
        <p:spPr>
          <a:xfrm>
            <a:off x="4488486" y="4885983"/>
            <a:ext cx="3295650" cy="247650"/>
          </a:xfrm>
          <a:prstGeom prst="rect">
            <a:avLst/>
          </a:prstGeom>
          <a:noFill/>
          <a:ln/>
        </p:spPr>
        <p:txBody>
          <a:bodyPr wrap="square" lIns="0" tIns="0" rIns="0" bIns="0" rtlCol="0" anchor="ctr"/>
          <a:lstStyle/>
          <a:p>
            <a:pPr>
              <a:lnSpc>
                <a:spcPct val="140000"/>
              </a:lnSpc>
            </a:pPr>
            <a:r>
              <a:rPr lang="en-US" sz="1200" dirty="0">
                <a:solidFill>
                  <a:srgbClr val="86868B"/>
                </a:solidFill>
                <a:latin typeface="Liter" pitchFamily="34" charset="0"/>
                <a:ea typeface="Liter" pitchFamily="34" charset="-122"/>
                <a:cs typeface="Liter" pitchFamily="34" charset="-120"/>
              </a:rPr>
              <a:t>Timeframe and urgency</a:t>
            </a:r>
            <a:endParaRPr lang="en-US" sz="1600" dirty="0"/>
          </a:p>
        </p:txBody>
      </p:sp>
      <p:sp>
        <p:nvSpPr>
          <p:cNvPr id="34" name="Text 32"/>
          <p:cNvSpPr/>
          <p:nvPr/>
        </p:nvSpPr>
        <p:spPr>
          <a:xfrm>
            <a:off x="4488486" y="5247933"/>
            <a:ext cx="3286125" cy="190500"/>
          </a:xfrm>
          <a:prstGeom prst="rect">
            <a:avLst/>
          </a:prstGeom>
          <a:noFill/>
          <a:ln/>
        </p:spPr>
        <p:txBody>
          <a:bodyPr wrap="square" lIns="0" tIns="0" rIns="0" bIns="0" rtlCol="0" anchor="ctr"/>
          <a:lstStyle/>
          <a:p>
            <a:pPr>
              <a:lnSpc>
                <a:spcPct val="120000"/>
              </a:lnSpc>
            </a:pPr>
            <a:r>
              <a:rPr lang="en-US" sz="1050" b="1" dirty="0">
                <a:solidFill>
                  <a:srgbClr val="1D1D1D"/>
                </a:solidFill>
                <a:latin typeface="Liter" pitchFamily="34" charset="0"/>
                <a:ea typeface="Liter" pitchFamily="34" charset="-122"/>
                <a:cs typeface="Liter" pitchFamily="34" charset="-120"/>
              </a:rPr>
              <a:t>Example:</a:t>
            </a:r>
            <a:r>
              <a:rPr lang="en-US" sz="1050" dirty="0">
                <a:solidFill>
                  <a:srgbClr val="1D1D1D"/>
                </a:solidFill>
                <a:latin typeface="Liter" pitchFamily="34" charset="0"/>
                <a:ea typeface="Liter" pitchFamily="34" charset="-122"/>
                <a:cs typeface="Liter" pitchFamily="34" charset="-120"/>
              </a:rPr>
              <a:t> "Over the past 6 months, especially Q4"</a:t>
            </a:r>
            <a:endParaRPr lang="en-US" sz="1600" dirty="0"/>
          </a:p>
        </p:txBody>
      </p:sp>
      <p:sp>
        <p:nvSpPr>
          <p:cNvPr id="37" name="Text 35"/>
          <p:cNvSpPr/>
          <p:nvPr/>
        </p:nvSpPr>
        <p:spPr>
          <a:xfrm>
            <a:off x="8304865" y="4200183"/>
            <a:ext cx="647700" cy="533400"/>
          </a:xfrm>
          <a:prstGeom prst="rect">
            <a:avLst/>
          </a:prstGeom>
          <a:noFill/>
          <a:ln/>
        </p:spPr>
        <p:txBody>
          <a:bodyPr wrap="square" lIns="0" tIns="0" rIns="0" bIns="0" rtlCol="0" anchor="ctr"/>
          <a:lstStyle/>
          <a:p>
            <a:pPr algn="ctr">
              <a:lnSpc>
                <a:spcPct val="110000"/>
              </a:lnSpc>
            </a:pPr>
            <a:r>
              <a:rPr lang="en-US" sz="1800" b="1" dirty="0">
                <a:solidFill>
                  <a:srgbClr val="FFFFFF"/>
                </a:solidFill>
                <a:latin typeface="Liter" pitchFamily="34" charset="0"/>
                <a:ea typeface="Liter" pitchFamily="34" charset="-122"/>
                <a:cs typeface="Liter" pitchFamily="34" charset="-120"/>
              </a:rPr>
              <a:t>H</a:t>
            </a:r>
            <a:endParaRPr lang="en-US" sz="1600" dirty="0"/>
          </a:p>
        </p:txBody>
      </p:sp>
      <p:sp>
        <p:nvSpPr>
          <p:cNvPr id="41" name="Shape 39"/>
          <p:cNvSpPr/>
          <p:nvPr/>
        </p:nvSpPr>
        <p:spPr>
          <a:xfrm>
            <a:off x="381000" y="6094301"/>
            <a:ext cx="11430000" cy="5443"/>
          </a:xfrm>
          <a:custGeom>
            <a:avLst/>
            <a:gdLst/>
            <a:ahLst/>
            <a:cxnLst/>
            <a:rect l="l" t="t" r="r" b="b"/>
            <a:pathLst>
              <a:path w="11430000" h="5443">
                <a:moveTo>
                  <a:pt x="0" y="0"/>
                </a:moveTo>
                <a:lnTo>
                  <a:pt x="11430000" y="0"/>
                </a:lnTo>
                <a:lnTo>
                  <a:pt x="11430000" y="5443"/>
                </a:lnTo>
                <a:lnTo>
                  <a:pt x="0" y="5443"/>
                </a:lnTo>
                <a:lnTo>
                  <a:pt x="0" y="0"/>
                </a:lnTo>
                <a:close/>
              </a:path>
            </a:pathLst>
          </a:custGeom>
          <a:solidFill>
            <a:srgbClr val="E5E5E5"/>
          </a:solidFill>
          <a:ln/>
        </p:spPr>
        <p:txBody>
          <a:bodyPr/>
          <a:lstStyle/>
          <a:p>
            <a:endParaRPr lang="en-US"/>
          </a:p>
        </p:txBody>
      </p:sp>
      <p:sp>
        <p:nvSpPr>
          <p:cNvPr id="42" name="Shape 40"/>
          <p:cNvSpPr/>
          <p:nvPr/>
        </p:nvSpPr>
        <p:spPr>
          <a:xfrm>
            <a:off x="400050" y="6325621"/>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1D1D1D"/>
          </a:solidFill>
          <a:ln/>
        </p:spPr>
        <p:txBody>
          <a:bodyPr/>
          <a:lstStyle/>
          <a:p>
            <a:endParaRPr lang="en-US"/>
          </a:p>
        </p:txBody>
      </p:sp>
      <p:sp>
        <p:nvSpPr>
          <p:cNvPr id="43" name="Text 41"/>
          <p:cNvSpPr/>
          <p:nvPr/>
        </p:nvSpPr>
        <p:spPr>
          <a:xfrm>
            <a:off x="628650" y="6287521"/>
            <a:ext cx="11258550" cy="457200"/>
          </a:xfrm>
          <a:prstGeom prst="rect">
            <a:avLst/>
          </a:prstGeom>
          <a:noFill/>
          <a:ln/>
        </p:spPr>
        <p:txBody>
          <a:bodyPr wrap="square" lIns="0" tIns="0" rIns="0" bIns="0" rtlCol="0" anchor="ctr"/>
          <a:lstStyle/>
          <a:p>
            <a:pPr>
              <a:lnSpc>
                <a:spcPct val="130000"/>
              </a:lnSpc>
            </a:pPr>
            <a:r>
              <a:rPr lang="en-US" sz="1200" b="1" dirty="0">
                <a:solidFill>
                  <a:srgbClr val="1D1D1D"/>
                </a:solidFill>
                <a:latin typeface="Liter" pitchFamily="34" charset="0"/>
                <a:ea typeface="Liter" pitchFamily="34" charset="-122"/>
                <a:cs typeface="Liter" pitchFamily="34" charset="-120"/>
              </a:rPr>
              <a:t>Complete Statement:</a:t>
            </a:r>
            <a:r>
              <a:rPr lang="en-US" sz="1200" dirty="0">
                <a:solidFill>
                  <a:srgbClr val="86868B"/>
                </a:solidFill>
                <a:latin typeface="Liter" pitchFamily="34" charset="0"/>
                <a:ea typeface="Liter" pitchFamily="34" charset="-122"/>
                <a:cs typeface="Liter" pitchFamily="34" charset="-120"/>
              </a:rPr>
              <a:t> </a:t>
            </a:r>
            <a:r>
              <a:rPr lang="en-US" sz="1200" dirty="0">
                <a:solidFill>
                  <a:schemeClr val="accent5"/>
                </a:solidFill>
                <a:latin typeface="Liter" pitchFamily="34" charset="0"/>
                <a:ea typeface="Liter" pitchFamily="34" charset="-122"/>
                <a:cs typeface="Liter" pitchFamily="34" charset="-120"/>
              </a:rPr>
              <a:t>"Customer churn rate has increased by 25% over the past 6 months, especially in Q4, affecting premium customers in the Northeast region through poor user experience and slow response times in our mobile app and customer service channels, significantly impacting revenue and customer satisfaction."</a:t>
            </a:r>
            <a:endParaRPr lang="en-US" sz="1600" dirty="0">
              <a:solidFill>
                <a:schemeClr val="accent5"/>
              </a:solidFill>
            </a:endParaRP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name="Slide 11">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kern="0" spc="105" dirty="0">
                <a:solidFill>
                  <a:srgbClr val="86868B"/>
                </a:solidFill>
                <a:latin typeface="Liter" pitchFamily="34" charset="0"/>
                <a:ea typeface="Liter" pitchFamily="34" charset="-122"/>
                <a:cs typeface="Liter" pitchFamily="34" charset="-120"/>
              </a:rPr>
              <a:t>EXAMPLES</a:t>
            </a:r>
            <a:endParaRPr lang="en-US" sz="1600" dirty="0"/>
          </a:p>
        </p:txBody>
      </p:sp>
      <p:sp>
        <p:nvSpPr>
          <p:cNvPr id="3" name="Text 1"/>
          <p:cNvSpPr/>
          <p:nvPr/>
        </p:nvSpPr>
        <p:spPr>
          <a:xfrm>
            <a:off x="381000" y="685800"/>
            <a:ext cx="11658600" cy="457200"/>
          </a:xfrm>
          <a:prstGeom prst="rect">
            <a:avLst/>
          </a:prstGeom>
          <a:noFill/>
          <a:ln/>
        </p:spPr>
        <p:txBody>
          <a:bodyPr wrap="square" lIns="0" tIns="0" rIns="0" bIns="0" rtlCol="0" anchor="ctr"/>
          <a:lstStyle/>
          <a:p>
            <a:pPr>
              <a:lnSpc>
                <a:spcPct val="80000"/>
              </a:lnSpc>
            </a:pPr>
            <a:r>
              <a:rPr lang="en-US" sz="3600" b="1" dirty="0">
                <a:solidFill>
                  <a:srgbClr val="1D1D1D"/>
                </a:solidFill>
                <a:latin typeface="Liter" pitchFamily="34" charset="0"/>
                <a:ea typeface="Liter" pitchFamily="34" charset="-122"/>
                <a:cs typeface="Liter" pitchFamily="34" charset="-120"/>
              </a:rPr>
              <a:t>Practical Examples</a:t>
            </a:r>
            <a:endParaRPr lang="en-US" sz="1600" dirty="0"/>
          </a:p>
        </p:txBody>
      </p:sp>
      <p:sp>
        <p:nvSpPr>
          <p:cNvPr id="4" name="Text 2"/>
          <p:cNvSpPr/>
          <p:nvPr/>
        </p:nvSpPr>
        <p:spPr>
          <a:xfrm>
            <a:off x="381000" y="1371600"/>
            <a:ext cx="11515725" cy="276225"/>
          </a:xfrm>
          <a:prstGeom prst="rect">
            <a:avLst/>
          </a:prstGeom>
          <a:noFill/>
          <a:ln/>
        </p:spPr>
        <p:txBody>
          <a:bodyPr wrap="square" lIns="0" tIns="0" rIns="0" bIns="0" rtlCol="0" anchor="ctr"/>
          <a:lstStyle/>
          <a:p>
            <a:pPr>
              <a:lnSpc>
                <a:spcPct val="140000"/>
              </a:lnSpc>
            </a:pPr>
            <a:r>
              <a:rPr lang="en-US" sz="1350" dirty="0">
                <a:solidFill>
                  <a:srgbClr val="86868B"/>
                </a:solidFill>
                <a:latin typeface="Liter" pitchFamily="34" charset="0"/>
                <a:ea typeface="Liter" pitchFamily="34" charset="-122"/>
                <a:cs typeface="Liter" pitchFamily="34" charset="-120"/>
              </a:rPr>
              <a:t>Real-world examples demonstrate how effective case statements incorporate </a:t>
            </a:r>
            <a:r>
              <a:rPr lang="en-US" sz="1350" b="1" dirty="0">
                <a:solidFill>
                  <a:srgbClr val="1D1D1D"/>
                </a:solidFill>
                <a:latin typeface="Liter" pitchFamily="34" charset="0"/>
                <a:ea typeface="Liter" pitchFamily="34" charset="-122"/>
                <a:cs typeface="Liter" pitchFamily="34" charset="-120"/>
              </a:rPr>
              <a:t>specific problems, measurable impacts, and clear context</a:t>
            </a:r>
            <a:r>
              <a:rPr lang="en-US" sz="1350" dirty="0">
                <a:solidFill>
                  <a:srgbClr val="86868B"/>
                </a:solidFill>
                <a:latin typeface="Liter" pitchFamily="34" charset="0"/>
                <a:ea typeface="Liter" pitchFamily="34" charset="-122"/>
                <a:cs typeface="Liter" pitchFamily="34" charset="-120"/>
              </a:rPr>
              <a:t> .</a:t>
            </a:r>
            <a:endParaRPr lang="en-US" sz="1600" dirty="0"/>
          </a:p>
        </p:txBody>
      </p:sp>
      <p:sp>
        <p:nvSpPr>
          <p:cNvPr id="5" name="Shape 3"/>
          <p:cNvSpPr/>
          <p:nvPr/>
        </p:nvSpPr>
        <p:spPr>
          <a:xfrm>
            <a:off x="400050" y="1878806"/>
            <a:ext cx="38100" cy="971550"/>
          </a:xfrm>
          <a:custGeom>
            <a:avLst/>
            <a:gdLst/>
            <a:ahLst/>
            <a:cxnLst/>
            <a:rect l="l" t="t" r="r" b="b"/>
            <a:pathLst>
              <a:path w="38100" h="971550">
                <a:moveTo>
                  <a:pt x="0" y="0"/>
                </a:moveTo>
                <a:lnTo>
                  <a:pt x="38100" y="0"/>
                </a:lnTo>
                <a:lnTo>
                  <a:pt x="38100" y="971550"/>
                </a:lnTo>
                <a:lnTo>
                  <a:pt x="0" y="971550"/>
                </a:lnTo>
                <a:lnTo>
                  <a:pt x="0" y="0"/>
                </a:lnTo>
                <a:close/>
              </a:path>
            </a:pathLst>
          </a:custGeom>
          <a:solidFill>
            <a:srgbClr val="1D1D1D"/>
          </a:solidFill>
          <a:ln/>
        </p:spPr>
        <p:txBody>
          <a:bodyPr/>
          <a:lstStyle/>
          <a:p>
            <a:endParaRPr lang="en-US"/>
          </a:p>
        </p:txBody>
      </p:sp>
      <p:sp>
        <p:nvSpPr>
          <p:cNvPr id="6" name="Shape 4"/>
          <p:cNvSpPr/>
          <p:nvPr/>
        </p:nvSpPr>
        <p:spPr>
          <a:xfrm>
            <a:off x="704850" y="1916906"/>
            <a:ext cx="171450" cy="228600"/>
          </a:xfrm>
          <a:custGeom>
            <a:avLst/>
            <a:gdLst/>
            <a:ahLst/>
            <a:cxnLst/>
            <a:rect l="l" t="t" r="r" b="b"/>
            <a:pathLst>
              <a:path w="171450" h="228600">
                <a:moveTo>
                  <a:pt x="7144" y="28575"/>
                </a:moveTo>
                <a:cubicBezTo>
                  <a:pt x="7144" y="12814"/>
                  <a:pt x="19958" y="0"/>
                  <a:pt x="35719" y="0"/>
                </a:cubicBezTo>
                <a:lnTo>
                  <a:pt x="135731" y="0"/>
                </a:lnTo>
                <a:cubicBezTo>
                  <a:pt x="151492" y="0"/>
                  <a:pt x="164306" y="12814"/>
                  <a:pt x="164306" y="28575"/>
                </a:cubicBezTo>
                <a:lnTo>
                  <a:pt x="164306" y="200025"/>
                </a:lnTo>
                <a:cubicBezTo>
                  <a:pt x="164306" y="215786"/>
                  <a:pt x="151492" y="228600"/>
                  <a:pt x="135731" y="228600"/>
                </a:cubicBezTo>
                <a:lnTo>
                  <a:pt x="35719" y="228600"/>
                </a:lnTo>
                <a:cubicBezTo>
                  <a:pt x="19958" y="228600"/>
                  <a:pt x="7144" y="215786"/>
                  <a:pt x="7144" y="200025"/>
                </a:cubicBezTo>
                <a:lnTo>
                  <a:pt x="7144" y="28575"/>
                </a:lnTo>
                <a:close/>
                <a:moveTo>
                  <a:pt x="35719" y="28575"/>
                </a:moveTo>
                <a:lnTo>
                  <a:pt x="35719" y="164306"/>
                </a:lnTo>
                <a:lnTo>
                  <a:pt x="135731" y="164306"/>
                </a:lnTo>
                <a:lnTo>
                  <a:pt x="135731" y="28575"/>
                </a:lnTo>
                <a:lnTo>
                  <a:pt x="35719" y="28575"/>
                </a:lnTo>
                <a:close/>
                <a:moveTo>
                  <a:pt x="85725" y="210741"/>
                </a:moveTo>
                <a:cubicBezTo>
                  <a:pt x="93628" y="210741"/>
                  <a:pt x="100013" y="204356"/>
                  <a:pt x="100013" y="196453"/>
                </a:cubicBezTo>
                <a:cubicBezTo>
                  <a:pt x="100013" y="188550"/>
                  <a:pt x="93628" y="182166"/>
                  <a:pt x="85725" y="182166"/>
                </a:cubicBezTo>
                <a:cubicBezTo>
                  <a:pt x="77822" y="182166"/>
                  <a:pt x="71438" y="188550"/>
                  <a:pt x="71438" y="196453"/>
                </a:cubicBezTo>
                <a:cubicBezTo>
                  <a:pt x="71438" y="204356"/>
                  <a:pt x="77822" y="210741"/>
                  <a:pt x="85725" y="210741"/>
                </a:cubicBezTo>
                <a:close/>
              </a:path>
            </a:pathLst>
          </a:custGeom>
          <a:solidFill>
            <a:srgbClr val="1D1D1D"/>
          </a:solidFill>
          <a:ln/>
        </p:spPr>
        <p:txBody>
          <a:bodyPr/>
          <a:lstStyle/>
          <a:p>
            <a:endParaRPr lang="en-US"/>
          </a:p>
        </p:txBody>
      </p:sp>
      <p:sp>
        <p:nvSpPr>
          <p:cNvPr id="7" name="Text 5"/>
          <p:cNvSpPr/>
          <p:nvPr/>
        </p:nvSpPr>
        <p:spPr>
          <a:xfrm>
            <a:off x="1047750" y="1878806"/>
            <a:ext cx="1847850" cy="304800"/>
          </a:xfrm>
          <a:prstGeom prst="rect">
            <a:avLst/>
          </a:prstGeom>
          <a:noFill/>
          <a:ln/>
        </p:spPr>
        <p:txBody>
          <a:bodyPr wrap="square" lIns="0" tIns="0" rIns="0" bIns="0" rtlCol="0" anchor="ctr"/>
          <a:lstStyle/>
          <a:p>
            <a:pPr>
              <a:lnSpc>
                <a:spcPct val="110000"/>
              </a:lnSpc>
            </a:pPr>
            <a:r>
              <a:rPr lang="en-US" sz="1800" b="1" dirty="0">
                <a:solidFill>
                  <a:srgbClr val="1D1D1D"/>
                </a:solidFill>
                <a:latin typeface="Liter" pitchFamily="34" charset="0"/>
                <a:ea typeface="Liter" pitchFamily="34" charset="-122"/>
                <a:cs typeface="Liter" pitchFamily="34" charset="-120"/>
              </a:rPr>
              <a:t>Technical Project</a:t>
            </a:r>
            <a:endParaRPr lang="en-US" sz="1600" dirty="0"/>
          </a:p>
        </p:txBody>
      </p:sp>
      <p:sp>
        <p:nvSpPr>
          <p:cNvPr id="8" name="Text 6"/>
          <p:cNvSpPr/>
          <p:nvPr/>
        </p:nvSpPr>
        <p:spPr>
          <a:xfrm>
            <a:off x="647700" y="2297906"/>
            <a:ext cx="11239500" cy="247650"/>
          </a:xfrm>
          <a:prstGeom prst="rect">
            <a:avLst/>
          </a:prstGeom>
          <a:noFill/>
          <a:ln/>
        </p:spPr>
        <p:txBody>
          <a:bodyPr wrap="square" lIns="0" tIns="0" rIns="0" bIns="0" rtlCol="0" anchor="ctr"/>
          <a:lstStyle/>
          <a:p>
            <a:pPr>
              <a:lnSpc>
                <a:spcPct val="140000"/>
              </a:lnSpc>
            </a:pPr>
            <a:r>
              <a:rPr lang="en-US" sz="1200" dirty="0">
                <a:solidFill>
                  <a:srgbClr val="1D1D1D"/>
                </a:solidFill>
                <a:latin typeface="Liter" pitchFamily="34" charset="0"/>
                <a:ea typeface="Liter" pitchFamily="34" charset="-122"/>
                <a:cs typeface="Liter" pitchFamily="34" charset="-120"/>
              </a:rPr>
              <a:t>"The current mobile application experiences a </a:t>
            </a:r>
            <a:r>
              <a:rPr lang="en-US" sz="1200" dirty="0">
                <a:solidFill>
                  <a:srgbClr val="0071E3"/>
                </a:solidFill>
                <a:latin typeface="Liter" pitchFamily="34" charset="0"/>
                <a:ea typeface="Liter" pitchFamily="34" charset="-122"/>
                <a:cs typeface="Liter" pitchFamily="34" charset="-120"/>
              </a:rPr>
              <a:t>30% crash rate</a:t>
            </a:r>
            <a:r>
              <a:rPr lang="en-US" sz="1200" dirty="0">
                <a:solidFill>
                  <a:srgbClr val="1D1D1D"/>
                </a:solidFill>
                <a:latin typeface="Liter" pitchFamily="34" charset="0"/>
                <a:ea typeface="Liter" pitchFamily="34" charset="-122"/>
                <a:cs typeface="Liter" pitchFamily="34" charset="-120"/>
              </a:rPr>
              <a:t> during peak usage hours, </a:t>
            </a:r>
            <a:r>
              <a:rPr lang="en-US" sz="1200" dirty="0">
                <a:solidFill>
                  <a:srgbClr val="0071E3"/>
                </a:solidFill>
                <a:latin typeface="Liter" pitchFamily="34" charset="0"/>
                <a:ea typeface="Liter" pitchFamily="34" charset="-122"/>
                <a:cs typeface="Liter" pitchFamily="34" charset="-120"/>
              </a:rPr>
              <a:t>affecting customer satisfaction and retention</a:t>
            </a:r>
            <a:r>
              <a:rPr lang="en-US" sz="1200" dirty="0">
                <a:solidFill>
                  <a:srgbClr val="1D1D1D"/>
                </a:solidFill>
                <a:latin typeface="Liter" pitchFamily="34" charset="0"/>
                <a:ea typeface="Liter" pitchFamily="34" charset="-122"/>
                <a:cs typeface="Liter" pitchFamily="34" charset="-120"/>
              </a:rPr>
              <a:t> ."</a:t>
            </a:r>
            <a:endParaRPr lang="en-US" sz="1600" dirty="0"/>
          </a:p>
        </p:txBody>
      </p:sp>
      <p:sp>
        <p:nvSpPr>
          <p:cNvPr id="9" name="Text 7"/>
          <p:cNvSpPr/>
          <p:nvPr/>
        </p:nvSpPr>
        <p:spPr>
          <a:xfrm>
            <a:off x="647700" y="2621756"/>
            <a:ext cx="11239500" cy="228600"/>
          </a:xfrm>
          <a:prstGeom prst="rect">
            <a:avLst/>
          </a:prstGeom>
          <a:noFill/>
          <a:ln/>
        </p:spPr>
        <p:txBody>
          <a:bodyPr wrap="square" lIns="0" tIns="0" rIns="0" bIns="0" rtlCol="0" anchor="ctr"/>
          <a:lstStyle/>
          <a:p>
            <a:pPr>
              <a:lnSpc>
                <a:spcPct val="130000"/>
              </a:lnSpc>
            </a:pPr>
            <a:r>
              <a:rPr lang="en-US" sz="1200" b="1" dirty="0">
                <a:solidFill>
                  <a:srgbClr val="86868B"/>
                </a:solidFill>
                <a:latin typeface="Liter" pitchFamily="34" charset="0"/>
                <a:ea typeface="Liter" pitchFamily="34" charset="-122"/>
                <a:cs typeface="Liter" pitchFamily="34" charset="-120"/>
              </a:rPr>
              <a:t>Why it works:</a:t>
            </a:r>
            <a:r>
              <a:rPr lang="en-US" sz="1200" dirty="0">
                <a:solidFill>
                  <a:srgbClr val="86868B"/>
                </a:solidFill>
                <a:latin typeface="Liter" pitchFamily="34" charset="0"/>
                <a:ea typeface="Liter" pitchFamily="34" charset="-122"/>
                <a:cs typeface="Liter" pitchFamily="34" charset="-120"/>
              </a:rPr>
              <a:t> Specific problem (crash rate), measurable aspect (30%), clear impact (satisfaction and retention)</a:t>
            </a:r>
            <a:endParaRPr lang="en-US" sz="1600" dirty="0"/>
          </a:p>
        </p:txBody>
      </p:sp>
      <p:sp>
        <p:nvSpPr>
          <p:cNvPr id="10" name="Shape 8"/>
          <p:cNvSpPr/>
          <p:nvPr/>
        </p:nvSpPr>
        <p:spPr>
          <a:xfrm>
            <a:off x="400050" y="3040856"/>
            <a:ext cx="38100" cy="1219200"/>
          </a:xfrm>
          <a:custGeom>
            <a:avLst/>
            <a:gdLst/>
            <a:ahLst/>
            <a:cxnLst/>
            <a:rect l="l" t="t" r="r" b="b"/>
            <a:pathLst>
              <a:path w="38100" h="1219200">
                <a:moveTo>
                  <a:pt x="0" y="0"/>
                </a:moveTo>
                <a:lnTo>
                  <a:pt x="38100" y="0"/>
                </a:lnTo>
                <a:lnTo>
                  <a:pt x="38100" y="1219200"/>
                </a:lnTo>
                <a:lnTo>
                  <a:pt x="0" y="1219200"/>
                </a:lnTo>
                <a:lnTo>
                  <a:pt x="0" y="0"/>
                </a:lnTo>
                <a:close/>
              </a:path>
            </a:pathLst>
          </a:custGeom>
          <a:solidFill>
            <a:srgbClr val="1D1D1D"/>
          </a:solidFill>
          <a:ln/>
        </p:spPr>
        <p:txBody>
          <a:bodyPr/>
          <a:lstStyle/>
          <a:p>
            <a:endParaRPr lang="en-US"/>
          </a:p>
        </p:txBody>
      </p:sp>
      <p:sp>
        <p:nvSpPr>
          <p:cNvPr id="11" name="Shape 9"/>
          <p:cNvSpPr/>
          <p:nvPr/>
        </p:nvSpPr>
        <p:spPr>
          <a:xfrm>
            <a:off x="661988" y="3078956"/>
            <a:ext cx="257175" cy="228600"/>
          </a:xfrm>
          <a:custGeom>
            <a:avLst/>
            <a:gdLst/>
            <a:ahLst/>
            <a:cxnLst/>
            <a:rect l="l" t="t" r="r" b="b"/>
            <a:pathLst>
              <a:path w="257175" h="228600">
                <a:moveTo>
                  <a:pt x="57150" y="28575"/>
                </a:moveTo>
                <a:cubicBezTo>
                  <a:pt x="57150" y="12814"/>
                  <a:pt x="69964" y="0"/>
                  <a:pt x="85725" y="0"/>
                </a:cubicBezTo>
                <a:lnTo>
                  <a:pt x="171450" y="0"/>
                </a:lnTo>
                <a:cubicBezTo>
                  <a:pt x="187211" y="0"/>
                  <a:pt x="200025" y="12814"/>
                  <a:pt x="200025" y="28575"/>
                </a:cubicBezTo>
                <a:lnTo>
                  <a:pt x="200025" y="57150"/>
                </a:lnTo>
                <a:lnTo>
                  <a:pt x="228600" y="57150"/>
                </a:lnTo>
                <a:cubicBezTo>
                  <a:pt x="244361" y="57150"/>
                  <a:pt x="257175" y="69964"/>
                  <a:pt x="257175" y="85725"/>
                </a:cubicBezTo>
                <a:lnTo>
                  <a:pt x="257175" y="200025"/>
                </a:lnTo>
                <a:cubicBezTo>
                  <a:pt x="257175" y="215786"/>
                  <a:pt x="244361" y="228600"/>
                  <a:pt x="228600" y="228600"/>
                </a:cubicBezTo>
                <a:lnTo>
                  <a:pt x="28575" y="228600"/>
                </a:lnTo>
                <a:cubicBezTo>
                  <a:pt x="12814" y="228600"/>
                  <a:pt x="0" y="215786"/>
                  <a:pt x="0" y="200025"/>
                </a:cubicBezTo>
                <a:lnTo>
                  <a:pt x="0" y="85725"/>
                </a:lnTo>
                <a:cubicBezTo>
                  <a:pt x="0" y="69964"/>
                  <a:pt x="12814" y="57150"/>
                  <a:pt x="28575" y="57150"/>
                </a:cubicBezTo>
                <a:lnTo>
                  <a:pt x="57150" y="57150"/>
                </a:lnTo>
                <a:lnTo>
                  <a:pt x="57150" y="28575"/>
                </a:lnTo>
                <a:close/>
                <a:moveTo>
                  <a:pt x="121444" y="157163"/>
                </a:moveTo>
                <a:cubicBezTo>
                  <a:pt x="113541" y="157163"/>
                  <a:pt x="107156" y="163547"/>
                  <a:pt x="107156" y="171450"/>
                </a:cubicBezTo>
                <a:lnTo>
                  <a:pt x="107156" y="207169"/>
                </a:lnTo>
                <a:lnTo>
                  <a:pt x="150019" y="207169"/>
                </a:lnTo>
                <a:lnTo>
                  <a:pt x="150019" y="171450"/>
                </a:lnTo>
                <a:cubicBezTo>
                  <a:pt x="150019" y="163547"/>
                  <a:pt x="143634" y="157163"/>
                  <a:pt x="135731" y="157163"/>
                </a:cubicBezTo>
                <a:lnTo>
                  <a:pt x="121444" y="157163"/>
                </a:lnTo>
                <a:close/>
                <a:moveTo>
                  <a:pt x="57150" y="164306"/>
                </a:moveTo>
                <a:lnTo>
                  <a:pt x="57150" y="150019"/>
                </a:lnTo>
                <a:cubicBezTo>
                  <a:pt x="57150" y="146090"/>
                  <a:pt x="53935" y="142875"/>
                  <a:pt x="50006" y="142875"/>
                </a:cubicBezTo>
                <a:lnTo>
                  <a:pt x="35719" y="142875"/>
                </a:lnTo>
                <a:cubicBezTo>
                  <a:pt x="31790" y="142875"/>
                  <a:pt x="28575" y="146090"/>
                  <a:pt x="28575" y="150019"/>
                </a:cubicBezTo>
                <a:lnTo>
                  <a:pt x="28575" y="164306"/>
                </a:lnTo>
                <a:cubicBezTo>
                  <a:pt x="28575" y="168235"/>
                  <a:pt x="31790" y="171450"/>
                  <a:pt x="35719" y="171450"/>
                </a:cubicBezTo>
                <a:lnTo>
                  <a:pt x="50006" y="171450"/>
                </a:lnTo>
                <a:cubicBezTo>
                  <a:pt x="53935" y="171450"/>
                  <a:pt x="57150" y="168235"/>
                  <a:pt x="57150" y="164306"/>
                </a:cubicBezTo>
                <a:close/>
                <a:moveTo>
                  <a:pt x="50006" y="114300"/>
                </a:moveTo>
                <a:cubicBezTo>
                  <a:pt x="53935" y="114300"/>
                  <a:pt x="57150" y="111085"/>
                  <a:pt x="57150" y="107156"/>
                </a:cubicBezTo>
                <a:lnTo>
                  <a:pt x="57150" y="92869"/>
                </a:lnTo>
                <a:cubicBezTo>
                  <a:pt x="57150" y="88940"/>
                  <a:pt x="53935" y="85725"/>
                  <a:pt x="50006" y="85725"/>
                </a:cubicBezTo>
                <a:lnTo>
                  <a:pt x="35719" y="85725"/>
                </a:lnTo>
                <a:cubicBezTo>
                  <a:pt x="31790" y="85725"/>
                  <a:pt x="28575" y="88940"/>
                  <a:pt x="28575" y="92869"/>
                </a:cubicBezTo>
                <a:lnTo>
                  <a:pt x="28575" y="107156"/>
                </a:lnTo>
                <a:cubicBezTo>
                  <a:pt x="28575" y="111085"/>
                  <a:pt x="31790" y="114300"/>
                  <a:pt x="35719" y="114300"/>
                </a:cubicBezTo>
                <a:lnTo>
                  <a:pt x="50006" y="114300"/>
                </a:lnTo>
                <a:close/>
                <a:moveTo>
                  <a:pt x="228600" y="164306"/>
                </a:moveTo>
                <a:lnTo>
                  <a:pt x="228600" y="150019"/>
                </a:lnTo>
                <a:cubicBezTo>
                  <a:pt x="228600" y="146090"/>
                  <a:pt x="225385" y="142875"/>
                  <a:pt x="221456" y="142875"/>
                </a:cubicBezTo>
                <a:lnTo>
                  <a:pt x="207169" y="142875"/>
                </a:lnTo>
                <a:cubicBezTo>
                  <a:pt x="203240" y="142875"/>
                  <a:pt x="200025" y="146090"/>
                  <a:pt x="200025" y="150019"/>
                </a:cubicBezTo>
                <a:lnTo>
                  <a:pt x="200025" y="164306"/>
                </a:lnTo>
                <a:cubicBezTo>
                  <a:pt x="200025" y="168235"/>
                  <a:pt x="203240" y="171450"/>
                  <a:pt x="207169" y="171450"/>
                </a:cubicBezTo>
                <a:lnTo>
                  <a:pt x="221456" y="171450"/>
                </a:lnTo>
                <a:cubicBezTo>
                  <a:pt x="225385" y="171450"/>
                  <a:pt x="228600" y="168235"/>
                  <a:pt x="228600" y="164306"/>
                </a:cubicBezTo>
                <a:close/>
                <a:moveTo>
                  <a:pt x="221456" y="114300"/>
                </a:moveTo>
                <a:cubicBezTo>
                  <a:pt x="225385" y="114300"/>
                  <a:pt x="228600" y="111085"/>
                  <a:pt x="228600" y="107156"/>
                </a:cubicBezTo>
                <a:lnTo>
                  <a:pt x="228600" y="92869"/>
                </a:lnTo>
                <a:cubicBezTo>
                  <a:pt x="228600" y="88940"/>
                  <a:pt x="225385" y="85725"/>
                  <a:pt x="221456" y="85725"/>
                </a:cubicBezTo>
                <a:lnTo>
                  <a:pt x="207169" y="85725"/>
                </a:lnTo>
                <a:cubicBezTo>
                  <a:pt x="203240" y="85725"/>
                  <a:pt x="200025" y="88940"/>
                  <a:pt x="200025" y="92869"/>
                </a:cubicBezTo>
                <a:lnTo>
                  <a:pt x="200025" y="107156"/>
                </a:lnTo>
                <a:cubicBezTo>
                  <a:pt x="200025" y="111085"/>
                  <a:pt x="203240" y="114300"/>
                  <a:pt x="207169" y="114300"/>
                </a:cubicBezTo>
                <a:lnTo>
                  <a:pt x="221456" y="114300"/>
                </a:lnTo>
                <a:close/>
                <a:moveTo>
                  <a:pt x="117872" y="46434"/>
                </a:moveTo>
                <a:lnTo>
                  <a:pt x="117872" y="60722"/>
                </a:lnTo>
                <a:lnTo>
                  <a:pt x="103584" y="60722"/>
                </a:lnTo>
                <a:cubicBezTo>
                  <a:pt x="99655" y="60722"/>
                  <a:pt x="96441" y="63937"/>
                  <a:pt x="96441" y="67866"/>
                </a:cubicBezTo>
                <a:lnTo>
                  <a:pt x="96441" y="75009"/>
                </a:lnTo>
                <a:cubicBezTo>
                  <a:pt x="96441" y="78938"/>
                  <a:pt x="99655" y="82153"/>
                  <a:pt x="103584" y="82153"/>
                </a:cubicBezTo>
                <a:lnTo>
                  <a:pt x="117872" y="82153"/>
                </a:lnTo>
                <a:lnTo>
                  <a:pt x="117872" y="96441"/>
                </a:lnTo>
                <a:cubicBezTo>
                  <a:pt x="117872" y="100370"/>
                  <a:pt x="121087" y="103584"/>
                  <a:pt x="125016" y="103584"/>
                </a:cubicBezTo>
                <a:lnTo>
                  <a:pt x="132159" y="103584"/>
                </a:lnTo>
                <a:cubicBezTo>
                  <a:pt x="136088" y="103584"/>
                  <a:pt x="139303" y="100370"/>
                  <a:pt x="139303" y="96441"/>
                </a:cubicBezTo>
                <a:lnTo>
                  <a:pt x="139303" y="82153"/>
                </a:lnTo>
                <a:lnTo>
                  <a:pt x="153591" y="82153"/>
                </a:lnTo>
                <a:cubicBezTo>
                  <a:pt x="157520" y="82153"/>
                  <a:pt x="160734" y="78938"/>
                  <a:pt x="160734" y="75009"/>
                </a:cubicBezTo>
                <a:lnTo>
                  <a:pt x="160734" y="67866"/>
                </a:lnTo>
                <a:cubicBezTo>
                  <a:pt x="160734" y="63937"/>
                  <a:pt x="157520" y="60722"/>
                  <a:pt x="153591" y="60722"/>
                </a:cubicBezTo>
                <a:lnTo>
                  <a:pt x="139303" y="60722"/>
                </a:lnTo>
                <a:lnTo>
                  <a:pt x="139303" y="46434"/>
                </a:lnTo>
                <a:cubicBezTo>
                  <a:pt x="139303" y="42505"/>
                  <a:pt x="136088" y="39291"/>
                  <a:pt x="132159" y="39291"/>
                </a:cubicBezTo>
                <a:lnTo>
                  <a:pt x="125016" y="39291"/>
                </a:lnTo>
                <a:cubicBezTo>
                  <a:pt x="121087" y="39291"/>
                  <a:pt x="117872" y="42505"/>
                  <a:pt x="117872" y="46434"/>
                </a:cubicBezTo>
                <a:close/>
              </a:path>
            </a:pathLst>
          </a:custGeom>
          <a:solidFill>
            <a:srgbClr val="1D1D1D"/>
          </a:solidFill>
          <a:ln/>
        </p:spPr>
        <p:txBody>
          <a:bodyPr/>
          <a:lstStyle/>
          <a:p>
            <a:endParaRPr lang="en-US"/>
          </a:p>
        </p:txBody>
      </p:sp>
      <p:sp>
        <p:nvSpPr>
          <p:cNvPr id="12" name="Text 10"/>
          <p:cNvSpPr/>
          <p:nvPr/>
        </p:nvSpPr>
        <p:spPr>
          <a:xfrm>
            <a:off x="1047750" y="3040856"/>
            <a:ext cx="2066925" cy="304800"/>
          </a:xfrm>
          <a:prstGeom prst="rect">
            <a:avLst/>
          </a:prstGeom>
          <a:noFill/>
          <a:ln/>
        </p:spPr>
        <p:txBody>
          <a:bodyPr wrap="square" lIns="0" tIns="0" rIns="0" bIns="0" rtlCol="0" anchor="ctr"/>
          <a:lstStyle/>
          <a:p>
            <a:pPr>
              <a:lnSpc>
                <a:spcPct val="110000"/>
              </a:lnSpc>
            </a:pPr>
            <a:r>
              <a:rPr lang="en-US" sz="1800" b="1" dirty="0">
                <a:solidFill>
                  <a:srgbClr val="1D1D1D"/>
                </a:solidFill>
                <a:latin typeface="Liter" pitchFamily="34" charset="0"/>
                <a:ea typeface="Liter" pitchFamily="34" charset="-122"/>
                <a:cs typeface="Liter" pitchFamily="34" charset="-120"/>
              </a:rPr>
              <a:t>Healthcare Context</a:t>
            </a:r>
            <a:endParaRPr lang="en-US" sz="1600" dirty="0"/>
          </a:p>
        </p:txBody>
      </p:sp>
      <p:sp>
        <p:nvSpPr>
          <p:cNvPr id="13" name="Text 11"/>
          <p:cNvSpPr/>
          <p:nvPr/>
        </p:nvSpPr>
        <p:spPr>
          <a:xfrm>
            <a:off x="647700" y="3459956"/>
            <a:ext cx="11239500" cy="495300"/>
          </a:xfrm>
          <a:prstGeom prst="rect">
            <a:avLst/>
          </a:prstGeom>
          <a:noFill/>
          <a:ln/>
        </p:spPr>
        <p:txBody>
          <a:bodyPr wrap="square" lIns="0" tIns="0" rIns="0" bIns="0" rtlCol="0" anchor="ctr"/>
          <a:lstStyle/>
          <a:p>
            <a:pPr>
              <a:lnSpc>
                <a:spcPct val="140000"/>
              </a:lnSpc>
            </a:pPr>
            <a:r>
              <a:rPr lang="en-US" sz="1200" dirty="0">
                <a:solidFill>
                  <a:srgbClr val="1D1D1D"/>
                </a:solidFill>
                <a:latin typeface="Liter" pitchFamily="34" charset="0"/>
                <a:ea typeface="Liter" pitchFamily="34" charset="-122"/>
                <a:cs typeface="Liter" pitchFamily="34" charset="-120"/>
              </a:rPr>
              <a:t>" </a:t>
            </a:r>
            <a:r>
              <a:rPr lang="en-US" sz="1200" dirty="0">
                <a:solidFill>
                  <a:srgbClr val="0071E3"/>
                </a:solidFill>
                <a:latin typeface="Liter" pitchFamily="34" charset="0"/>
                <a:ea typeface="Liter" pitchFamily="34" charset="-122"/>
                <a:cs typeface="Liter" pitchFamily="34" charset="-120"/>
              </a:rPr>
              <a:t>Delayed transfer of patient records</a:t>
            </a:r>
            <a:r>
              <a:rPr lang="en-US" sz="1200" dirty="0">
                <a:solidFill>
                  <a:srgbClr val="1D1D1D"/>
                </a:solidFill>
                <a:latin typeface="Liter" pitchFamily="34" charset="0"/>
                <a:ea typeface="Liter" pitchFamily="34" charset="-122"/>
                <a:cs typeface="Liter" pitchFamily="34" charset="-120"/>
              </a:rPr>
              <a:t> between departments </a:t>
            </a:r>
            <a:r>
              <a:rPr lang="en-US" sz="1200" dirty="0">
                <a:solidFill>
                  <a:schemeClr val="accent5"/>
                </a:solidFill>
                <a:latin typeface="Liter" pitchFamily="34" charset="0"/>
                <a:ea typeface="Liter" pitchFamily="34" charset="-122"/>
                <a:cs typeface="Liter" pitchFamily="34" charset="-120"/>
              </a:rPr>
              <a:t>increased</a:t>
            </a:r>
            <a:r>
              <a:rPr lang="en-US" sz="1200" dirty="0">
                <a:solidFill>
                  <a:srgbClr val="1D1D1D"/>
                </a:solidFill>
                <a:latin typeface="Liter" pitchFamily="34" charset="0"/>
                <a:ea typeface="Liter" pitchFamily="34" charset="-122"/>
                <a:cs typeface="Liter" pitchFamily="34" charset="-120"/>
              </a:rPr>
              <a:t> </a:t>
            </a:r>
            <a:r>
              <a:rPr lang="en-US" sz="1200" dirty="0">
                <a:solidFill>
                  <a:schemeClr val="accent5"/>
                </a:solidFill>
                <a:latin typeface="Liter" pitchFamily="34" charset="0"/>
                <a:ea typeface="Liter" pitchFamily="34" charset="-122"/>
                <a:cs typeface="Liter" pitchFamily="34" charset="-120"/>
              </a:rPr>
              <a:t>30 minutes </a:t>
            </a:r>
            <a:r>
              <a:rPr lang="en-US" sz="1200" dirty="0">
                <a:solidFill>
                  <a:srgbClr val="1D1D1D"/>
                </a:solidFill>
                <a:latin typeface="Liter" pitchFamily="34" charset="0"/>
                <a:ea typeface="Liter" pitchFamily="34" charset="-122"/>
                <a:cs typeface="Liter" pitchFamily="34" charset="-120"/>
              </a:rPr>
              <a:t>leads to </a:t>
            </a:r>
            <a:r>
              <a:rPr lang="en-US" sz="1200" dirty="0">
                <a:solidFill>
                  <a:srgbClr val="0071E3"/>
                </a:solidFill>
                <a:latin typeface="Liter" pitchFamily="34" charset="0"/>
                <a:ea typeface="Liter" pitchFamily="34" charset="-122"/>
                <a:cs typeface="Liter" pitchFamily="34" charset="-120"/>
              </a:rPr>
              <a:t>treatment postponement, increased error rates, and patient dissatisfaction</a:t>
            </a:r>
            <a:r>
              <a:rPr lang="en-US" sz="1200" dirty="0">
                <a:solidFill>
                  <a:srgbClr val="1D1D1D"/>
                </a:solidFill>
                <a:latin typeface="Liter" pitchFamily="34" charset="0"/>
                <a:ea typeface="Liter" pitchFamily="34" charset="-122"/>
                <a:cs typeface="Liter" pitchFamily="34" charset="-120"/>
              </a:rPr>
              <a:t> , compromising hospital effectiveness."</a:t>
            </a:r>
            <a:endParaRPr lang="en-US" sz="1600" dirty="0"/>
          </a:p>
        </p:txBody>
      </p:sp>
      <p:sp>
        <p:nvSpPr>
          <p:cNvPr id="14" name="Text 12"/>
          <p:cNvSpPr/>
          <p:nvPr/>
        </p:nvSpPr>
        <p:spPr>
          <a:xfrm>
            <a:off x="647700" y="4031456"/>
            <a:ext cx="11239500" cy="228600"/>
          </a:xfrm>
          <a:prstGeom prst="rect">
            <a:avLst/>
          </a:prstGeom>
          <a:noFill/>
          <a:ln/>
        </p:spPr>
        <p:txBody>
          <a:bodyPr wrap="square" lIns="0" tIns="0" rIns="0" bIns="0" rtlCol="0" anchor="ctr"/>
          <a:lstStyle/>
          <a:p>
            <a:pPr>
              <a:lnSpc>
                <a:spcPct val="130000"/>
              </a:lnSpc>
            </a:pPr>
            <a:r>
              <a:rPr lang="en-US" sz="1200" b="1" dirty="0">
                <a:solidFill>
                  <a:srgbClr val="86868B"/>
                </a:solidFill>
                <a:latin typeface="Liter" pitchFamily="34" charset="0"/>
                <a:ea typeface="Liter" pitchFamily="34" charset="-122"/>
                <a:cs typeface="Liter" pitchFamily="34" charset="-120"/>
              </a:rPr>
              <a:t>Why it works:</a:t>
            </a:r>
            <a:r>
              <a:rPr lang="en-US" sz="1200" dirty="0">
                <a:solidFill>
                  <a:srgbClr val="86868B"/>
                </a:solidFill>
                <a:latin typeface="Liter" pitchFamily="34" charset="0"/>
                <a:ea typeface="Liter" pitchFamily="34" charset="-122"/>
                <a:cs typeface="Liter" pitchFamily="34" charset="-120"/>
              </a:rPr>
              <a:t> Clear problem (delayed transfers), multiple impacts (postponement, errors, dissatisfaction), relevance (hospital effectiveness)</a:t>
            </a:r>
            <a:endParaRPr lang="en-US" sz="1600" dirty="0"/>
          </a:p>
        </p:txBody>
      </p:sp>
      <p:sp>
        <p:nvSpPr>
          <p:cNvPr id="15" name="Shape 13"/>
          <p:cNvSpPr/>
          <p:nvPr/>
        </p:nvSpPr>
        <p:spPr>
          <a:xfrm>
            <a:off x="400050" y="4450556"/>
            <a:ext cx="38100" cy="1219200"/>
          </a:xfrm>
          <a:custGeom>
            <a:avLst/>
            <a:gdLst/>
            <a:ahLst/>
            <a:cxnLst/>
            <a:rect l="l" t="t" r="r" b="b"/>
            <a:pathLst>
              <a:path w="38100" h="1219200">
                <a:moveTo>
                  <a:pt x="0" y="0"/>
                </a:moveTo>
                <a:lnTo>
                  <a:pt x="38100" y="0"/>
                </a:lnTo>
                <a:lnTo>
                  <a:pt x="38100" y="1219200"/>
                </a:lnTo>
                <a:lnTo>
                  <a:pt x="0" y="1219200"/>
                </a:lnTo>
                <a:lnTo>
                  <a:pt x="0" y="0"/>
                </a:lnTo>
                <a:close/>
              </a:path>
            </a:pathLst>
          </a:custGeom>
          <a:solidFill>
            <a:srgbClr val="1D1D1D"/>
          </a:solidFill>
          <a:ln/>
        </p:spPr>
        <p:txBody>
          <a:bodyPr/>
          <a:lstStyle/>
          <a:p>
            <a:endParaRPr lang="en-US"/>
          </a:p>
        </p:txBody>
      </p:sp>
      <p:sp>
        <p:nvSpPr>
          <p:cNvPr id="16" name="Shape 14"/>
          <p:cNvSpPr/>
          <p:nvPr/>
        </p:nvSpPr>
        <p:spPr>
          <a:xfrm>
            <a:off x="676275" y="4488656"/>
            <a:ext cx="228600" cy="228600"/>
          </a:xfrm>
          <a:custGeom>
            <a:avLst/>
            <a:gdLst/>
            <a:ahLst/>
            <a:cxnLst/>
            <a:rect l="l" t="t" r="r" b="b"/>
            <a:pathLst>
              <a:path w="228600" h="228600">
                <a:moveTo>
                  <a:pt x="28575" y="28575"/>
                </a:moveTo>
                <a:cubicBezTo>
                  <a:pt x="28575" y="20672"/>
                  <a:pt x="22190" y="14288"/>
                  <a:pt x="14288" y="14288"/>
                </a:cubicBezTo>
                <a:cubicBezTo>
                  <a:pt x="6385" y="14288"/>
                  <a:pt x="0" y="20672"/>
                  <a:pt x="0" y="28575"/>
                </a:cubicBezTo>
                <a:lnTo>
                  <a:pt x="0" y="178594"/>
                </a:lnTo>
                <a:cubicBezTo>
                  <a:pt x="0" y="198328"/>
                  <a:pt x="15984" y="214313"/>
                  <a:pt x="35719" y="214313"/>
                </a:cubicBezTo>
                <a:lnTo>
                  <a:pt x="214313" y="214313"/>
                </a:lnTo>
                <a:cubicBezTo>
                  <a:pt x="222215" y="214313"/>
                  <a:pt x="228600" y="207928"/>
                  <a:pt x="228600" y="200025"/>
                </a:cubicBezTo>
                <a:cubicBezTo>
                  <a:pt x="228600" y="192122"/>
                  <a:pt x="222215" y="185738"/>
                  <a:pt x="214313" y="185738"/>
                </a:cubicBezTo>
                <a:lnTo>
                  <a:pt x="35719" y="185738"/>
                </a:lnTo>
                <a:cubicBezTo>
                  <a:pt x="31790" y="185738"/>
                  <a:pt x="28575" y="182523"/>
                  <a:pt x="28575" y="178594"/>
                </a:cubicBezTo>
                <a:lnTo>
                  <a:pt x="28575" y="28575"/>
                </a:lnTo>
                <a:close/>
                <a:moveTo>
                  <a:pt x="210116" y="67241"/>
                </a:moveTo>
                <a:cubicBezTo>
                  <a:pt x="215697" y="61659"/>
                  <a:pt x="215697" y="52596"/>
                  <a:pt x="210116" y="47015"/>
                </a:cubicBezTo>
                <a:cubicBezTo>
                  <a:pt x="204534" y="41434"/>
                  <a:pt x="195471" y="41434"/>
                  <a:pt x="189890" y="47015"/>
                </a:cubicBezTo>
                <a:lnTo>
                  <a:pt x="142875" y="94074"/>
                </a:lnTo>
                <a:lnTo>
                  <a:pt x="117247" y="68491"/>
                </a:lnTo>
                <a:cubicBezTo>
                  <a:pt x="111666" y="62910"/>
                  <a:pt x="102602" y="62910"/>
                  <a:pt x="97021" y="68491"/>
                </a:cubicBezTo>
                <a:lnTo>
                  <a:pt x="54159" y="111353"/>
                </a:lnTo>
                <a:cubicBezTo>
                  <a:pt x="48578" y="116934"/>
                  <a:pt x="48578" y="125998"/>
                  <a:pt x="54159" y="131579"/>
                </a:cubicBezTo>
                <a:cubicBezTo>
                  <a:pt x="59740" y="137160"/>
                  <a:pt x="68803" y="137160"/>
                  <a:pt x="74384" y="131579"/>
                </a:cubicBezTo>
                <a:lnTo>
                  <a:pt x="107156" y="98807"/>
                </a:lnTo>
                <a:lnTo>
                  <a:pt x="132784" y="124435"/>
                </a:lnTo>
                <a:cubicBezTo>
                  <a:pt x="138366" y="130016"/>
                  <a:pt x="147429" y="130016"/>
                  <a:pt x="153010" y="124435"/>
                </a:cubicBezTo>
                <a:lnTo>
                  <a:pt x="210160" y="67285"/>
                </a:lnTo>
                <a:close/>
              </a:path>
            </a:pathLst>
          </a:custGeom>
          <a:solidFill>
            <a:srgbClr val="1D1D1D"/>
          </a:solidFill>
          <a:ln/>
        </p:spPr>
        <p:txBody>
          <a:bodyPr/>
          <a:lstStyle/>
          <a:p>
            <a:endParaRPr lang="en-US"/>
          </a:p>
        </p:txBody>
      </p:sp>
      <p:sp>
        <p:nvSpPr>
          <p:cNvPr id="17" name="Text 15"/>
          <p:cNvSpPr/>
          <p:nvPr/>
        </p:nvSpPr>
        <p:spPr>
          <a:xfrm>
            <a:off x="1047750" y="4450556"/>
            <a:ext cx="1952625" cy="304800"/>
          </a:xfrm>
          <a:prstGeom prst="rect">
            <a:avLst/>
          </a:prstGeom>
          <a:noFill/>
          <a:ln/>
        </p:spPr>
        <p:txBody>
          <a:bodyPr wrap="square" lIns="0" tIns="0" rIns="0" bIns="0" rtlCol="0" anchor="ctr"/>
          <a:lstStyle/>
          <a:p>
            <a:pPr>
              <a:lnSpc>
                <a:spcPct val="110000"/>
              </a:lnSpc>
            </a:pPr>
            <a:r>
              <a:rPr lang="en-US" sz="1800" b="1" dirty="0">
                <a:solidFill>
                  <a:srgbClr val="1D1D1D"/>
                </a:solidFill>
                <a:latin typeface="Liter" pitchFamily="34" charset="0"/>
                <a:ea typeface="Liter" pitchFamily="34" charset="-122"/>
                <a:cs typeface="Liter" pitchFamily="34" charset="-120"/>
              </a:rPr>
              <a:t>Business Scenario</a:t>
            </a:r>
            <a:endParaRPr lang="en-US" sz="1600" dirty="0"/>
          </a:p>
        </p:txBody>
      </p:sp>
      <p:sp>
        <p:nvSpPr>
          <p:cNvPr id="18" name="Text 16"/>
          <p:cNvSpPr/>
          <p:nvPr/>
        </p:nvSpPr>
        <p:spPr>
          <a:xfrm>
            <a:off x="647700" y="4869656"/>
            <a:ext cx="11239500" cy="495300"/>
          </a:xfrm>
          <a:prstGeom prst="rect">
            <a:avLst/>
          </a:prstGeom>
          <a:noFill/>
          <a:ln/>
        </p:spPr>
        <p:txBody>
          <a:bodyPr wrap="square" lIns="0" tIns="0" rIns="0" bIns="0" rtlCol="0" anchor="ctr"/>
          <a:lstStyle/>
          <a:p>
            <a:pPr>
              <a:lnSpc>
                <a:spcPct val="140000"/>
              </a:lnSpc>
            </a:pPr>
            <a:r>
              <a:rPr lang="en-US" sz="1200" dirty="0">
                <a:solidFill>
                  <a:srgbClr val="1D1D1D"/>
                </a:solidFill>
                <a:latin typeface="Liter" pitchFamily="34" charset="0"/>
                <a:ea typeface="Liter" pitchFamily="34" charset="-122"/>
                <a:cs typeface="Liter" pitchFamily="34" charset="-120"/>
              </a:rPr>
              <a:t>"Our </a:t>
            </a:r>
            <a:r>
              <a:rPr lang="en-US" sz="1200" dirty="0">
                <a:solidFill>
                  <a:srgbClr val="0071E3"/>
                </a:solidFill>
                <a:latin typeface="Liter" pitchFamily="34" charset="0"/>
                <a:ea typeface="Liter" pitchFamily="34" charset="-122"/>
                <a:cs typeface="Liter" pitchFamily="34" charset="-120"/>
              </a:rPr>
              <a:t>customer churn rate has increased by 25%</a:t>
            </a:r>
            <a:r>
              <a:rPr lang="en-US" sz="1200" dirty="0">
                <a:solidFill>
                  <a:srgbClr val="1D1D1D"/>
                </a:solidFill>
                <a:latin typeface="Liter" pitchFamily="34" charset="0"/>
                <a:ea typeface="Liter" pitchFamily="34" charset="-122"/>
                <a:cs typeface="Liter" pitchFamily="34" charset="-120"/>
              </a:rPr>
              <a:t> over the past 6 months, particularly among </a:t>
            </a:r>
            <a:r>
              <a:rPr lang="en-US" sz="1200" dirty="0">
                <a:solidFill>
                  <a:srgbClr val="0071E3"/>
                </a:solidFill>
                <a:latin typeface="Liter" pitchFamily="34" charset="0"/>
                <a:ea typeface="Liter" pitchFamily="34" charset="-122"/>
                <a:cs typeface="Liter" pitchFamily="34" charset="-120"/>
              </a:rPr>
              <a:t>premium customers in the Northeast region</a:t>
            </a:r>
            <a:r>
              <a:rPr lang="en-US" sz="1200" dirty="0">
                <a:solidFill>
                  <a:srgbClr val="1D1D1D"/>
                </a:solidFill>
                <a:latin typeface="Liter" pitchFamily="34" charset="0"/>
                <a:ea typeface="Liter" pitchFamily="34" charset="-122"/>
                <a:cs typeface="Liter" pitchFamily="34" charset="-120"/>
              </a:rPr>
              <a:t> , resulting in </a:t>
            </a:r>
            <a:r>
              <a:rPr lang="en-US" sz="1200" dirty="0">
                <a:solidFill>
                  <a:srgbClr val="0071E3"/>
                </a:solidFill>
                <a:latin typeface="Liter" pitchFamily="34" charset="0"/>
                <a:ea typeface="Liter" pitchFamily="34" charset="-122"/>
                <a:cs typeface="Liter" pitchFamily="34" charset="-120"/>
              </a:rPr>
              <a:t>$2M in lost revenue</a:t>
            </a:r>
            <a:r>
              <a:rPr lang="en-US" sz="1200" dirty="0">
                <a:solidFill>
                  <a:srgbClr val="1D1D1D"/>
                </a:solidFill>
                <a:latin typeface="Liter" pitchFamily="34" charset="0"/>
                <a:ea typeface="Liter" pitchFamily="34" charset="-122"/>
                <a:cs typeface="Liter" pitchFamily="34" charset="-120"/>
              </a:rPr>
              <a:t> and declining market share."</a:t>
            </a:r>
            <a:endParaRPr lang="en-US" sz="1600" dirty="0"/>
          </a:p>
        </p:txBody>
      </p:sp>
      <p:sp>
        <p:nvSpPr>
          <p:cNvPr id="19" name="Text 17"/>
          <p:cNvSpPr/>
          <p:nvPr/>
        </p:nvSpPr>
        <p:spPr>
          <a:xfrm>
            <a:off x="647700" y="5441156"/>
            <a:ext cx="11239500" cy="228600"/>
          </a:xfrm>
          <a:prstGeom prst="rect">
            <a:avLst/>
          </a:prstGeom>
          <a:noFill/>
          <a:ln/>
        </p:spPr>
        <p:txBody>
          <a:bodyPr wrap="square" lIns="0" tIns="0" rIns="0" bIns="0" rtlCol="0" anchor="ctr"/>
          <a:lstStyle/>
          <a:p>
            <a:pPr>
              <a:lnSpc>
                <a:spcPct val="130000"/>
              </a:lnSpc>
            </a:pPr>
            <a:r>
              <a:rPr lang="en-US" sz="1200" b="1" dirty="0">
                <a:solidFill>
                  <a:srgbClr val="86868B"/>
                </a:solidFill>
                <a:latin typeface="Liter" pitchFamily="34" charset="0"/>
                <a:ea typeface="Liter" pitchFamily="34" charset="-122"/>
                <a:cs typeface="Liter" pitchFamily="34" charset="-120"/>
              </a:rPr>
              <a:t>Why it works:</a:t>
            </a:r>
            <a:r>
              <a:rPr lang="en-US" sz="1200" dirty="0">
                <a:solidFill>
                  <a:srgbClr val="86868B"/>
                </a:solidFill>
                <a:latin typeface="Liter" pitchFamily="34" charset="0"/>
                <a:ea typeface="Liter" pitchFamily="34" charset="-122"/>
                <a:cs typeface="Liter" pitchFamily="34" charset="-120"/>
              </a:rPr>
              <a:t> Measurable problem (25% increase), specific context (premium customers, Northeast), quantified impact ($2M revenue loss)</a:t>
            </a:r>
            <a:endParaRPr lang="en-US" sz="1600" dirty="0"/>
          </a:p>
        </p:txBody>
      </p:sp>
      <p:sp>
        <p:nvSpPr>
          <p:cNvPr id="20" name="Shape 18"/>
          <p:cNvSpPr/>
          <p:nvPr/>
        </p:nvSpPr>
        <p:spPr>
          <a:xfrm>
            <a:off x="381000" y="6055180"/>
            <a:ext cx="11430000" cy="5443"/>
          </a:xfrm>
          <a:custGeom>
            <a:avLst/>
            <a:gdLst/>
            <a:ahLst/>
            <a:cxnLst/>
            <a:rect l="l" t="t" r="r" b="b"/>
            <a:pathLst>
              <a:path w="11430000" h="5443">
                <a:moveTo>
                  <a:pt x="0" y="0"/>
                </a:moveTo>
                <a:lnTo>
                  <a:pt x="11430000" y="0"/>
                </a:lnTo>
                <a:lnTo>
                  <a:pt x="11430000" y="5443"/>
                </a:lnTo>
                <a:lnTo>
                  <a:pt x="0" y="5443"/>
                </a:lnTo>
                <a:lnTo>
                  <a:pt x="0" y="0"/>
                </a:lnTo>
                <a:close/>
              </a:path>
            </a:pathLst>
          </a:custGeom>
          <a:solidFill>
            <a:srgbClr val="E5E5E5"/>
          </a:solidFill>
          <a:ln/>
        </p:spPr>
        <p:txBody>
          <a:bodyPr/>
          <a:lstStyle/>
          <a:p>
            <a:endParaRPr lang="en-US"/>
          </a:p>
        </p:txBody>
      </p:sp>
      <p:sp>
        <p:nvSpPr>
          <p:cNvPr id="21" name="Shape 19"/>
          <p:cNvSpPr/>
          <p:nvPr/>
        </p:nvSpPr>
        <p:spPr>
          <a:xfrm>
            <a:off x="419100" y="6286500"/>
            <a:ext cx="114300" cy="152400"/>
          </a:xfrm>
          <a:custGeom>
            <a:avLst/>
            <a:gdLst/>
            <a:ahLst/>
            <a:cxnLst/>
            <a:rect l="l" t="t" r="r" b="b"/>
            <a:pathLst>
              <a:path w="114300" h="152400">
                <a:moveTo>
                  <a:pt x="87184" y="114300"/>
                </a:moveTo>
                <a:cubicBezTo>
                  <a:pt x="89356" y="107662"/>
                  <a:pt x="93702" y="101650"/>
                  <a:pt x="98614" y="96470"/>
                </a:cubicBezTo>
                <a:cubicBezTo>
                  <a:pt x="108347" y="86231"/>
                  <a:pt x="114300" y="72390"/>
                  <a:pt x="114300" y="57150"/>
                </a:cubicBezTo>
                <a:cubicBezTo>
                  <a:pt x="114300" y="25598"/>
                  <a:pt x="88702" y="0"/>
                  <a:pt x="57150" y="0"/>
                </a:cubicBezTo>
                <a:cubicBezTo>
                  <a:pt x="25598" y="0"/>
                  <a:pt x="0" y="25598"/>
                  <a:pt x="0" y="57150"/>
                </a:cubicBezTo>
                <a:cubicBezTo>
                  <a:pt x="0" y="72390"/>
                  <a:pt x="5953" y="86231"/>
                  <a:pt x="15686" y="96470"/>
                </a:cubicBezTo>
                <a:cubicBezTo>
                  <a:pt x="20598" y="101650"/>
                  <a:pt x="24973" y="107662"/>
                  <a:pt x="27116" y="114300"/>
                </a:cubicBezTo>
                <a:lnTo>
                  <a:pt x="87154" y="114300"/>
                </a:lnTo>
                <a:close/>
                <a:moveTo>
                  <a:pt x="85725" y="128588"/>
                </a:moveTo>
                <a:lnTo>
                  <a:pt x="28575" y="128588"/>
                </a:lnTo>
                <a:lnTo>
                  <a:pt x="28575" y="133350"/>
                </a:lnTo>
                <a:cubicBezTo>
                  <a:pt x="28575" y="146506"/>
                  <a:pt x="39231" y="157163"/>
                  <a:pt x="52388" y="157163"/>
                </a:cubicBezTo>
                <a:lnTo>
                  <a:pt x="61912" y="157163"/>
                </a:lnTo>
                <a:cubicBezTo>
                  <a:pt x="75069" y="157163"/>
                  <a:pt x="85725" y="146506"/>
                  <a:pt x="85725" y="133350"/>
                </a:cubicBezTo>
                <a:lnTo>
                  <a:pt x="85725" y="128588"/>
                </a:lnTo>
                <a:close/>
                <a:moveTo>
                  <a:pt x="54769" y="33338"/>
                </a:moveTo>
                <a:cubicBezTo>
                  <a:pt x="42922" y="33338"/>
                  <a:pt x="33338" y="42922"/>
                  <a:pt x="33338" y="54769"/>
                </a:cubicBezTo>
                <a:cubicBezTo>
                  <a:pt x="33338" y="58728"/>
                  <a:pt x="30153" y="61912"/>
                  <a:pt x="26194" y="61912"/>
                </a:cubicBezTo>
                <a:cubicBezTo>
                  <a:pt x="22235" y="61912"/>
                  <a:pt x="19050" y="58728"/>
                  <a:pt x="19050" y="54769"/>
                </a:cubicBezTo>
                <a:cubicBezTo>
                  <a:pt x="19050" y="35034"/>
                  <a:pt x="35034" y="19050"/>
                  <a:pt x="54769" y="19050"/>
                </a:cubicBezTo>
                <a:cubicBezTo>
                  <a:pt x="58728" y="19050"/>
                  <a:pt x="61912" y="22235"/>
                  <a:pt x="61912" y="26194"/>
                </a:cubicBezTo>
                <a:cubicBezTo>
                  <a:pt x="61912" y="30153"/>
                  <a:pt x="58728" y="33338"/>
                  <a:pt x="54769" y="33338"/>
                </a:cubicBezTo>
                <a:close/>
              </a:path>
            </a:pathLst>
          </a:custGeom>
          <a:solidFill>
            <a:srgbClr val="1D1D1D"/>
          </a:solidFill>
          <a:ln/>
        </p:spPr>
        <p:txBody>
          <a:bodyPr/>
          <a:lstStyle/>
          <a:p>
            <a:endParaRPr lang="en-US"/>
          </a:p>
        </p:txBody>
      </p:sp>
      <p:sp>
        <p:nvSpPr>
          <p:cNvPr id="22" name="Text 20"/>
          <p:cNvSpPr/>
          <p:nvPr/>
        </p:nvSpPr>
        <p:spPr>
          <a:xfrm>
            <a:off x="628650" y="6248400"/>
            <a:ext cx="11258550" cy="228600"/>
          </a:xfrm>
          <a:prstGeom prst="rect">
            <a:avLst/>
          </a:prstGeom>
          <a:noFill/>
          <a:ln/>
        </p:spPr>
        <p:txBody>
          <a:bodyPr wrap="square" lIns="0" tIns="0" rIns="0" bIns="0" rtlCol="0" anchor="ctr"/>
          <a:lstStyle/>
          <a:p>
            <a:pPr>
              <a:lnSpc>
                <a:spcPct val="130000"/>
              </a:lnSpc>
            </a:pPr>
            <a:r>
              <a:rPr lang="en-US" sz="1200" b="1" dirty="0">
                <a:solidFill>
                  <a:srgbClr val="1D1D1D"/>
                </a:solidFill>
                <a:latin typeface="Liter" pitchFamily="34" charset="0"/>
                <a:ea typeface="Liter" pitchFamily="34" charset="-122"/>
                <a:cs typeface="Liter" pitchFamily="34" charset="-120"/>
              </a:rPr>
              <a:t>Pattern Recognition:</a:t>
            </a:r>
            <a:r>
              <a:rPr lang="en-US" sz="1200" dirty="0">
                <a:solidFill>
                  <a:srgbClr val="86868B"/>
                </a:solidFill>
                <a:latin typeface="Liter" pitchFamily="34" charset="0"/>
                <a:ea typeface="Liter" pitchFamily="34" charset="-122"/>
                <a:cs typeface="Liter" pitchFamily="34" charset="-120"/>
              </a:rPr>
              <a:t> </a:t>
            </a:r>
            <a:r>
              <a:rPr lang="en-US" sz="1200" dirty="0">
                <a:solidFill>
                  <a:schemeClr val="accent5"/>
                </a:solidFill>
                <a:latin typeface="Liter" pitchFamily="34" charset="0"/>
                <a:ea typeface="Liter" pitchFamily="34" charset="-122"/>
                <a:cs typeface="Liter" pitchFamily="34" charset="-120"/>
              </a:rPr>
              <a:t>Notice how each example includes specific details, measurable data, and clear impact statements</a:t>
            </a:r>
            <a:r>
              <a:rPr lang="en-US" sz="1200" dirty="0">
                <a:solidFill>
                  <a:srgbClr val="86868B"/>
                </a:solidFill>
                <a:latin typeface="Liter" pitchFamily="34" charset="0"/>
                <a:ea typeface="Liter" pitchFamily="34" charset="-122"/>
                <a:cs typeface="Liter" pitchFamily="34" charset="-120"/>
              </a:rPr>
              <a:t>.</a:t>
            </a:r>
            <a:endParaRPr lang="en-US" sz="1600"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a:extLst>
            <a:ext uri="{FF2B5EF4-FFF2-40B4-BE49-F238E27FC236}">
              <a16:creationId xmlns:a16="http://schemas.microsoft.com/office/drawing/2014/main" id="{89011ACA-04EB-9000-FF4E-52B2F2AF963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608D6BF-D444-7EA8-B3C1-2C90456A6586}"/>
              </a:ext>
            </a:extLst>
          </p:cNvPr>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kern="0" spc="105" dirty="0">
                <a:solidFill>
                  <a:srgbClr val="86868B"/>
                </a:solidFill>
                <a:latin typeface="Liter" pitchFamily="34" charset="0"/>
                <a:ea typeface="Liter" pitchFamily="34" charset="-122"/>
                <a:cs typeface="Liter" pitchFamily="34" charset="-120"/>
              </a:rPr>
              <a:t>QUALITY</a:t>
            </a:r>
            <a:endParaRPr lang="en-US" sz="1600" dirty="0"/>
          </a:p>
        </p:txBody>
      </p:sp>
      <p:sp>
        <p:nvSpPr>
          <p:cNvPr id="3" name="Text 1">
            <a:extLst>
              <a:ext uri="{FF2B5EF4-FFF2-40B4-BE49-F238E27FC236}">
                <a16:creationId xmlns:a16="http://schemas.microsoft.com/office/drawing/2014/main" id="{21EC74F0-30CA-97CB-523B-CD787F93B8E5}"/>
              </a:ext>
            </a:extLst>
          </p:cNvPr>
          <p:cNvSpPr/>
          <p:nvPr/>
        </p:nvSpPr>
        <p:spPr>
          <a:xfrm>
            <a:off x="381000" y="685800"/>
            <a:ext cx="11658600" cy="457200"/>
          </a:xfrm>
          <a:prstGeom prst="rect">
            <a:avLst/>
          </a:prstGeom>
          <a:noFill/>
          <a:ln/>
        </p:spPr>
        <p:txBody>
          <a:bodyPr wrap="square" lIns="0" tIns="0" rIns="0" bIns="0" rtlCol="0" anchor="ctr"/>
          <a:lstStyle/>
          <a:p>
            <a:pPr>
              <a:lnSpc>
                <a:spcPct val="80000"/>
              </a:lnSpc>
            </a:pPr>
            <a:r>
              <a:rPr lang="en-US" sz="3600" b="1" dirty="0">
                <a:solidFill>
                  <a:srgbClr val="1D1D1D"/>
                </a:solidFill>
                <a:latin typeface="Liter" pitchFamily="34" charset="0"/>
                <a:ea typeface="Liter" pitchFamily="34" charset="-122"/>
                <a:cs typeface="Liter" pitchFamily="34" charset="-120"/>
              </a:rPr>
              <a:t>What Makes a Good Case Statement?</a:t>
            </a:r>
            <a:endParaRPr lang="en-US" sz="1600" dirty="0"/>
          </a:p>
        </p:txBody>
      </p:sp>
      <p:sp>
        <p:nvSpPr>
          <p:cNvPr id="4" name="Text 2">
            <a:extLst>
              <a:ext uri="{FF2B5EF4-FFF2-40B4-BE49-F238E27FC236}">
                <a16:creationId xmlns:a16="http://schemas.microsoft.com/office/drawing/2014/main" id="{8185C59D-840D-90FB-315A-901A21231267}"/>
              </a:ext>
            </a:extLst>
          </p:cNvPr>
          <p:cNvSpPr/>
          <p:nvPr/>
        </p:nvSpPr>
        <p:spPr>
          <a:xfrm>
            <a:off x="381000" y="1371600"/>
            <a:ext cx="11515725" cy="276225"/>
          </a:xfrm>
          <a:prstGeom prst="rect">
            <a:avLst/>
          </a:prstGeom>
          <a:noFill/>
          <a:ln/>
        </p:spPr>
        <p:txBody>
          <a:bodyPr wrap="square" lIns="0" tIns="0" rIns="0" bIns="0" rtlCol="0" anchor="ctr"/>
          <a:lstStyle/>
          <a:p>
            <a:pPr>
              <a:lnSpc>
                <a:spcPct val="140000"/>
              </a:lnSpc>
            </a:pPr>
            <a:r>
              <a:rPr lang="en-US" sz="1350" dirty="0">
                <a:solidFill>
                  <a:srgbClr val="86868B"/>
                </a:solidFill>
                <a:latin typeface="Liter" pitchFamily="34" charset="0"/>
                <a:ea typeface="Liter" pitchFamily="34" charset="-122"/>
                <a:cs typeface="Liter" pitchFamily="34" charset="-120"/>
              </a:rPr>
              <a:t>An effective case statement possesses </a:t>
            </a:r>
            <a:r>
              <a:rPr lang="en-US" sz="1350" b="1" dirty="0">
                <a:solidFill>
                  <a:srgbClr val="1D1D1D"/>
                </a:solidFill>
                <a:latin typeface="Liter" pitchFamily="34" charset="0"/>
                <a:ea typeface="Liter" pitchFamily="34" charset="-122"/>
                <a:cs typeface="Liter" pitchFamily="34" charset="-120"/>
              </a:rPr>
              <a:t>SMART </a:t>
            </a:r>
            <a:r>
              <a:rPr lang="en-US" sz="1350" dirty="0">
                <a:solidFill>
                  <a:srgbClr val="86868B"/>
                </a:solidFill>
                <a:latin typeface="Liter" pitchFamily="34" charset="0"/>
                <a:ea typeface="Liter" pitchFamily="34" charset="-122"/>
                <a:cs typeface="Liter" pitchFamily="34" charset="-120"/>
              </a:rPr>
              <a:t>to ensure clarity, relevance, and actionability.</a:t>
            </a:r>
            <a:endParaRPr lang="en-US" sz="1600" dirty="0"/>
          </a:p>
        </p:txBody>
      </p:sp>
      <p:sp>
        <p:nvSpPr>
          <p:cNvPr id="5" name="Shape 3">
            <a:extLst>
              <a:ext uri="{FF2B5EF4-FFF2-40B4-BE49-F238E27FC236}">
                <a16:creationId xmlns:a16="http://schemas.microsoft.com/office/drawing/2014/main" id="{C622ABB9-C55F-904F-F832-EA58F8BF8FC1}"/>
              </a:ext>
            </a:extLst>
          </p:cNvPr>
          <p:cNvSpPr/>
          <p:nvPr/>
        </p:nvSpPr>
        <p:spPr>
          <a:xfrm>
            <a:off x="383721" y="1881528"/>
            <a:ext cx="3682093" cy="1872343"/>
          </a:xfrm>
          <a:custGeom>
            <a:avLst/>
            <a:gdLst/>
            <a:ahLst/>
            <a:cxnLst/>
            <a:rect l="l" t="t" r="r" b="b"/>
            <a:pathLst>
              <a:path w="3682093" h="1872343">
                <a:moveTo>
                  <a:pt x="76204" y="0"/>
                </a:moveTo>
                <a:lnTo>
                  <a:pt x="3605889" y="0"/>
                </a:lnTo>
                <a:cubicBezTo>
                  <a:pt x="3647975" y="0"/>
                  <a:pt x="3682093" y="34118"/>
                  <a:pt x="3682093" y="76204"/>
                </a:cubicBezTo>
                <a:lnTo>
                  <a:pt x="3682093" y="1796139"/>
                </a:lnTo>
                <a:cubicBezTo>
                  <a:pt x="3682093" y="1838225"/>
                  <a:pt x="3647975" y="1872343"/>
                  <a:pt x="3605889" y="1872343"/>
                </a:cubicBezTo>
                <a:lnTo>
                  <a:pt x="76204" y="1872343"/>
                </a:lnTo>
                <a:cubicBezTo>
                  <a:pt x="34118" y="1872343"/>
                  <a:pt x="0" y="1838225"/>
                  <a:pt x="0" y="1796139"/>
                </a:cubicBezTo>
                <a:lnTo>
                  <a:pt x="0" y="76204"/>
                </a:lnTo>
                <a:cubicBezTo>
                  <a:pt x="0" y="34146"/>
                  <a:pt x="34146" y="0"/>
                  <a:pt x="76204" y="0"/>
                </a:cubicBezTo>
                <a:close/>
              </a:path>
            </a:pathLst>
          </a:custGeom>
          <a:solidFill>
            <a:srgbClr val="000000">
              <a:alpha val="0"/>
            </a:srgbClr>
          </a:solidFill>
          <a:ln w="7257">
            <a:solidFill>
              <a:srgbClr val="E5E5E5"/>
            </a:solidFill>
            <a:prstDash val="solid"/>
          </a:ln>
        </p:spPr>
        <p:txBody>
          <a:bodyPr/>
          <a:lstStyle/>
          <a:p>
            <a:endParaRPr lang="en-US"/>
          </a:p>
        </p:txBody>
      </p:sp>
      <p:sp>
        <p:nvSpPr>
          <p:cNvPr id="6" name="Shape 4">
            <a:extLst>
              <a:ext uri="{FF2B5EF4-FFF2-40B4-BE49-F238E27FC236}">
                <a16:creationId xmlns:a16="http://schemas.microsoft.com/office/drawing/2014/main" id="{7A2A4FF8-DAA1-DDAD-C3B5-1DC100A1FAAF}"/>
              </a:ext>
            </a:extLst>
          </p:cNvPr>
          <p:cNvSpPr/>
          <p:nvPr/>
        </p:nvSpPr>
        <p:spPr>
          <a:xfrm>
            <a:off x="591230" y="2093798"/>
            <a:ext cx="257175" cy="228600"/>
          </a:xfrm>
          <a:custGeom>
            <a:avLst/>
            <a:gdLst/>
            <a:ahLst/>
            <a:cxnLst/>
            <a:rect l="l" t="t" r="r" b="b"/>
            <a:pathLst>
              <a:path w="257175" h="228600">
                <a:moveTo>
                  <a:pt x="128588" y="14288"/>
                </a:moveTo>
                <a:cubicBezTo>
                  <a:pt x="92512" y="14288"/>
                  <a:pt x="63624" y="30718"/>
                  <a:pt x="42595" y="50274"/>
                </a:cubicBezTo>
                <a:cubicBezTo>
                  <a:pt x="21699" y="69696"/>
                  <a:pt x="7724" y="92869"/>
                  <a:pt x="1072" y="108808"/>
                </a:cubicBezTo>
                <a:cubicBezTo>
                  <a:pt x="-402" y="112335"/>
                  <a:pt x="-402" y="116265"/>
                  <a:pt x="1072" y="119792"/>
                </a:cubicBezTo>
                <a:cubicBezTo>
                  <a:pt x="7724" y="135731"/>
                  <a:pt x="21699" y="158948"/>
                  <a:pt x="42595" y="178326"/>
                </a:cubicBezTo>
                <a:cubicBezTo>
                  <a:pt x="63624" y="197837"/>
                  <a:pt x="92512" y="214313"/>
                  <a:pt x="128588" y="214313"/>
                </a:cubicBezTo>
                <a:cubicBezTo>
                  <a:pt x="164663" y="214313"/>
                  <a:pt x="193551" y="197882"/>
                  <a:pt x="214580" y="178326"/>
                </a:cubicBezTo>
                <a:cubicBezTo>
                  <a:pt x="235476" y="158904"/>
                  <a:pt x="249451" y="135731"/>
                  <a:pt x="256103" y="119792"/>
                </a:cubicBezTo>
                <a:cubicBezTo>
                  <a:pt x="257577" y="116265"/>
                  <a:pt x="257577" y="112335"/>
                  <a:pt x="256103" y="108808"/>
                </a:cubicBezTo>
                <a:cubicBezTo>
                  <a:pt x="249451" y="92869"/>
                  <a:pt x="235476" y="69652"/>
                  <a:pt x="214580" y="50274"/>
                </a:cubicBezTo>
                <a:cubicBezTo>
                  <a:pt x="193551" y="30763"/>
                  <a:pt x="164663" y="14287"/>
                  <a:pt x="128588" y="14287"/>
                </a:cubicBezTo>
                <a:close/>
                <a:moveTo>
                  <a:pt x="64294" y="114300"/>
                </a:moveTo>
                <a:cubicBezTo>
                  <a:pt x="64294" y="78815"/>
                  <a:pt x="93103" y="50006"/>
                  <a:pt x="128588" y="50006"/>
                </a:cubicBezTo>
                <a:cubicBezTo>
                  <a:pt x="164072" y="50006"/>
                  <a:pt x="192881" y="78815"/>
                  <a:pt x="192881" y="114300"/>
                </a:cubicBezTo>
                <a:cubicBezTo>
                  <a:pt x="192881" y="149785"/>
                  <a:pt x="164072" y="178594"/>
                  <a:pt x="128588" y="178594"/>
                </a:cubicBezTo>
                <a:cubicBezTo>
                  <a:pt x="93103" y="178594"/>
                  <a:pt x="64294" y="149785"/>
                  <a:pt x="64294" y="114300"/>
                </a:cubicBezTo>
                <a:close/>
                <a:moveTo>
                  <a:pt x="128588" y="85725"/>
                </a:moveTo>
                <a:cubicBezTo>
                  <a:pt x="128588" y="101486"/>
                  <a:pt x="115773" y="114300"/>
                  <a:pt x="100013" y="114300"/>
                </a:cubicBezTo>
                <a:cubicBezTo>
                  <a:pt x="94878" y="114300"/>
                  <a:pt x="90056" y="112961"/>
                  <a:pt x="85859" y="110550"/>
                </a:cubicBezTo>
                <a:cubicBezTo>
                  <a:pt x="85412" y="115416"/>
                  <a:pt x="85814" y="120417"/>
                  <a:pt x="87154" y="125373"/>
                </a:cubicBezTo>
                <a:cubicBezTo>
                  <a:pt x="93271" y="148233"/>
                  <a:pt x="116800" y="161806"/>
                  <a:pt x="139660" y="155689"/>
                </a:cubicBezTo>
                <a:cubicBezTo>
                  <a:pt x="162520" y="149572"/>
                  <a:pt x="176093" y="126043"/>
                  <a:pt x="169977" y="103183"/>
                </a:cubicBezTo>
                <a:cubicBezTo>
                  <a:pt x="164529" y="82778"/>
                  <a:pt x="145197" y="69786"/>
                  <a:pt x="124837" y="71571"/>
                </a:cubicBezTo>
                <a:cubicBezTo>
                  <a:pt x="127203" y="75724"/>
                  <a:pt x="128588" y="80546"/>
                  <a:pt x="128588" y="85725"/>
                </a:cubicBezTo>
                <a:close/>
              </a:path>
            </a:pathLst>
          </a:custGeom>
          <a:solidFill>
            <a:srgbClr val="1D1D1D"/>
          </a:solidFill>
          <a:ln/>
        </p:spPr>
        <p:txBody>
          <a:bodyPr/>
          <a:lstStyle/>
          <a:p>
            <a:endParaRPr lang="en-US"/>
          </a:p>
        </p:txBody>
      </p:sp>
      <p:sp>
        <p:nvSpPr>
          <p:cNvPr id="7" name="Text 5">
            <a:extLst>
              <a:ext uri="{FF2B5EF4-FFF2-40B4-BE49-F238E27FC236}">
                <a16:creationId xmlns:a16="http://schemas.microsoft.com/office/drawing/2014/main" id="{80F70D17-FD0F-EAB0-20D9-465E2E4F70AB}"/>
              </a:ext>
            </a:extLst>
          </p:cNvPr>
          <p:cNvSpPr/>
          <p:nvPr/>
        </p:nvSpPr>
        <p:spPr>
          <a:xfrm>
            <a:off x="976993" y="2074748"/>
            <a:ext cx="1447800" cy="266700"/>
          </a:xfrm>
          <a:prstGeom prst="rect">
            <a:avLst/>
          </a:prstGeom>
          <a:noFill/>
          <a:ln/>
        </p:spPr>
        <p:txBody>
          <a:bodyPr wrap="square" lIns="0" tIns="0" rIns="0" bIns="0" rtlCol="0" anchor="ctr"/>
          <a:lstStyle/>
          <a:p>
            <a:pPr>
              <a:lnSpc>
                <a:spcPct val="120000"/>
              </a:lnSpc>
            </a:pPr>
            <a:r>
              <a:rPr lang="en-US" sz="1500" b="1" dirty="0">
                <a:solidFill>
                  <a:srgbClr val="1D1D1D"/>
                </a:solidFill>
                <a:latin typeface="Liter" pitchFamily="34" charset="0"/>
                <a:ea typeface="Liter" pitchFamily="34" charset="-122"/>
                <a:cs typeface="Liter" pitchFamily="34" charset="-120"/>
              </a:rPr>
              <a:t>Specific</a:t>
            </a:r>
            <a:endParaRPr lang="en-US" sz="1600" dirty="0"/>
          </a:p>
        </p:txBody>
      </p:sp>
      <p:sp>
        <p:nvSpPr>
          <p:cNvPr id="8" name="Text 6">
            <a:extLst>
              <a:ext uri="{FF2B5EF4-FFF2-40B4-BE49-F238E27FC236}">
                <a16:creationId xmlns:a16="http://schemas.microsoft.com/office/drawing/2014/main" id="{B96F82B7-C930-B251-E252-A42236743E42}"/>
              </a:ext>
            </a:extLst>
          </p:cNvPr>
          <p:cNvSpPr/>
          <p:nvPr/>
        </p:nvSpPr>
        <p:spPr>
          <a:xfrm>
            <a:off x="576943" y="2455748"/>
            <a:ext cx="3371850" cy="742950"/>
          </a:xfrm>
          <a:prstGeom prst="rect">
            <a:avLst/>
          </a:prstGeom>
          <a:noFill/>
          <a:ln/>
        </p:spPr>
        <p:txBody>
          <a:bodyPr wrap="square" lIns="0" tIns="0" rIns="0" bIns="0" rtlCol="0" anchor="ctr"/>
          <a:lstStyle/>
          <a:p>
            <a:pPr>
              <a:lnSpc>
                <a:spcPct val="140000"/>
              </a:lnSpc>
            </a:pPr>
            <a:r>
              <a:rPr lang="en-US" sz="1200" dirty="0">
                <a:solidFill>
                  <a:srgbClr val="86868B"/>
                </a:solidFill>
                <a:latin typeface="Liter" pitchFamily="34" charset="0"/>
                <a:ea typeface="Liter" pitchFamily="34" charset="-122"/>
                <a:cs typeface="Liter" pitchFamily="34" charset="-120"/>
              </a:rPr>
              <a:t>Avoids vague or broad language. Specificity ensures everyone has the same understanding, preventing misalignment.</a:t>
            </a:r>
            <a:endParaRPr lang="en-US" sz="1600" dirty="0"/>
          </a:p>
        </p:txBody>
      </p:sp>
      <p:sp>
        <p:nvSpPr>
          <p:cNvPr id="9" name="Shape 7">
            <a:extLst>
              <a:ext uri="{FF2B5EF4-FFF2-40B4-BE49-F238E27FC236}">
                <a16:creationId xmlns:a16="http://schemas.microsoft.com/office/drawing/2014/main" id="{99E9DADA-B573-E1EB-6B7D-29BD9D461CF2}"/>
              </a:ext>
            </a:extLst>
          </p:cNvPr>
          <p:cNvSpPr/>
          <p:nvPr/>
        </p:nvSpPr>
        <p:spPr>
          <a:xfrm>
            <a:off x="4257165" y="1881528"/>
            <a:ext cx="3682093" cy="1872343"/>
          </a:xfrm>
          <a:custGeom>
            <a:avLst/>
            <a:gdLst/>
            <a:ahLst/>
            <a:cxnLst/>
            <a:rect l="l" t="t" r="r" b="b"/>
            <a:pathLst>
              <a:path w="3682093" h="1872343">
                <a:moveTo>
                  <a:pt x="76204" y="0"/>
                </a:moveTo>
                <a:lnTo>
                  <a:pt x="3605889" y="0"/>
                </a:lnTo>
                <a:cubicBezTo>
                  <a:pt x="3647975" y="0"/>
                  <a:pt x="3682093" y="34118"/>
                  <a:pt x="3682093" y="76204"/>
                </a:cubicBezTo>
                <a:lnTo>
                  <a:pt x="3682093" y="1796139"/>
                </a:lnTo>
                <a:cubicBezTo>
                  <a:pt x="3682093" y="1838225"/>
                  <a:pt x="3647975" y="1872343"/>
                  <a:pt x="3605889" y="1872343"/>
                </a:cubicBezTo>
                <a:lnTo>
                  <a:pt x="76204" y="1872343"/>
                </a:lnTo>
                <a:cubicBezTo>
                  <a:pt x="34118" y="1872343"/>
                  <a:pt x="0" y="1838225"/>
                  <a:pt x="0" y="1796139"/>
                </a:cubicBezTo>
                <a:lnTo>
                  <a:pt x="0" y="76204"/>
                </a:lnTo>
                <a:cubicBezTo>
                  <a:pt x="0" y="34146"/>
                  <a:pt x="34146" y="0"/>
                  <a:pt x="76204" y="0"/>
                </a:cubicBezTo>
                <a:close/>
              </a:path>
            </a:pathLst>
          </a:custGeom>
          <a:solidFill>
            <a:srgbClr val="000000">
              <a:alpha val="0"/>
            </a:srgbClr>
          </a:solidFill>
          <a:ln w="7257">
            <a:solidFill>
              <a:srgbClr val="E5E5E5"/>
            </a:solidFill>
            <a:prstDash val="solid"/>
          </a:ln>
        </p:spPr>
        <p:txBody>
          <a:bodyPr/>
          <a:lstStyle/>
          <a:p>
            <a:endParaRPr lang="en-US"/>
          </a:p>
        </p:txBody>
      </p:sp>
      <p:sp>
        <p:nvSpPr>
          <p:cNvPr id="11" name="Text 9">
            <a:extLst>
              <a:ext uri="{FF2B5EF4-FFF2-40B4-BE49-F238E27FC236}">
                <a16:creationId xmlns:a16="http://schemas.microsoft.com/office/drawing/2014/main" id="{ACB08F9B-1277-41CC-ED72-14C88D17AEAA}"/>
              </a:ext>
            </a:extLst>
          </p:cNvPr>
          <p:cNvSpPr/>
          <p:nvPr/>
        </p:nvSpPr>
        <p:spPr>
          <a:xfrm>
            <a:off x="4850436" y="2074748"/>
            <a:ext cx="1943100" cy="266700"/>
          </a:xfrm>
          <a:prstGeom prst="rect">
            <a:avLst/>
          </a:prstGeom>
          <a:noFill/>
          <a:ln/>
        </p:spPr>
        <p:txBody>
          <a:bodyPr wrap="square" lIns="0" tIns="0" rIns="0" bIns="0" rtlCol="0" anchor="ctr"/>
          <a:lstStyle/>
          <a:p>
            <a:pPr>
              <a:lnSpc>
                <a:spcPct val="120000"/>
              </a:lnSpc>
            </a:pPr>
            <a:r>
              <a:rPr lang="en-US" sz="1500" b="1" dirty="0">
                <a:solidFill>
                  <a:srgbClr val="1D1D1D"/>
                </a:solidFill>
                <a:latin typeface="Liter" pitchFamily="34" charset="0"/>
                <a:ea typeface="Liter" pitchFamily="34" charset="-122"/>
                <a:cs typeface="Liter" pitchFamily="34" charset="-120"/>
              </a:rPr>
              <a:t>Measurable</a:t>
            </a:r>
            <a:endParaRPr lang="en-US" sz="1600" dirty="0"/>
          </a:p>
        </p:txBody>
      </p:sp>
      <p:sp>
        <p:nvSpPr>
          <p:cNvPr id="12" name="Text 10">
            <a:extLst>
              <a:ext uri="{FF2B5EF4-FFF2-40B4-BE49-F238E27FC236}">
                <a16:creationId xmlns:a16="http://schemas.microsoft.com/office/drawing/2014/main" id="{45C0A351-7DBF-F4B7-3E0F-E17C71A7C66A}"/>
              </a:ext>
            </a:extLst>
          </p:cNvPr>
          <p:cNvSpPr/>
          <p:nvPr/>
        </p:nvSpPr>
        <p:spPr>
          <a:xfrm>
            <a:off x="4450386" y="2455748"/>
            <a:ext cx="3371850" cy="742950"/>
          </a:xfrm>
          <a:prstGeom prst="rect">
            <a:avLst/>
          </a:prstGeom>
          <a:noFill/>
          <a:ln/>
        </p:spPr>
        <p:txBody>
          <a:bodyPr wrap="square" lIns="0" tIns="0" rIns="0" bIns="0" rtlCol="0" anchor="ctr"/>
          <a:lstStyle/>
          <a:p>
            <a:pPr>
              <a:lnSpc>
                <a:spcPct val="140000"/>
              </a:lnSpc>
            </a:pPr>
            <a:r>
              <a:rPr lang="en-US" sz="1200" dirty="0">
                <a:solidFill>
                  <a:srgbClr val="86868B"/>
                </a:solidFill>
                <a:latin typeface="Liter" pitchFamily="34" charset="0"/>
                <a:ea typeface="Liter" pitchFamily="34" charset="-122"/>
                <a:cs typeface="Liter" pitchFamily="34" charset="-120"/>
              </a:rPr>
              <a:t>Includes quantifiable aspects. Measurable problems allow you to track progress and demonstrate impact.</a:t>
            </a:r>
            <a:endParaRPr lang="en-US" sz="1600" dirty="0"/>
          </a:p>
        </p:txBody>
      </p:sp>
      <p:sp>
        <p:nvSpPr>
          <p:cNvPr id="13" name="Shape 11">
            <a:extLst>
              <a:ext uri="{FF2B5EF4-FFF2-40B4-BE49-F238E27FC236}">
                <a16:creationId xmlns:a16="http://schemas.microsoft.com/office/drawing/2014/main" id="{95B35559-7568-4471-A506-67D05B59B8EF}"/>
              </a:ext>
            </a:extLst>
          </p:cNvPr>
          <p:cNvSpPr/>
          <p:nvPr/>
        </p:nvSpPr>
        <p:spPr>
          <a:xfrm>
            <a:off x="8130693" y="1881528"/>
            <a:ext cx="3682093" cy="1872343"/>
          </a:xfrm>
          <a:custGeom>
            <a:avLst/>
            <a:gdLst/>
            <a:ahLst/>
            <a:cxnLst/>
            <a:rect l="l" t="t" r="r" b="b"/>
            <a:pathLst>
              <a:path w="3682093" h="1872343">
                <a:moveTo>
                  <a:pt x="76204" y="0"/>
                </a:moveTo>
                <a:lnTo>
                  <a:pt x="3605889" y="0"/>
                </a:lnTo>
                <a:cubicBezTo>
                  <a:pt x="3647975" y="0"/>
                  <a:pt x="3682093" y="34118"/>
                  <a:pt x="3682093" y="76204"/>
                </a:cubicBezTo>
                <a:lnTo>
                  <a:pt x="3682093" y="1796139"/>
                </a:lnTo>
                <a:cubicBezTo>
                  <a:pt x="3682093" y="1838225"/>
                  <a:pt x="3647975" y="1872343"/>
                  <a:pt x="3605889" y="1872343"/>
                </a:cubicBezTo>
                <a:lnTo>
                  <a:pt x="76204" y="1872343"/>
                </a:lnTo>
                <a:cubicBezTo>
                  <a:pt x="34118" y="1872343"/>
                  <a:pt x="0" y="1838225"/>
                  <a:pt x="0" y="1796139"/>
                </a:cubicBezTo>
                <a:lnTo>
                  <a:pt x="0" y="76204"/>
                </a:lnTo>
                <a:cubicBezTo>
                  <a:pt x="0" y="34146"/>
                  <a:pt x="34146" y="0"/>
                  <a:pt x="76204" y="0"/>
                </a:cubicBezTo>
                <a:close/>
              </a:path>
            </a:pathLst>
          </a:custGeom>
          <a:solidFill>
            <a:srgbClr val="000000">
              <a:alpha val="0"/>
            </a:srgbClr>
          </a:solidFill>
          <a:ln w="7257">
            <a:solidFill>
              <a:srgbClr val="E5E5E5"/>
            </a:solidFill>
            <a:prstDash val="solid"/>
          </a:ln>
        </p:spPr>
        <p:txBody>
          <a:bodyPr/>
          <a:lstStyle/>
          <a:p>
            <a:endParaRPr lang="en-US"/>
          </a:p>
        </p:txBody>
      </p:sp>
      <p:sp>
        <p:nvSpPr>
          <p:cNvPr id="15" name="Text 13">
            <a:extLst>
              <a:ext uri="{FF2B5EF4-FFF2-40B4-BE49-F238E27FC236}">
                <a16:creationId xmlns:a16="http://schemas.microsoft.com/office/drawing/2014/main" id="{B9E0C0D6-96ED-73D1-1CC4-378BA508A6A0}"/>
              </a:ext>
            </a:extLst>
          </p:cNvPr>
          <p:cNvSpPr/>
          <p:nvPr/>
        </p:nvSpPr>
        <p:spPr>
          <a:xfrm>
            <a:off x="8723965" y="2074748"/>
            <a:ext cx="1085850" cy="266700"/>
          </a:xfrm>
          <a:prstGeom prst="rect">
            <a:avLst/>
          </a:prstGeom>
          <a:noFill/>
          <a:ln/>
        </p:spPr>
        <p:txBody>
          <a:bodyPr wrap="square" lIns="0" tIns="0" rIns="0" bIns="0" rtlCol="0" anchor="ctr"/>
          <a:lstStyle/>
          <a:p>
            <a:pPr>
              <a:lnSpc>
                <a:spcPct val="120000"/>
              </a:lnSpc>
            </a:pPr>
            <a:r>
              <a:rPr lang="en-US" sz="1500" b="1" dirty="0">
                <a:solidFill>
                  <a:srgbClr val="1D1D1D"/>
                </a:solidFill>
                <a:latin typeface="Liter" pitchFamily="34" charset="0"/>
                <a:ea typeface="Liter" pitchFamily="34" charset="-122"/>
                <a:cs typeface="Liter" pitchFamily="34" charset="-120"/>
              </a:rPr>
              <a:t>Achievable</a:t>
            </a:r>
            <a:endParaRPr lang="en-US" sz="1600" dirty="0"/>
          </a:p>
        </p:txBody>
      </p:sp>
      <p:sp>
        <p:nvSpPr>
          <p:cNvPr id="16" name="Text 14">
            <a:extLst>
              <a:ext uri="{FF2B5EF4-FFF2-40B4-BE49-F238E27FC236}">
                <a16:creationId xmlns:a16="http://schemas.microsoft.com/office/drawing/2014/main" id="{E3771574-2E6D-FF40-A360-889E12DE98B3}"/>
              </a:ext>
            </a:extLst>
          </p:cNvPr>
          <p:cNvSpPr/>
          <p:nvPr/>
        </p:nvSpPr>
        <p:spPr>
          <a:xfrm>
            <a:off x="8323915" y="2322398"/>
            <a:ext cx="3371850" cy="988561"/>
          </a:xfrm>
          <a:prstGeom prst="rect">
            <a:avLst/>
          </a:prstGeom>
          <a:noFill/>
          <a:ln/>
        </p:spPr>
        <p:txBody>
          <a:bodyPr wrap="square" lIns="0" tIns="0" rIns="0" bIns="0" rtlCol="0" anchor="ctr"/>
          <a:lstStyle/>
          <a:p>
            <a:pPr>
              <a:lnSpc>
                <a:spcPct val="140000"/>
              </a:lnSpc>
            </a:pPr>
            <a:r>
              <a:rPr lang="en-US" sz="1200" dirty="0">
                <a:solidFill>
                  <a:srgbClr val="86868B"/>
                </a:solidFill>
                <a:latin typeface="Liter" pitchFamily="34" charset="0"/>
              </a:rPr>
              <a:t>Consider available time, skills, and resources, ensuring the target can realistically be accomplished without overextending capabilities.</a:t>
            </a:r>
          </a:p>
        </p:txBody>
      </p:sp>
      <p:sp>
        <p:nvSpPr>
          <p:cNvPr id="17" name="Shape 15">
            <a:extLst>
              <a:ext uri="{FF2B5EF4-FFF2-40B4-BE49-F238E27FC236}">
                <a16:creationId xmlns:a16="http://schemas.microsoft.com/office/drawing/2014/main" id="{BAB079FF-CCB5-3A20-B0F4-A240834A80D6}"/>
              </a:ext>
            </a:extLst>
          </p:cNvPr>
          <p:cNvSpPr/>
          <p:nvPr/>
        </p:nvSpPr>
        <p:spPr>
          <a:xfrm>
            <a:off x="383721" y="3949304"/>
            <a:ext cx="3682093" cy="1872343"/>
          </a:xfrm>
          <a:custGeom>
            <a:avLst/>
            <a:gdLst/>
            <a:ahLst/>
            <a:cxnLst/>
            <a:rect l="l" t="t" r="r" b="b"/>
            <a:pathLst>
              <a:path w="3682093" h="1872343">
                <a:moveTo>
                  <a:pt x="76204" y="0"/>
                </a:moveTo>
                <a:lnTo>
                  <a:pt x="3605889" y="0"/>
                </a:lnTo>
                <a:cubicBezTo>
                  <a:pt x="3647975" y="0"/>
                  <a:pt x="3682093" y="34118"/>
                  <a:pt x="3682093" y="76204"/>
                </a:cubicBezTo>
                <a:lnTo>
                  <a:pt x="3682093" y="1796139"/>
                </a:lnTo>
                <a:cubicBezTo>
                  <a:pt x="3682093" y="1838225"/>
                  <a:pt x="3647975" y="1872343"/>
                  <a:pt x="3605889" y="1872343"/>
                </a:cubicBezTo>
                <a:lnTo>
                  <a:pt x="76204" y="1872343"/>
                </a:lnTo>
                <a:cubicBezTo>
                  <a:pt x="34118" y="1872343"/>
                  <a:pt x="0" y="1838225"/>
                  <a:pt x="0" y="1796139"/>
                </a:cubicBezTo>
                <a:lnTo>
                  <a:pt x="0" y="76204"/>
                </a:lnTo>
                <a:cubicBezTo>
                  <a:pt x="0" y="34146"/>
                  <a:pt x="34146" y="0"/>
                  <a:pt x="76204" y="0"/>
                </a:cubicBezTo>
                <a:close/>
              </a:path>
            </a:pathLst>
          </a:custGeom>
          <a:solidFill>
            <a:srgbClr val="000000">
              <a:alpha val="0"/>
            </a:srgbClr>
          </a:solidFill>
          <a:ln w="7257">
            <a:solidFill>
              <a:srgbClr val="E5E5E5"/>
            </a:solidFill>
            <a:prstDash val="solid"/>
          </a:ln>
        </p:spPr>
        <p:txBody>
          <a:bodyPr/>
          <a:lstStyle/>
          <a:p>
            <a:endParaRPr lang="en-US"/>
          </a:p>
        </p:txBody>
      </p:sp>
      <p:sp>
        <p:nvSpPr>
          <p:cNvPr id="18" name="Shape 16">
            <a:extLst>
              <a:ext uri="{FF2B5EF4-FFF2-40B4-BE49-F238E27FC236}">
                <a16:creationId xmlns:a16="http://schemas.microsoft.com/office/drawing/2014/main" id="{E2AF521E-C4AD-A6BD-4028-E337810E8848}"/>
              </a:ext>
            </a:extLst>
          </p:cNvPr>
          <p:cNvSpPr/>
          <p:nvPr/>
        </p:nvSpPr>
        <p:spPr>
          <a:xfrm>
            <a:off x="619805" y="4161574"/>
            <a:ext cx="200025" cy="228600"/>
          </a:xfrm>
          <a:custGeom>
            <a:avLst/>
            <a:gdLst/>
            <a:ahLst/>
            <a:cxnLst/>
            <a:rect l="l" t="t" r="r" b="b"/>
            <a:pathLst>
              <a:path w="200025" h="228600">
                <a:moveTo>
                  <a:pt x="57150" y="17859"/>
                </a:moveTo>
                <a:cubicBezTo>
                  <a:pt x="57150" y="7992"/>
                  <a:pt x="65142" y="0"/>
                  <a:pt x="75009" y="0"/>
                </a:cubicBezTo>
                <a:cubicBezTo>
                  <a:pt x="84877" y="0"/>
                  <a:pt x="92869" y="7992"/>
                  <a:pt x="92869" y="17859"/>
                </a:cubicBezTo>
                <a:lnTo>
                  <a:pt x="92869" y="84028"/>
                </a:lnTo>
                <a:cubicBezTo>
                  <a:pt x="96664" y="80635"/>
                  <a:pt x="101664" y="78581"/>
                  <a:pt x="107156" y="78581"/>
                </a:cubicBezTo>
                <a:cubicBezTo>
                  <a:pt x="116354" y="78581"/>
                  <a:pt x="124212" y="84386"/>
                  <a:pt x="127248" y="92512"/>
                </a:cubicBezTo>
                <a:cubicBezTo>
                  <a:pt x="131177" y="88359"/>
                  <a:pt x="136714" y="85725"/>
                  <a:pt x="142875" y="85725"/>
                </a:cubicBezTo>
                <a:cubicBezTo>
                  <a:pt x="154171" y="85725"/>
                  <a:pt x="163413" y="94431"/>
                  <a:pt x="164262" y="105504"/>
                </a:cubicBezTo>
                <a:cubicBezTo>
                  <a:pt x="168057" y="102066"/>
                  <a:pt x="173102" y="100013"/>
                  <a:pt x="178594" y="100013"/>
                </a:cubicBezTo>
                <a:cubicBezTo>
                  <a:pt x="190426" y="100013"/>
                  <a:pt x="200025" y="109612"/>
                  <a:pt x="200025" y="121444"/>
                </a:cubicBezTo>
                <a:lnTo>
                  <a:pt x="200025" y="171450"/>
                </a:lnTo>
                <a:cubicBezTo>
                  <a:pt x="200025" y="203016"/>
                  <a:pt x="174441" y="228600"/>
                  <a:pt x="142875" y="228600"/>
                </a:cubicBezTo>
                <a:lnTo>
                  <a:pt x="104790" y="228600"/>
                </a:lnTo>
                <a:cubicBezTo>
                  <a:pt x="102557" y="228600"/>
                  <a:pt x="100370" y="228466"/>
                  <a:pt x="98227" y="228154"/>
                </a:cubicBezTo>
                <a:cubicBezTo>
                  <a:pt x="73536" y="225653"/>
                  <a:pt x="50810" y="212973"/>
                  <a:pt x="35719" y="192881"/>
                </a:cubicBezTo>
                <a:lnTo>
                  <a:pt x="3572" y="150019"/>
                </a:lnTo>
                <a:cubicBezTo>
                  <a:pt x="-2366" y="142116"/>
                  <a:pt x="-759" y="130954"/>
                  <a:pt x="7144" y="125016"/>
                </a:cubicBezTo>
                <a:cubicBezTo>
                  <a:pt x="15047" y="119077"/>
                  <a:pt x="26209" y="120685"/>
                  <a:pt x="32147" y="128588"/>
                </a:cubicBezTo>
                <a:lnTo>
                  <a:pt x="57150" y="161940"/>
                </a:lnTo>
                <a:lnTo>
                  <a:pt x="57150" y="17859"/>
                </a:lnTo>
                <a:close/>
                <a:moveTo>
                  <a:pt x="107156" y="135731"/>
                </a:moveTo>
                <a:cubicBezTo>
                  <a:pt x="107156" y="131802"/>
                  <a:pt x="103942" y="128588"/>
                  <a:pt x="100013" y="128588"/>
                </a:cubicBezTo>
                <a:cubicBezTo>
                  <a:pt x="96083" y="128588"/>
                  <a:pt x="92869" y="131802"/>
                  <a:pt x="92869" y="135731"/>
                </a:cubicBezTo>
                <a:lnTo>
                  <a:pt x="92869" y="178594"/>
                </a:lnTo>
                <a:cubicBezTo>
                  <a:pt x="92869" y="182523"/>
                  <a:pt x="96083" y="185738"/>
                  <a:pt x="100013" y="185738"/>
                </a:cubicBezTo>
                <a:cubicBezTo>
                  <a:pt x="103942" y="185738"/>
                  <a:pt x="107156" y="182523"/>
                  <a:pt x="107156" y="178594"/>
                </a:cubicBezTo>
                <a:lnTo>
                  <a:pt x="107156" y="135731"/>
                </a:lnTo>
                <a:close/>
                <a:moveTo>
                  <a:pt x="128588" y="128588"/>
                </a:moveTo>
                <a:cubicBezTo>
                  <a:pt x="124658" y="128588"/>
                  <a:pt x="121444" y="131802"/>
                  <a:pt x="121444" y="135731"/>
                </a:cubicBezTo>
                <a:lnTo>
                  <a:pt x="121444" y="178594"/>
                </a:lnTo>
                <a:cubicBezTo>
                  <a:pt x="121444" y="182523"/>
                  <a:pt x="124658" y="185738"/>
                  <a:pt x="128588" y="185738"/>
                </a:cubicBezTo>
                <a:cubicBezTo>
                  <a:pt x="132517" y="185738"/>
                  <a:pt x="135731" y="182523"/>
                  <a:pt x="135731" y="178594"/>
                </a:cubicBezTo>
                <a:lnTo>
                  <a:pt x="135731" y="135731"/>
                </a:lnTo>
                <a:cubicBezTo>
                  <a:pt x="135731" y="131802"/>
                  <a:pt x="132517" y="128588"/>
                  <a:pt x="128588" y="128588"/>
                </a:cubicBezTo>
                <a:close/>
                <a:moveTo>
                  <a:pt x="164306" y="135731"/>
                </a:moveTo>
                <a:cubicBezTo>
                  <a:pt x="164306" y="131802"/>
                  <a:pt x="161092" y="128588"/>
                  <a:pt x="157163" y="128588"/>
                </a:cubicBezTo>
                <a:cubicBezTo>
                  <a:pt x="153233" y="128588"/>
                  <a:pt x="150019" y="131802"/>
                  <a:pt x="150019" y="135731"/>
                </a:cubicBezTo>
                <a:lnTo>
                  <a:pt x="150019" y="178594"/>
                </a:lnTo>
                <a:cubicBezTo>
                  <a:pt x="150019" y="182523"/>
                  <a:pt x="153233" y="185738"/>
                  <a:pt x="157163" y="185738"/>
                </a:cubicBezTo>
                <a:cubicBezTo>
                  <a:pt x="161092" y="185738"/>
                  <a:pt x="164306" y="182523"/>
                  <a:pt x="164306" y="178594"/>
                </a:cubicBezTo>
                <a:lnTo>
                  <a:pt x="164306" y="135731"/>
                </a:lnTo>
                <a:close/>
              </a:path>
            </a:pathLst>
          </a:custGeom>
          <a:solidFill>
            <a:srgbClr val="1D1D1D"/>
          </a:solidFill>
          <a:ln/>
        </p:spPr>
        <p:txBody>
          <a:bodyPr/>
          <a:lstStyle/>
          <a:p>
            <a:endParaRPr lang="en-US"/>
          </a:p>
        </p:txBody>
      </p:sp>
      <p:sp>
        <p:nvSpPr>
          <p:cNvPr id="19" name="Text 17">
            <a:extLst>
              <a:ext uri="{FF2B5EF4-FFF2-40B4-BE49-F238E27FC236}">
                <a16:creationId xmlns:a16="http://schemas.microsoft.com/office/drawing/2014/main" id="{47BD6F25-1D28-E3C0-4A14-56D809BCD67D}"/>
              </a:ext>
            </a:extLst>
          </p:cNvPr>
          <p:cNvSpPr/>
          <p:nvPr/>
        </p:nvSpPr>
        <p:spPr>
          <a:xfrm>
            <a:off x="976993" y="4142524"/>
            <a:ext cx="1000125" cy="266700"/>
          </a:xfrm>
          <a:prstGeom prst="rect">
            <a:avLst/>
          </a:prstGeom>
          <a:noFill/>
          <a:ln/>
        </p:spPr>
        <p:txBody>
          <a:bodyPr wrap="square" lIns="0" tIns="0" rIns="0" bIns="0" rtlCol="0" anchor="ctr"/>
          <a:lstStyle/>
          <a:p>
            <a:pPr>
              <a:lnSpc>
                <a:spcPct val="120000"/>
              </a:lnSpc>
            </a:pPr>
            <a:r>
              <a:rPr lang="en-US" sz="1500" b="1" dirty="0">
                <a:solidFill>
                  <a:srgbClr val="1D1D1D"/>
                </a:solidFill>
                <a:latin typeface="Liter" pitchFamily="34" charset="0"/>
              </a:rPr>
              <a:t>Relevan</a:t>
            </a:r>
            <a:r>
              <a:rPr lang="en-US" sz="1600" dirty="0"/>
              <a:t>t</a:t>
            </a:r>
          </a:p>
        </p:txBody>
      </p:sp>
      <p:sp>
        <p:nvSpPr>
          <p:cNvPr id="20" name="Text 18">
            <a:extLst>
              <a:ext uri="{FF2B5EF4-FFF2-40B4-BE49-F238E27FC236}">
                <a16:creationId xmlns:a16="http://schemas.microsoft.com/office/drawing/2014/main" id="{A088A8E3-750E-8D0A-6335-208C6B442E95}"/>
              </a:ext>
            </a:extLst>
          </p:cNvPr>
          <p:cNvSpPr/>
          <p:nvPr/>
        </p:nvSpPr>
        <p:spPr>
          <a:xfrm>
            <a:off x="576943" y="4523524"/>
            <a:ext cx="3371850" cy="742950"/>
          </a:xfrm>
          <a:prstGeom prst="rect">
            <a:avLst/>
          </a:prstGeom>
          <a:noFill/>
          <a:ln/>
        </p:spPr>
        <p:txBody>
          <a:bodyPr wrap="square" lIns="0" tIns="0" rIns="0" bIns="0" rtlCol="0" anchor="ctr"/>
          <a:lstStyle/>
          <a:p>
            <a:pPr>
              <a:lnSpc>
                <a:spcPct val="140000"/>
              </a:lnSpc>
            </a:pPr>
            <a:r>
              <a:rPr lang="en-US" sz="1200" dirty="0">
                <a:solidFill>
                  <a:srgbClr val="86868B"/>
                </a:solidFill>
                <a:latin typeface="Liter" pitchFamily="34" charset="0"/>
                <a:ea typeface="Liter" pitchFamily="34" charset="-122"/>
                <a:cs typeface="Liter" pitchFamily="34" charset="-120"/>
              </a:rPr>
              <a:t>Addresses a problem that matters to stakeholders. Significance encourages investment and justifies resources.</a:t>
            </a:r>
            <a:endParaRPr lang="en-US" sz="1600" dirty="0"/>
          </a:p>
        </p:txBody>
      </p:sp>
      <p:sp>
        <p:nvSpPr>
          <p:cNvPr id="21" name="Shape 19">
            <a:extLst>
              <a:ext uri="{FF2B5EF4-FFF2-40B4-BE49-F238E27FC236}">
                <a16:creationId xmlns:a16="http://schemas.microsoft.com/office/drawing/2014/main" id="{C1EE94AB-4A0C-A5B9-4AB8-EFEBEE75682C}"/>
              </a:ext>
            </a:extLst>
          </p:cNvPr>
          <p:cNvSpPr/>
          <p:nvPr/>
        </p:nvSpPr>
        <p:spPr>
          <a:xfrm>
            <a:off x="4257165" y="3949304"/>
            <a:ext cx="3682093" cy="1872343"/>
          </a:xfrm>
          <a:custGeom>
            <a:avLst/>
            <a:gdLst/>
            <a:ahLst/>
            <a:cxnLst/>
            <a:rect l="l" t="t" r="r" b="b"/>
            <a:pathLst>
              <a:path w="3682093" h="1872343">
                <a:moveTo>
                  <a:pt x="76204" y="0"/>
                </a:moveTo>
                <a:lnTo>
                  <a:pt x="3605889" y="0"/>
                </a:lnTo>
                <a:cubicBezTo>
                  <a:pt x="3647975" y="0"/>
                  <a:pt x="3682093" y="34118"/>
                  <a:pt x="3682093" y="76204"/>
                </a:cubicBezTo>
                <a:lnTo>
                  <a:pt x="3682093" y="1796139"/>
                </a:lnTo>
                <a:cubicBezTo>
                  <a:pt x="3682093" y="1838225"/>
                  <a:pt x="3647975" y="1872343"/>
                  <a:pt x="3605889" y="1872343"/>
                </a:cubicBezTo>
                <a:lnTo>
                  <a:pt x="76204" y="1872343"/>
                </a:lnTo>
                <a:cubicBezTo>
                  <a:pt x="34118" y="1872343"/>
                  <a:pt x="0" y="1838225"/>
                  <a:pt x="0" y="1796139"/>
                </a:cubicBezTo>
                <a:lnTo>
                  <a:pt x="0" y="76204"/>
                </a:lnTo>
                <a:cubicBezTo>
                  <a:pt x="0" y="34146"/>
                  <a:pt x="34146" y="0"/>
                  <a:pt x="76204" y="0"/>
                </a:cubicBezTo>
                <a:close/>
              </a:path>
            </a:pathLst>
          </a:custGeom>
          <a:solidFill>
            <a:srgbClr val="000000">
              <a:alpha val="0"/>
            </a:srgbClr>
          </a:solidFill>
          <a:ln w="7257">
            <a:solidFill>
              <a:srgbClr val="E5E5E5"/>
            </a:solidFill>
            <a:prstDash val="solid"/>
          </a:ln>
        </p:spPr>
        <p:txBody>
          <a:bodyPr/>
          <a:lstStyle/>
          <a:p>
            <a:endParaRPr lang="en-US"/>
          </a:p>
        </p:txBody>
      </p:sp>
      <p:sp>
        <p:nvSpPr>
          <p:cNvPr id="22" name="Shape 20">
            <a:extLst>
              <a:ext uri="{FF2B5EF4-FFF2-40B4-BE49-F238E27FC236}">
                <a16:creationId xmlns:a16="http://schemas.microsoft.com/office/drawing/2014/main" id="{60537D47-5824-3FC2-CE2B-2C88B07A558A}"/>
              </a:ext>
            </a:extLst>
          </p:cNvPr>
          <p:cNvSpPr/>
          <p:nvPr/>
        </p:nvSpPr>
        <p:spPr>
          <a:xfrm>
            <a:off x="4493249" y="4161574"/>
            <a:ext cx="200025" cy="228600"/>
          </a:xfrm>
          <a:custGeom>
            <a:avLst/>
            <a:gdLst/>
            <a:ahLst/>
            <a:cxnLst/>
            <a:rect l="l" t="t" r="r" b="b"/>
            <a:pathLst>
              <a:path w="200025" h="228600">
                <a:moveTo>
                  <a:pt x="71438" y="28575"/>
                </a:moveTo>
                <a:cubicBezTo>
                  <a:pt x="71438" y="20672"/>
                  <a:pt x="65053" y="14288"/>
                  <a:pt x="57150" y="14288"/>
                </a:cubicBezTo>
                <a:cubicBezTo>
                  <a:pt x="49247" y="14288"/>
                  <a:pt x="42863" y="20672"/>
                  <a:pt x="42863" y="28575"/>
                </a:cubicBezTo>
                <a:lnTo>
                  <a:pt x="42863" y="57150"/>
                </a:lnTo>
                <a:lnTo>
                  <a:pt x="14288" y="57150"/>
                </a:lnTo>
                <a:cubicBezTo>
                  <a:pt x="6385" y="57150"/>
                  <a:pt x="0" y="63535"/>
                  <a:pt x="0" y="71438"/>
                </a:cubicBezTo>
                <a:cubicBezTo>
                  <a:pt x="0" y="79340"/>
                  <a:pt x="6385" y="85725"/>
                  <a:pt x="14288" y="85725"/>
                </a:cubicBezTo>
                <a:lnTo>
                  <a:pt x="57150" y="85725"/>
                </a:lnTo>
                <a:cubicBezTo>
                  <a:pt x="65053" y="85725"/>
                  <a:pt x="71438" y="79340"/>
                  <a:pt x="71438" y="71438"/>
                </a:cubicBezTo>
                <a:lnTo>
                  <a:pt x="71438" y="28575"/>
                </a:lnTo>
                <a:close/>
                <a:moveTo>
                  <a:pt x="14288" y="142875"/>
                </a:moveTo>
                <a:cubicBezTo>
                  <a:pt x="6385" y="142875"/>
                  <a:pt x="0" y="149260"/>
                  <a:pt x="0" y="157163"/>
                </a:cubicBezTo>
                <a:cubicBezTo>
                  <a:pt x="0" y="165065"/>
                  <a:pt x="6385" y="171450"/>
                  <a:pt x="14288" y="171450"/>
                </a:cubicBezTo>
                <a:lnTo>
                  <a:pt x="42863" y="171450"/>
                </a:lnTo>
                <a:lnTo>
                  <a:pt x="42863" y="200025"/>
                </a:lnTo>
                <a:cubicBezTo>
                  <a:pt x="42863" y="207928"/>
                  <a:pt x="49247" y="214313"/>
                  <a:pt x="57150" y="214313"/>
                </a:cubicBezTo>
                <a:cubicBezTo>
                  <a:pt x="65053" y="214313"/>
                  <a:pt x="71438" y="207928"/>
                  <a:pt x="71438" y="200025"/>
                </a:cubicBezTo>
                <a:lnTo>
                  <a:pt x="71438" y="157163"/>
                </a:lnTo>
                <a:cubicBezTo>
                  <a:pt x="71438" y="149260"/>
                  <a:pt x="65053" y="142875"/>
                  <a:pt x="57150" y="142875"/>
                </a:cubicBezTo>
                <a:lnTo>
                  <a:pt x="14288" y="142875"/>
                </a:lnTo>
                <a:close/>
                <a:moveTo>
                  <a:pt x="157163" y="28575"/>
                </a:moveTo>
                <a:cubicBezTo>
                  <a:pt x="157163" y="20672"/>
                  <a:pt x="150778" y="14288"/>
                  <a:pt x="142875" y="14288"/>
                </a:cubicBezTo>
                <a:cubicBezTo>
                  <a:pt x="134972" y="14288"/>
                  <a:pt x="128588" y="20672"/>
                  <a:pt x="128588" y="28575"/>
                </a:cubicBezTo>
                <a:lnTo>
                  <a:pt x="128588" y="71438"/>
                </a:lnTo>
                <a:cubicBezTo>
                  <a:pt x="128588" y="79340"/>
                  <a:pt x="134972" y="85725"/>
                  <a:pt x="142875" y="85725"/>
                </a:cubicBezTo>
                <a:lnTo>
                  <a:pt x="185738" y="85725"/>
                </a:lnTo>
                <a:cubicBezTo>
                  <a:pt x="193640" y="85725"/>
                  <a:pt x="200025" y="79340"/>
                  <a:pt x="200025" y="71438"/>
                </a:cubicBezTo>
                <a:cubicBezTo>
                  <a:pt x="200025" y="63535"/>
                  <a:pt x="193640" y="57150"/>
                  <a:pt x="185738" y="57150"/>
                </a:cubicBezTo>
                <a:lnTo>
                  <a:pt x="157163" y="57150"/>
                </a:lnTo>
                <a:lnTo>
                  <a:pt x="157163" y="28575"/>
                </a:lnTo>
                <a:close/>
                <a:moveTo>
                  <a:pt x="142875" y="142875"/>
                </a:moveTo>
                <a:cubicBezTo>
                  <a:pt x="134972" y="142875"/>
                  <a:pt x="128588" y="149260"/>
                  <a:pt x="128588" y="157163"/>
                </a:cubicBezTo>
                <a:lnTo>
                  <a:pt x="128588" y="200025"/>
                </a:lnTo>
                <a:cubicBezTo>
                  <a:pt x="128588" y="207928"/>
                  <a:pt x="134972" y="214313"/>
                  <a:pt x="142875" y="214313"/>
                </a:cubicBezTo>
                <a:cubicBezTo>
                  <a:pt x="150778" y="214313"/>
                  <a:pt x="157163" y="207928"/>
                  <a:pt x="157163" y="200025"/>
                </a:cubicBezTo>
                <a:lnTo>
                  <a:pt x="157163" y="171450"/>
                </a:lnTo>
                <a:lnTo>
                  <a:pt x="185738" y="171450"/>
                </a:lnTo>
                <a:cubicBezTo>
                  <a:pt x="193640" y="171450"/>
                  <a:pt x="200025" y="165065"/>
                  <a:pt x="200025" y="157163"/>
                </a:cubicBezTo>
                <a:cubicBezTo>
                  <a:pt x="200025" y="149260"/>
                  <a:pt x="193640" y="142875"/>
                  <a:pt x="185738" y="142875"/>
                </a:cubicBezTo>
                <a:lnTo>
                  <a:pt x="142875" y="142875"/>
                </a:lnTo>
                <a:close/>
              </a:path>
            </a:pathLst>
          </a:custGeom>
          <a:solidFill>
            <a:srgbClr val="1D1D1D"/>
          </a:solidFill>
          <a:ln/>
        </p:spPr>
        <p:txBody>
          <a:bodyPr/>
          <a:lstStyle/>
          <a:p>
            <a:endParaRPr lang="en-US"/>
          </a:p>
        </p:txBody>
      </p:sp>
      <p:sp>
        <p:nvSpPr>
          <p:cNvPr id="23" name="Text 21">
            <a:extLst>
              <a:ext uri="{FF2B5EF4-FFF2-40B4-BE49-F238E27FC236}">
                <a16:creationId xmlns:a16="http://schemas.microsoft.com/office/drawing/2014/main" id="{B25F5408-99C5-A696-2135-957B2452A81E}"/>
              </a:ext>
            </a:extLst>
          </p:cNvPr>
          <p:cNvSpPr/>
          <p:nvPr/>
        </p:nvSpPr>
        <p:spPr>
          <a:xfrm>
            <a:off x="4850436" y="4142524"/>
            <a:ext cx="1245564" cy="228600"/>
          </a:xfrm>
          <a:prstGeom prst="rect">
            <a:avLst/>
          </a:prstGeom>
          <a:noFill/>
          <a:ln/>
        </p:spPr>
        <p:txBody>
          <a:bodyPr wrap="square" lIns="0" tIns="0" rIns="0" bIns="0" rtlCol="0" anchor="ctr"/>
          <a:lstStyle/>
          <a:p>
            <a:pPr>
              <a:lnSpc>
                <a:spcPct val="120000"/>
              </a:lnSpc>
            </a:pPr>
            <a:r>
              <a:rPr lang="en-US" sz="1500" b="1" dirty="0">
                <a:solidFill>
                  <a:srgbClr val="1D1D1D"/>
                </a:solidFill>
                <a:latin typeface="Liter" pitchFamily="34" charset="0"/>
                <a:ea typeface="Liter" pitchFamily="34" charset="-122"/>
                <a:cs typeface="Liter" pitchFamily="34" charset="-120"/>
              </a:rPr>
              <a:t>Time - Bound</a:t>
            </a:r>
            <a:endParaRPr lang="en-US" sz="1600" dirty="0"/>
          </a:p>
        </p:txBody>
      </p:sp>
      <p:sp>
        <p:nvSpPr>
          <p:cNvPr id="24" name="Text 22">
            <a:extLst>
              <a:ext uri="{FF2B5EF4-FFF2-40B4-BE49-F238E27FC236}">
                <a16:creationId xmlns:a16="http://schemas.microsoft.com/office/drawing/2014/main" id="{8826740E-153E-8724-DF42-CFD61A93DD13}"/>
              </a:ext>
            </a:extLst>
          </p:cNvPr>
          <p:cNvSpPr/>
          <p:nvPr/>
        </p:nvSpPr>
        <p:spPr>
          <a:xfrm>
            <a:off x="4443412" y="4414366"/>
            <a:ext cx="3371850" cy="742950"/>
          </a:xfrm>
          <a:prstGeom prst="rect">
            <a:avLst/>
          </a:prstGeom>
          <a:noFill/>
          <a:ln/>
        </p:spPr>
        <p:txBody>
          <a:bodyPr wrap="square" lIns="0" tIns="0" rIns="0" bIns="0" rtlCol="0" anchor="ctr"/>
          <a:lstStyle/>
          <a:p>
            <a:pPr>
              <a:lnSpc>
                <a:spcPct val="140000"/>
              </a:lnSpc>
            </a:pPr>
            <a:r>
              <a:rPr lang="en-US" sz="1200" dirty="0">
                <a:solidFill>
                  <a:srgbClr val="86868B"/>
                </a:solidFill>
                <a:latin typeface="Liter" pitchFamily="34" charset="0"/>
              </a:rPr>
              <a:t>help ensure progress is reviewed and completed within a defined period.</a:t>
            </a:r>
          </a:p>
        </p:txBody>
      </p:sp>
      <p:sp>
        <p:nvSpPr>
          <p:cNvPr id="26" name="Shape 24">
            <a:extLst>
              <a:ext uri="{FF2B5EF4-FFF2-40B4-BE49-F238E27FC236}">
                <a16:creationId xmlns:a16="http://schemas.microsoft.com/office/drawing/2014/main" id="{E92FA9F6-D337-E82C-65AD-DBE5CB513B03}"/>
              </a:ext>
            </a:extLst>
          </p:cNvPr>
          <p:cNvSpPr/>
          <p:nvPr/>
        </p:nvSpPr>
        <p:spPr>
          <a:xfrm>
            <a:off x="8352490" y="2099570"/>
            <a:ext cx="228600" cy="228600"/>
          </a:xfrm>
          <a:custGeom>
            <a:avLst/>
            <a:gdLst/>
            <a:ahLst/>
            <a:cxnLst/>
            <a:rect l="l" t="t" r="r" b="b"/>
            <a:pathLst>
              <a:path w="228600" h="228600">
                <a:moveTo>
                  <a:pt x="200025" y="114300"/>
                </a:moveTo>
                <a:cubicBezTo>
                  <a:pt x="200025" y="66987"/>
                  <a:pt x="161613" y="28575"/>
                  <a:pt x="114300" y="28575"/>
                </a:cubicBezTo>
                <a:cubicBezTo>
                  <a:pt x="66987" y="28575"/>
                  <a:pt x="28575" y="66987"/>
                  <a:pt x="28575" y="114300"/>
                </a:cubicBezTo>
                <a:cubicBezTo>
                  <a:pt x="28575" y="161613"/>
                  <a:pt x="66987" y="200025"/>
                  <a:pt x="114300" y="200025"/>
                </a:cubicBezTo>
                <a:cubicBezTo>
                  <a:pt x="161613" y="200025"/>
                  <a:pt x="200025" y="161613"/>
                  <a:pt x="200025" y="114300"/>
                </a:cubicBezTo>
                <a:close/>
                <a:moveTo>
                  <a:pt x="0" y="114300"/>
                </a:moveTo>
                <a:cubicBezTo>
                  <a:pt x="0" y="51216"/>
                  <a:pt x="51216" y="0"/>
                  <a:pt x="114300" y="0"/>
                </a:cubicBezTo>
                <a:cubicBezTo>
                  <a:pt x="177384" y="0"/>
                  <a:pt x="228600" y="51216"/>
                  <a:pt x="228600" y="114300"/>
                </a:cubicBezTo>
                <a:cubicBezTo>
                  <a:pt x="228600" y="177384"/>
                  <a:pt x="177384" y="228600"/>
                  <a:pt x="114300" y="228600"/>
                </a:cubicBezTo>
                <a:cubicBezTo>
                  <a:pt x="51216" y="228600"/>
                  <a:pt x="0" y="177384"/>
                  <a:pt x="0" y="114300"/>
                </a:cubicBezTo>
                <a:close/>
                <a:moveTo>
                  <a:pt x="114300" y="150019"/>
                </a:moveTo>
                <a:cubicBezTo>
                  <a:pt x="134014" y="150019"/>
                  <a:pt x="150019" y="134014"/>
                  <a:pt x="150019" y="114300"/>
                </a:cubicBezTo>
                <a:cubicBezTo>
                  <a:pt x="150019" y="94586"/>
                  <a:pt x="134014" y="78581"/>
                  <a:pt x="114300" y="78581"/>
                </a:cubicBezTo>
                <a:cubicBezTo>
                  <a:pt x="94586" y="78581"/>
                  <a:pt x="78581" y="94586"/>
                  <a:pt x="78581" y="114300"/>
                </a:cubicBezTo>
                <a:cubicBezTo>
                  <a:pt x="78581" y="134014"/>
                  <a:pt x="94586" y="150019"/>
                  <a:pt x="114300" y="150019"/>
                </a:cubicBezTo>
                <a:close/>
                <a:moveTo>
                  <a:pt x="114300" y="50006"/>
                </a:moveTo>
                <a:cubicBezTo>
                  <a:pt x="149785" y="50006"/>
                  <a:pt x="178594" y="78815"/>
                  <a:pt x="178594" y="114300"/>
                </a:cubicBezTo>
                <a:cubicBezTo>
                  <a:pt x="178594" y="149785"/>
                  <a:pt x="149785" y="178594"/>
                  <a:pt x="114300" y="178594"/>
                </a:cubicBezTo>
                <a:cubicBezTo>
                  <a:pt x="78815" y="178594"/>
                  <a:pt x="50006" y="149785"/>
                  <a:pt x="50006" y="114300"/>
                </a:cubicBezTo>
                <a:cubicBezTo>
                  <a:pt x="50006" y="78815"/>
                  <a:pt x="78815" y="50006"/>
                  <a:pt x="114300" y="50006"/>
                </a:cubicBezTo>
                <a:close/>
                <a:moveTo>
                  <a:pt x="100013" y="114300"/>
                </a:moveTo>
                <a:cubicBezTo>
                  <a:pt x="100013" y="106415"/>
                  <a:pt x="106415" y="100013"/>
                  <a:pt x="114300" y="100013"/>
                </a:cubicBezTo>
                <a:cubicBezTo>
                  <a:pt x="122185" y="100013"/>
                  <a:pt x="128588" y="106415"/>
                  <a:pt x="128588" y="114300"/>
                </a:cubicBezTo>
                <a:cubicBezTo>
                  <a:pt x="128588" y="122185"/>
                  <a:pt x="122185" y="128588"/>
                  <a:pt x="114300" y="128588"/>
                </a:cubicBezTo>
                <a:cubicBezTo>
                  <a:pt x="106415" y="128588"/>
                  <a:pt x="100013" y="122185"/>
                  <a:pt x="100013" y="114300"/>
                </a:cubicBezTo>
                <a:close/>
              </a:path>
            </a:pathLst>
          </a:custGeom>
          <a:solidFill>
            <a:srgbClr val="1D1D1D"/>
          </a:solidFill>
          <a:ln/>
        </p:spPr>
        <p:txBody>
          <a:bodyPr/>
          <a:lstStyle/>
          <a:p>
            <a:endParaRPr lang="en-US"/>
          </a:p>
        </p:txBody>
      </p:sp>
      <p:sp>
        <p:nvSpPr>
          <p:cNvPr id="29" name="Shape 27">
            <a:extLst>
              <a:ext uri="{FF2B5EF4-FFF2-40B4-BE49-F238E27FC236}">
                <a16:creationId xmlns:a16="http://schemas.microsoft.com/office/drawing/2014/main" id="{A1504D80-5861-C1E1-FF7A-01E63CE0E7D6}"/>
              </a:ext>
            </a:extLst>
          </p:cNvPr>
          <p:cNvSpPr/>
          <p:nvPr/>
        </p:nvSpPr>
        <p:spPr>
          <a:xfrm>
            <a:off x="381000" y="6055180"/>
            <a:ext cx="11430000" cy="5443"/>
          </a:xfrm>
          <a:custGeom>
            <a:avLst/>
            <a:gdLst/>
            <a:ahLst/>
            <a:cxnLst/>
            <a:rect l="l" t="t" r="r" b="b"/>
            <a:pathLst>
              <a:path w="11430000" h="5443">
                <a:moveTo>
                  <a:pt x="0" y="0"/>
                </a:moveTo>
                <a:lnTo>
                  <a:pt x="11430000" y="0"/>
                </a:lnTo>
                <a:lnTo>
                  <a:pt x="11430000" y="5443"/>
                </a:lnTo>
                <a:lnTo>
                  <a:pt x="0" y="5443"/>
                </a:lnTo>
                <a:lnTo>
                  <a:pt x="0" y="0"/>
                </a:lnTo>
                <a:close/>
              </a:path>
            </a:pathLst>
          </a:custGeom>
          <a:solidFill>
            <a:srgbClr val="E5E5E5"/>
          </a:solidFill>
          <a:ln/>
        </p:spPr>
        <p:txBody>
          <a:bodyPr/>
          <a:lstStyle/>
          <a:p>
            <a:endParaRPr lang="en-US"/>
          </a:p>
        </p:txBody>
      </p:sp>
      <p:sp>
        <p:nvSpPr>
          <p:cNvPr id="30" name="Shape 28">
            <a:extLst>
              <a:ext uri="{FF2B5EF4-FFF2-40B4-BE49-F238E27FC236}">
                <a16:creationId xmlns:a16="http://schemas.microsoft.com/office/drawing/2014/main" id="{7802AAFC-41B4-434B-17C1-32FCBEDCF527}"/>
              </a:ext>
            </a:extLst>
          </p:cNvPr>
          <p:cNvSpPr/>
          <p:nvPr/>
        </p:nvSpPr>
        <p:spPr>
          <a:xfrm>
            <a:off x="419100" y="6286500"/>
            <a:ext cx="114300" cy="152400"/>
          </a:xfrm>
          <a:custGeom>
            <a:avLst/>
            <a:gdLst/>
            <a:ahLst/>
            <a:cxnLst/>
            <a:rect l="l" t="t" r="r" b="b"/>
            <a:pathLst>
              <a:path w="114300" h="152400">
                <a:moveTo>
                  <a:pt x="74384" y="19883"/>
                </a:moveTo>
                <a:cubicBezTo>
                  <a:pt x="77480" y="15627"/>
                  <a:pt x="76527" y="9674"/>
                  <a:pt x="72271" y="6578"/>
                </a:cubicBezTo>
                <a:cubicBezTo>
                  <a:pt x="68014" y="3483"/>
                  <a:pt x="62061" y="4435"/>
                  <a:pt x="58966" y="8692"/>
                </a:cubicBezTo>
                <a:lnTo>
                  <a:pt x="27414" y="52060"/>
                </a:lnTo>
                <a:lnTo>
                  <a:pt x="16252" y="40898"/>
                </a:lnTo>
                <a:cubicBezTo>
                  <a:pt x="12531" y="37177"/>
                  <a:pt x="6489" y="37177"/>
                  <a:pt x="2768" y="40898"/>
                </a:cubicBezTo>
                <a:cubicBezTo>
                  <a:pt x="-952" y="44619"/>
                  <a:pt x="-952" y="50661"/>
                  <a:pt x="2768" y="54382"/>
                </a:cubicBezTo>
                <a:lnTo>
                  <a:pt x="21818" y="73432"/>
                </a:lnTo>
                <a:cubicBezTo>
                  <a:pt x="23783" y="75396"/>
                  <a:pt x="26521" y="76408"/>
                  <a:pt x="29289" y="76200"/>
                </a:cubicBezTo>
                <a:cubicBezTo>
                  <a:pt x="32058" y="75992"/>
                  <a:pt x="34617" y="74563"/>
                  <a:pt x="36255" y="72301"/>
                </a:cubicBezTo>
                <a:lnTo>
                  <a:pt x="74355" y="19913"/>
                </a:lnTo>
                <a:close/>
                <a:moveTo>
                  <a:pt x="112484" y="60365"/>
                </a:moveTo>
                <a:cubicBezTo>
                  <a:pt x="115580" y="56108"/>
                  <a:pt x="114627" y="50155"/>
                  <a:pt x="110371" y="47059"/>
                </a:cubicBezTo>
                <a:cubicBezTo>
                  <a:pt x="106114" y="43964"/>
                  <a:pt x="100161" y="44916"/>
                  <a:pt x="97066" y="49173"/>
                </a:cubicBezTo>
                <a:lnTo>
                  <a:pt x="46464" y="118735"/>
                </a:lnTo>
                <a:lnTo>
                  <a:pt x="25777" y="98048"/>
                </a:lnTo>
                <a:cubicBezTo>
                  <a:pt x="22056" y="94327"/>
                  <a:pt x="16014" y="94327"/>
                  <a:pt x="12293" y="98048"/>
                </a:cubicBezTo>
                <a:cubicBezTo>
                  <a:pt x="8572" y="101769"/>
                  <a:pt x="8572" y="107811"/>
                  <a:pt x="12293" y="111532"/>
                </a:cubicBezTo>
                <a:lnTo>
                  <a:pt x="40868" y="140107"/>
                </a:lnTo>
                <a:cubicBezTo>
                  <a:pt x="42833" y="142071"/>
                  <a:pt x="45571" y="143083"/>
                  <a:pt x="48339" y="142875"/>
                </a:cubicBezTo>
                <a:cubicBezTo>
                  <a:pt x="51108" y="142667"/>
                  <a:pt x="53667" y="141238"/>
                  <a:pt x="55305" y="138976"/>
                </a:cubicBezTo>
                <a:lnTo>
                  <a:pt x="112455" y="60394"/>
                </a:lnTo>
                <a:close/>
              </a:path>
            </a:pathLst>
          </a:custGeom>
          <a:solidFill>
            <a:srgbClr val="1D1D1D"/>
          </a:solidFill>
          <a:ln/>
        </p:spPr>
        <p:txBody>
          <a:bodyPr/>
          <a:lstStyle/>
          <a:p>
            <a:endParaRPr lang="en-US"/>
          </a:p>
        </p:txBody>
      </p:sp>
      <p:sp>
        <p:nvSpPr>
          <p:cNvPr id="31" name="Text 29">
            <a:extLst>
              <a:ext uri="{FF2B5EF4-FFF2-40B4-BE49-F238E27FC236}">
                <a16:creationId xmlns:a16="http://schemas.microsoft.com/office/drawing/2014/main" id="{DEB23F02-032D-94FC-EE42-C761E0745758}"/>
              </a:ext>
            </a:extLst>
          </p:cNvPr>
          <p:cNvSpPr/>
          <p:nvPr/>
        </p:nvSpPr>
        <p:spPr>
          <a:xfrm>
            <a:off x="628650" y="6248400"/>
            <a:ext cx="11258550" cy="228600"/>
          </a:xfrm>
          <a:prstGeom prst="rect">
            <a:avLst/>
          </a:prstGeom>
          <a:noFill/>
          <a:ln/>
        </p:spPr>
        <p:txBody>
          <a:bodyPr wrap="square" lIns="0" tIns="0" rIns="0" bIns="0" rtlCol="0" anchor="ctr"/>
          <a:lstStyle/>
          <a:p>
            <a:pPr>
              <a:lnSpc>
                <a:spcPct val="130000"/>
              </a:lnSpc>
            </a:pPr>
            <a:r>
              <a:rPr lang="en-US" sz="1200" b="1" dirty="0">
                <a:solidFill>
                  <a:srgbClr val="1D1D1D"/>
                </a:solidFill>
                <a:latin typeface="Liter" pitchFamily="34" charset="0"/>
                <a:ea typeface="Liter" pitchFamily="34" charset="-122"/>
                <a:cs typeface="Liter" pitchFamily="34" charset="-120"/>
              </a:rPr>
              <a:t>Quality Check:</a:t>
            </a:r>
            <a:r>
              <a:rPr lang="en-US" sz="1200" dirty="0">
                <a:solidFill>
                  <a:srgbClr val="86868B"/>
                </a:solidFill>
                <a:latin typeface="Liter" pitchFamily="34" charset="0"/>
                <a:ea typeface="Liter" pitchFamily="34" charset="-122"/>
                <a:cs typeface="Liter" pitchFamily="34" charset="-120"/>
              </a:rPr>
              <a:t> </a:t>
            </a:r>
            <a:r>
              <a:rPr lang="en-US" sz="1200" dirty="0">
                <a:solidFill>
                  <a:schemeClr val="accent5"/>
                </a:solidFill>
                <a:latin typeface="Liter" pitchFamily="34" charset="0"/>
                <a:ea typeface="Liter" pitchFamily="34" charset="-122"/>
                <a:cs typeface="Liter" pitchFamily="34" charset="-120"/>
              </a:rPr>
              <a:t>Review your statement against these five criteria. If it meets all of them, you have a strong foundation for success</a:t>
            </a:r>
            <a:r>
              <a:rPr lang="en-US" sz="1200" dirty="0">
                <a:solidFill>
                  <a:srgbClr val="86868B"/>
                </a:solidFill>
                <a:latin typeface="Liter" pitchFamily="34" charset="0"/>
                <a:ea typeface="Liter" pitchFamily="34" charset="-122"/>
                <a:cs typeface="Liter" pitchFamily="34" charset="-120"/>
              </a:rPr>
              <a:t>.</a:t>
            </a:r>
            <a:endParaRPr lang="en-US" sz="1600" dirty="0"/>
          </a:p>
        </p:txBody>
      </p:sp>
      <p:sp>
        <p:nvSpPr>
          <p:cNvPr id="33" name="Shape 12">
            <a:extLst>
              <a:ext uri="{FF2B5EF4-FFF2-40B4-BE49-F238E27FC236}">
                <a16:creationId xmlns:a16="http://schemas.microsoft.com/office/drawing/2014/main" id="{8BD73614-B01C-3DC4-9C89-8D1008C7B17D}"/>
              </a:ext>
            </a:extLst>
          </p:cNvPr>
          <p:cNvSpPr/>
          <p:nvPr/>
        </p:nvSpPr>
        <p:spPr>
          <a:xfrm>
            <a:off x="4464673" y="2107745"/>
            <a:ext cx="257175" cy="228600"/>
          </a:xfrm>
          <a:custGeom>
            <a:avLst/>
            <a:gdLst/>
            <a:ahLst/>
            <a:cxnLst/>
            <a:rect l="l" t="t" r="r" b="b"/>
            <a:pathLst>
              <a:path w="257175" h="228600">
                <a:moveTo>
                  <a:pt x="93360" y="230475"/>
                </a:moveTo>
                <a:cubicBezTo>
                  <a:pt x="85011" y="238824"/>
                  <a:pt x="71438" y="238824"/>
                  <a:pt x="63044" y="230475"/>
                </a:cubicBezTo>
                <a:lnTo>
                  <a:pt x="12546" y="179978"/>
                </a:lnTo>
                <a:cubicBezTo>
                  <a:pt x="4197" y="171629"/>
                  <a:pt x="4197" y="158055"/>
                  <a:pt x="12546" y="149662"/>
                </a:cubicBezTo>
                <a:lnTo>
                  <a:pt x="20136" y="142071"/>
                </a:lnTo>
                <a:lnTo>
                  <a:pt x="52953" y="174888"/>
                </a:lnTo>
                <a:cubicBezTo>
                  <a:pt x="57150" y="179085"/>
                  <a:pt x="63937" y="179085"/>
                  <a:pt x="68089" y="174888"/>
                </a:cubicBezTo>
                <a:cubicBezTo>
                  <a:pt x="72241" y="170691"/>
                  <a:pt x="72286" y="163904"/>
                  <a:pt x="68089" y="159752"/>
                </a:cubicBezTo>
                <a:lnTo>
                  <a:pt x="35272" y="126936"/>
                </a:lnTo>
                <a:lnTo>
                  <a:pt x="50408" y="111800"/>
                </a:lnTo>
                <a:lnTo>
                  <a:pt x="73134" y="134526"/>
                </a:lnTo>
                <a:cubicBezTo>
                  <a:pt x="77331" y="138723"/>
                  <a:pt x="84118" y="138723"/>
                  <a:pt x="88270" y="134526"/>
                </a:cubicBezTo>
                <a:cubicBezTo>
                  <a:pt x="92422" y="130329"/>
                  <a:pt x="92467" y="123542"/>
                  <a:pt x="88270" y="119390"/>
                </a:cubicBezTo>
                <a:lnTo>
                  <a:pt x="65544" y="96664"/>
                </a:lnTo>
                <a:lnTo>
                  <a:pt x="80680" y="81528"/>
                </a:lnTo>
                <a:lnTo>
                  <a:pt x="113496" y="114345"/>
                </a:lnTo>
                <a:cubicBezTo>
                  <a:pt x="117693" y="118542"/>
                  <a:pt x="124480" y="118542"/>
                  <a:pt x="128632" y="114345"/>
                </a:cubicBezTo>
                <a:cubicBezTo>
                  <a:pt x="132784" y="110148"/>
                  <a:pt x="132829" y="103361"/>
                  <a:pt x="128632" y="99209"/>
                </a:cubicBezTo>
                <a:lnTo>
                  <a:pt x="95816" y="66392"/>
                </a:lnTo>
                <a:lnTo>
                  <a:pt x="110951" y="51256"/>
                </a:lnTo>
                <a:lnTo>
                  <a:pt x="133677" y="73982"/>
                </a:lnTo>
                <a:cubicBezTo>
                  <a:pt x="137874" y="78179"/>
                  <a:pt x="144661" y="78179"/>
                  <a:pt x="148813" y="73982"/>
                </a:cubicBezTo>
                <a:cubicBezTo>
                  <a:pt x="152966" y="69786"/>
                  <a:pt x="153010" y="62999"/>
                  <a:pt x="148813" y="58847"/>
                </a:cubicBezTo>
                <a:lnTo>
                  <a:pt x="126087" y="36121"/>
                </a:lnTo>
                <a:lnTo>
                  <a:pt x="141223" y="20985"/>
                </a:lnTo>
                <a:lnTo>
                  <a:pt x="174040" y="53801"/>
                </a:lnTo>
                <a:cubicBezTo>
                  <a:pt x="178237" y="57998"/>
                  <a:pt x="185023" y="57998"/>
                  <a:pt x="189175" y="53801"/>
                </a:cubicBezTo>
                <a:cubicBezTo>
                  <a:pt x="193328" y="49604"/>
                  <a:pt x="193372" y="42818"/>
                  <a:pt x="189175" y="38666"/>
                </a:cubicBezTo>
                <a:lnTo>
                  <a:pt x="156359" y="5849"/>
                </a:lnTo>
                <a:lnTo>
                  <a:pt x="163949" y="-1741"/>
                </a:lnTo>
                <a:cubicBezTo>
                  <a:pt x="172298" y="-10091"/>
                  <a:pt x="185871" y="-10091"/>
                  <a:pt x="194265" y="-1741"/>
                </a:cubicBezTo>
                <a:lnTo>
                  <a:pt x="244897" y="48622"/>
                </a:lnTo>
                <a:cubicBezTo>
                  <a:pt x="253246" y="56971"/>
                  <a:pt x="253246" y="70545"/>
                  <a:pt x="244897" y="78938"/>
                </a:cubicBezTo>
                <a:lnTo>
                  <a:pt x="93360" y="230475"/>
                </a:lnTo>
                <a:close/>
              </a:path>
            </a:pathLst>
          </a:custGeom>
          <a:solidFill>
            <a:srgbClr val="1D1D1D"/>
          </a:solidFill>
          <a:ln/>
        </p:spPr>
        <p:txBody>
          <a:bodyPr/>
          <a:lstStyle/>
          <a:p>
            <a:endParaRPr lang="en-US"/>
          </a:p>
        </p:txBody>
      </p:sp>
    </p:spTree>
    <p:extLst>
      <p:ext uri="{BB962C8B-B14F-4D97-AF65-F5344CB8AC3E}">
        <p14:creationId xmlns:p14="http://schemas.microsoft.com/office/powerpoint/2010/main" val="1015481427"/>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name="Slide 12">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kern="0" spc="105" dirty="0">
                <a:solidFill>
                  <a:srgbClr val="86868B"/>
                </a:solidFill>
                <a:latin typeface="Liter" pitchFamily="34" charset="0"/>
                <a:ea typeface="Liter" pitchFamily="34" charset="-122"/>
                <a:cs typeface="Liter" pitchFamily="34" charset="-120"/>
              </a:rPr>
              <a:t>PITFALLS</a:t>
            </a:r>
            <a:endParaRPr lang="en-US" sz="1600" dirty="0"/>
          </a:p>
        </p:txBody>
      </p:sp>
      <p:sp>
        <p:nvSpPr>
          <p:cNvPr id="3" name="Text 1"/>
          <p:cNvSpPr/>
          <p:nvPr/>
        </p:nvSpPr>
        <p:spPr>
          <a:xfrm>
            <a:off x="381000" y="685800"/>
            <a:ext cx="11658600" cy="457200"/>
          </a:xfrm>
          <a:prstGeom prst="rect">
            <a:avLst/>
          </a:prstGeom>
          <a:noFill/>
          <a:ln/>
        </p:spPr>
        <p:txBody>
          <a:bodyPr wrap="square" lIns="0" tIns="0" rIns="0" bIns="0" rtlCol="0" anchor="ctr"/>
          <a:lstStyle/>
          <a:p>
            <a:pPr>
              <a:lnSpc>
                <a:spcPct val="80000"/>
              </a:lnSpc>
            </a:pPr>
            <a:r>
              <a:rPr lang="en-US" sz="3600" b="1" dirty="0">
                <a:solidFill>
                  <a:srgbClr val="1D1D1D"/>
                </a:solidFill>
                <a:latin typeface="Liter" pitchFamily="34" charset="0"/>
                <a:ea typeface="Liter" pitchFamily="34" charset="-122"/>
                <a:cs typeface="Liter" pitchFamily="34" charset="-120"/>
              </a:rPr>
              <a:t>Common Mistakes to Avoid</a:t>
            </a:r>
            <a:endParaRPr lang="en-US" sz="1600" dirty="0"/>
          </a:p>
        </p:txBody>
      </p:sp>
      <p:sp>
        <p:nvSpPr>
          <p:cNvPr id="4" name="Text 2"/>
          <p:cNvSpPr/>
          <p:nvPr/>
        </p:nvSpPr>
        <p:spPr>
          <a:xfrm>
            <a:off x="381000" y="1413992"/>
            <a:ext cx="11515725" cy="276225"/>
          </a:xfrm>
          <a:prstGeom prst="rect">
            <a:avLst/>
          </a:prstGeom>
          <a:noFill/>
          <a:ln/>
        </p:spPr>
        <p:txBody>
          <a:bodyPr wrap="square" lIns="0" tIns="0" rIns="0" bIns="0" rtlCol="0" anchor="ctr"/>
          <a:lstStyle/>
          <a:p>
            <a:pPr>
              <a:lnSpc>
                <a:spcPct val="140000"/>
              </a:lnSpc>
            </a:pPr>
            <a:r>
              <a:rPr lang="en-US" sz="1350" dirty="0">
                <a:solidFill>
                  <a:srgbClr val="86868B"/>
                </a:solidFill>
                <a:latin typeface="Liter" pitchFamily="34" charset="0"/>
                <a:ea typeface="Liter" pitchFamily="34" charset="-122"/>
                <a:cs typeface="Liter" pitchFamily="34" charset="-120"/>
              </a:rPr>
              <a:t>Even experienced professionals fall into these traps. Being aware of </a:t>
            </a:r>
            <a:r>
              <a:rPr lang="en-US" sz="1350" b="1" dirty="0">
                <a:solidFill>
                  <a:srgbClr val="1D1D1D"/>
                </a:solidFill>
                <a:latin typeface="Liter" pitchFamily="34" charset="0"/>
                <a:ea typeface="Liter" pitchFamily="34" charset="-122"/>
                <a:cs typeface="Liter" pitchFamily="34" charset="-120"/>
              </a:rPr>
              <a:t>common pitfalls</a:t>
            </a:r>
            <a:r>
              <a:rPr lang="en-US" sz="1350" dirty="0">
                <a:solidFill>
                  <a:srgbClr val="86868B"/>
                </a:solidFill>
                <a:latin typeface="Liter" pitchFamily="34" charset="0"/>
                <a:ea typeface="Liter" pitchFamily="34" charset="-122"/>
                <a:cs typeface="Liter" pitchFamily="34" charset="-120"/>
              </a:rPr>
              <a:t> helps you craft more effective statements.</a:t>
            </a:r>
            <a:endParaRPr lang="en-US" sz="1600" dirty="0"/>
          </a:p>
        </p:txBody>
      </p:sp>
      <p:sp>
        <p:nvSpPr>
          <p:cNvPr id="5" name="Shape 3"/>
          <p:cNvSpPr/>
          <p:nvPr/>
        </p:nvSpPr>
        <p:spPr>
          <a:xfrm>
            <a:off x="381000" y="2351147"/>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E5E5E5"/>
          </a:solidFill>
          <a:ln/>
        </p:spPr>
        <p:txBody>
          <a:bodyPr/>
          <a:lstStyle/>
          <a:p>
            <a:endParaRPr lang="en-US"/>
          </a:p>
        </p:txBody>
      </p:sp>
      <p:sp>
        <p:nvSpPr>
          <p:cNvPr id="6" name="Text 4"/>
          <p:cNvSpPr/>
          <p:nvPr/>
        </p:nvSpPr>
        <p:spPr>
          <a:xfrm>
            <a:off x="338138" y="2351147"/>
            <a:ext cx="542925" cy="457200"/>
          </a:xfrm>
          <a:prstGeom prst="rect">
            <a:avLst/>
          </a:prstGeom>
          <a:noFill/>
          <a:ln/>
        </p:spPr>
        <p:txBody>
          <a:bodyPr wrap="square" lIns="0" tIns="0" rIns="0" bIns="0" rtlCol="0" anchor="ctr"/>
          <a:lstStyle/>
          <a:p>
            <a:pPr algn="ctr">
              <a:lnSpc>
                <a:spcPct val="130000"/>
              </a:lnSpc>
            </a:pPr>
            <a:r>
              <a:rPr lang="en-US" sz="1350" b="1" dirty="0">
                <a:solidFill>
                  <a:srgbClr val="1D1D1D"/>
                </a:solidFill>
                <a:latin typeface="Liter" pitchFamily="34" charset="0"/>
                <a:ea typeface="Liter" pitchFamily="34" charset="-122"/>
                <a:cs typeface="Liter" pitchFamily="34" charset="-120"/>
              </a:rPr>
              <a:t>✕</a:t>
            </a:r>
            <a:endParaRPr lang="en-US" sz="1600" dirty="0"/>
          </a:p>
        </p:txBody>
      </p:sp>
      <p:sp>
        <p:nvSpPr>
          <p:cNvPr id="7" name="Text 5"/>
          <p:cNvSpPr/>
          <p:nvPr/>
        </p:nvSpPr>
        <p:spPr>
          <a:xfrm>
            <a:off x="990600" y="2351147"/>
            <a:ext cx="5038725" cy="266700"/>
          </a:xfrm>
          <a:prstGeom prst="rect">
            <a:avLst/>
          </a:prstGeom>
          <a:noFill/>
          <a:ln/>
        </p:spPr>
        <p:txBody>
          <a:bodyPr wrap="square" lIns="0" tIns="0" rIns="0" bIns="0" rtlCol="0" anchor="ctr"/>
          <a:lstStyle/>
          <a:p>
            <a:pPr>
              <a:lnSpc>
                <a:spcPct val="130000"/>
              </a:lnSpc>
            </a:pPr>
            <a:r>
              <a:rPr lang="en-US" sz="1350" b="1" dirty="0">
                <a:solidFill>
                  <a:srgbClr val="1D1D1D"/>
                </a:solidFill>
                <a:latin typeface="Liter" pitchFamily="34" charset="0"/>
                <a:ea typeface="Liter" pitchFamily="34" charset="-122"/>
                <a:cs typeface="Liter" pitchFamily="34" charset="-120"/>
              </a:rPr>
              <a:t>Being Too Vague</a:t>
            </a:r>
            <a:endParaRPr lang="en-US" sz="1600" dirty="0"/>
          </a:p>
        </p:txBody>
      </p:sp>
      <p:sp>
        <p:nvSpPr>
          <p:cNvPr id="8" name="Text 6"/>
          <p:cNvSpPr/>
          <p:nvPr/>
        </p:nvSpPr>
        <p:spPr>
          <a:xfrm>
            <a:off x="990600" y="2655947"/>
            <a:ext cx="5029200" cy="495300"/>
          </a:xfrm>
          <a:prstGeom prst="rect">
            <a:avLst/>
          </a:prstGeom>
          <a:noFill/>
          <a:ln/>
        </p:spPr>
        <p:txBody>
          <a:bodyPr wrap="square" lIns="0" tIns="0" rIns="0" bIns="0" rtlCol="0" anchor="ctr"/>
          <a:lstStyle/>
          <a:p>
            <a:pPr>
              <a:lnSpc>
                <a:spcPct val="140000"/>
              </a:lnSpc>
            </a:pPr>
            <a:r>
              <a:rPr lang="en-US" sz="1200" dirty="0">
                <a:solidFill>
                  <a:srgbClr val="86868B"/>
                </a:solidFill>
                <a:latin typeface="Liter" pitchFamily="34" charset="0"/>
                <a:ea typeface="Liter" pitchFamily="34" charset="-122"/>
                <a:cs typeface="Liter" pitchFamily="34" charset="-120"/>
              </a:rPr>
              <a:t>Avoid broad statements like "We need to improve customer service." Lack of specificity prevents focused action.</a:t>
            </a:r>
            <a:endParaRPr lang="en-US" sz="1600" dirty="0"/>
          </a:p>
        </p:txBody>
      </p:sp>
      <p:sp>
        <p:nvSpPr>
          <p:cNvPr id="9" name="Shape 7"/>
          <p:cNvSpPr/>
          <p:nvPr/>
        </p:nvSpPr>
        <p:spPr>
          <a:xfrm>
            <a:off x="6248400" y="2351147"/>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E5E5E5"/>
          </a:solidFill>
          <a:ln/>
        </p:spPr>
        <p:txBody>
          <a:bodyPr/>
          <a:lstStyle/>
          <a:p>
            <a:endParaRPr lang="en-US"/>
          </a:p>
        </p:txBody>
      </p:sp>
      <p:sp>
        <p:nvSpPr>
          <p:cNvPr id="10" name="Text 8"/>
          <p:cNvSpPr/>
          <p:nvPr/>
        </p:nvSpPr>
        <p:spPr>
          <a:xfrm>
            <a:off x="6205538" y="2351147"/>
            <a:ext cx="542925" cy="457200"/>
          </a:xfrm>
          <a:prstGeom prst="rect">
            <a:avLst/>
          </a:prstGeom>
          <a:noFill/>
          <a:ln/>
        </p:spPr>
        <p:txBody>
          <a:bodyPr wrap="square" lIns="0" tIns="0" rIns="0" bIns="0" rtlCol="0" anchor="ctr"/>
          <a:lstStyle/>
          <a:p>
            <a:pPr algn="ctr">
              <a:lnSpc>
                <a:spcPct val="130000"/>
              </a:lnSpc>
            </a:pPr>
            <a:r>
              <a:rPr lang="en-US" sz="1350" b="1" dirty="0">
                <a:solidFill>
                  <a:srgbClr val="1D1D1D"/>
                </a:solidFill>
                <a:latin typeface="Liter" pitchFamily="34" charset="0"/>
                <a:ea typeface="Liter" pitchFamily="34" charset="-122"/>
                <a:cs typeface="Liter" pitchFamily="34" charset="-120"/>
              </a:rPr>
              <a:t>✕</a:t>
            </a:r>
            <a:endParaRPr lang="en-US" sz="1600" dirty="0"/>
          </a:p>
        </p:txBody>
      </p:sp>
      <p:sp>
        <p:nvSpPr>
          <p:cNvPr id="11" name="Text 9"/>
          <p:cNvSpPr/>
          <p:nvPr/>
        </p:nvSpPr>
        <p:spPr>
          <a:xfrm>
            <a:off x="6858001" y="2351147"/>
            <a:ext cx="5038725" cy="266700"/>
          </a:xfrm>
          <a:prstGeom prst="rect">
            <a:avLst/>
          </a:prstGeom>
          <a:noFill/>
          <a:ln/>
        </p:spPr>
        <p:txBody>
          <a:bodyPr wrap="square" lIns="0" tIns="0" rIns="0" bIns="0" rtlCol="0" anchor="ctr"/>
          <a:lstStyle/>
          <a:p>
            <a:pPr>
              <a:lnSpc>
                <a:spcPct val="130000"/>
              </a:lnSpc>
            </a:pPr>
            <a:r>
              <a:rPr lang="en-US" sz="1350" b="1" dirty="0">
                <a:solidFill>
                  <a:srgbClr val="1D1D1D"/>
                </a:solidFill>
                <a:latin typeface="Liter" pitchFamily="34" charset="0"/>
                <a:ea typeface="Liter" pitchFamily="34" charset="-122"/>
                <a:cs typeface="Liter" pitchFamily="34" charset="-120"/>
              </a:rPr>
              <a:t>Including Solutions</a:t>
            </a:r>
            <a:endParaRPr lang="en-US" sz="1600" dirty="0"/>
          </a:p>
        </p:txBody>
      </p:sp>
      <p:sp>
        <p:nvSpPr>
          <p:cNvPr id="12" name="Text 10"/>
          <p:cNvSpPr/>
          <p:nvPr/>
        </p:nvSpPr>
        <p:spPr>
          <a:xfrm>
            <a:off x="6858001" y="2655947"/>
            <a:ext cx="5029200" cy="495300"/>
          </a:xfrm>
          <a:prstGeom prst="rect">
            <a:avLst/>
          </a:prstGeom>
          <a:noFill/>
          <a:ln/>
        </p:spPr>
        <p:txBody>
          <a:bodyPr wrap="square" lIns="0" tIns="0" rIns="0" bIns="0" rtlCol="0" anchor="ctr"/>
          <a:lstStyle/>
          <a:p>
            <a:pPr>
              <a:lnSpc>
                <a:spcPct val="140000"/>
              </a:lnSpc>
            </a:pPr>
            <a:r>
              <a:rPr lang="en-US" sz="1200" dirty="0">
                <a:solidFill>
                  <a:srgbClr val="86868B"/>
                </a:solidFill>
                <a:latin typeface="Liter" pitchFamily="34" charset="0"/>
                <a:ea typeface="Liter" pitchFamily="34" charset="-122"/>
                <a:cs typeface="Liter" pitchFamily="34" charset="-120"/>
              </a:rPr>
              <a:t>Don't propose solutions in the problem statement. Focus on defining the problem first. Solutions come later.</a:t>
            </a:r>
            <a:endParaRPr lang="en-US" sz="1600" dirty="0"/>
          </a:p>
        </p:txBody>
      </p:sp>
      <p:sp>
        <p:nvSpPr>
          <p:cNvPr id="13" name="Shape 11"/>
          <p:cNvSpPr/>
          <p:nvPr/>
        </p:nvSpPr>
        <p:spPr>
          <a:xfrm>
            <a:off x="381000" y="3404088"/>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E5E5E5"/>
          </a:solidFill>
          <a:ln/>
        </p:spPr>
        <p:txBody>
          <a:bodyPr/>
          <a:lstStyle/>
          <a:p>
            <a:endParaRPr lang="en-US"/>
          </a:p>
        </p:txBody>
      </p:sp>
      <p:sp>
        <p:nvSpPr>
          <p:cNvPr id="14" name="Text 12"/>
          <p:cNvSpPr/>
          <p:nvPr/>
        </p:nvSpPr>
        <p:spPr>
          <a:xfrm>
            <a:off x="338138" y="3404088"/>
            <a:ext cx="542925" cy="457200"/>
          </a:xfrm>
          <a:prstGeom prst="rect">
            <a:avLst/>
          </a:prstGeom>
          <a:noFill/>
          <a:ln/>
        </p:spPr>
        <p:txBody>
          <a:bodyPr wrap="square" lIns="0" tIns="0" rIns="0" bIns="0" rtlCol="0" anchor="ctr"/>
          <a:lstStyle/>
          <a:p>
            <a:pPr algn="ctr">
              <a:lnSpc>
                <a:spcPct val="130000"/>
              </a:lnSpc>
            </a:pPr>
            <a:r>
              <a:rPr lang="en-US" sz="1350" b="1" dirty="0">
                <a:solidFill>
                  <a:srgbClr val="1D1D1D"/>
                </a:solidFill>
                <a:latin typeface="Liter" pitchFamily="34" charset="0"/>
                <a:ea typeface="Liter" pitchFamily="34" charset="-122"/>
                <a:cs typeface="Liter" pitchFamily="34" charset="-120"/>
              </a:rPr>
              <a:t>✕</a:t>
            </a:r>
            <a:endParaRPr lang="en-US" sz="1600" dirty="0"/>
          </a:p>
        </p:txBody>
      </p:sp>
      <p:sp>
        <p:nvSpPr>
          <p:cNvPr id="15" name="Text 13"/>
          <p:cNvSpPr/>
          <p:nvPr/>
        </p:nvSpPr>
        <p:spPr>
          <a:xfrm>
            <a:off x="990600" y="3404088"/>
            <a:ext cx="5038725" cy="266700"/>
          </a:xfrm>
          <a:prstGeom prst="rect">
            <a:avLst/>
          </a:prstGeom>
          <a:noFill/>
          <a:ln/>
        </p:spPr>
        <p:txBody>
          <a:bodyPr wrap="square" lIns="0" tIns="0" rIns="0" bIns="0" rtlCol="0" anchor="ctr"/>
          <a:lstStyle/>
          <a:p>
            <a:pPr>
              <a:lnSpc>
                <a:spcPct val="130000"/>
              </a:lnSpc>
            </a:pPr>
            <a:r>
              <a:rPr lang="en-US" sz="1350" b="1" dirty="0">
                <a:solidFill>
                  <a:srgbClr val="1D1D1D"/>
                </a:solidFill>
                <a:latin typeface="Liter" pitchFamily="34" charset="0"/>
                <a:ea typeface="Liter" pitchFamily="34" charset="-122"/>
                <a:cs typeface="Liter" pitchFamily="34" charset="-120"/>
              </a:rPr>
              <a:t>Using Jargon</a:t>
            </a:r>
            <a:endParaRPr lang="en-US" sz="1600" dirty="0"/>
          </a:p>
        </p:txBody>
      </p:sp>
      <p:sp>
        <p:nvSpPr>
          <p:cNvPr id="16" name="Text 14"/>
          <p:cNvSpPr/>
          <p:nvPr/>
        </p:nvSpPr>
        <p:spPr>
          <a:xfrm>
            <a:off x="990600" y="3708888"/>
            <a:ext cx="5029200" cy="495300"/>
          </a:xfrm>
          <a:prstGeom prst="rect">
            <a:avLst/>
          </a:prstGeom>
          <a:noFill/>
          <a:ln/>
        </p:spPr>
        <p:txBody>
          <a:bodyPr wrap="square" lIns="0" tIns="0" rIns="0" bIns="0" rtlCol="0" anchor="ctr"/>
          <a:lstStyle/>
          <a:p>
            <a:pPr>
              <a:lnSpc>
                <a:spcPct val="140000"/>
              </a:lnSpc>
            </a:pPr>
            <a:r>
              <a:rPr lang="en-US" sz="1200" dirty="0">
                <a:solidFill>
                  <a:srgbClr val="86868B"/>
                </a:solidFill>
                <a:latin typeface="Liter" pitchFamily="34" charset="0"/>
                <a:ea typeface="Liter" pitchFamily="34" charset="-122"/>
                <a:cs typeface="Liter" pitchFamily="34" charset="-120"/>
              </a:rPr>
              <a:t>Technical terms confuse stakeholders who aren't experts. Use accessible language that everyone understands.</a:t>
            </a:r>
            <a:endParaRPr lang="en-US" sz="1600" dirty="0"/>
          </a:p>
        </p:txBody>
      </p:sp>
      <p:sp>
        <p:nvSpPr>
          <p:cNvPr id="17" name="Shape 15"/>
          <p:cNvSpPr/>
          <p:nvPr/>
        </p:nvSpPr>
        <p:spPr>
          <a:xfrm>
            <a:off x="6248400" y="3404088"/>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E5E5E5"/>
          </a:solidFill>
          <a:ln/>
        </p:spPr>
        <p:txBody>
          <a:bodyPr/>
          <a:lstStyle/>
          <a:p>
            <a:endParaRPr lang="en-US"/>
          </a:p>
        </p:txBody>
      </p:sp>
      <p:sp>
        <p:nvSpPr>
          <p:cNvPr id="18" name="Text 16"/>
          <p:cNvSpPr/>
          <p:nvPr/>
        </p:nvSpPr>
        <p:spPr>
          <a:xfrm>
            <a:off x="6205538" y="3404088"/>
            <a:ext cx="542925" cy="457200"/>
          </a:xfrm>
          <a:prstGeom prst="rect">
            <a:avLst/>
          </a:prstGeom>
          <a:noFill/>
          <a:ln/>
        </p:spPr>
        <p:txBody>
          <a:bodyPr wrap="square" lIns="0" tIns="0" rIns="0" bIns="0" rtlCol="0" anchor="ctr"/>
          <a:lstStyle/>
          <a:p>
            <a:pPr algn="ctr">
              <a:lnSpc>
                <a:spcPct val="130000"/>
              </a:lnSpc>
            </a:pPr>
            <a:r>
              <a:rPr lang="en-US" sz="1350" b="1" dirty="0">
                <a:solidFill>
                  <a:srgbClr val="1D1D1D"/>
                </a:solidFill>
                <a:latin typeface="Liter" pitchFamily="34" charset="0"/>
                <a:ea typeface="Liter" pitchFamily="34" charset="-122"/>
                <a:cs typeface="Liter" pitchFamily="34" charset="-120"/>
              </a:rPr>
              <a:t>✕</a:t>
            </a:r>
            <a:endParaRPr lang="en-US" sz="1600" dirty="0"/>
          </a:p>
        </p:txBody>
      </p:sp>
      <p:sp>
        <p:nvSpPr>
          <p:cNvPr id="19" name="Text 17"/>
          <p:cNvSpPr/>
          <p:nvPr/>
        </p:nvSpPr>
        <p:spPr>
          <a:xfrm>
            <a:off x="6858001" y="3404088"/>
            <a:ext cx="5038725" cy="266700"/>
          </a:xfrm>
          <a:prstGeom prst="rect">
            <a:avLst/>
          </a:prstGeom>
          <a:noFill/>
          <a:ln/>
        </p:spPr>
        <p:txBody>
          <a:bodyPr wrap="square" lIns="0" tIns="0" rIns="0" bIns="0" rtlCol="0" anchor="ctr"/>
          <a:lstStyle/>
          <a:p>
            <a:pPr>
              <a:lnSpc>
                <a:spcPct val="130000"/>
              </a:lnSpc>
            </a:pPr>
            <a:r>
              <a:rPr lang="en-US" sz="1350" b="1" dirty="0">
                <a:solidFill>
                  <a:srgbClr val="1D1D1D"/>
                </a:solidFill>
                <a:latin typeface="Liter" pitchFamily="34" charset="0"/>
                <a:ea typeface="Liter" pitchFamily="34" charset="-122"/>
                <a:cs typeface="Liter" pitchFamily="34" charset="-120"/>
              </a:rPr>
              <a:t>Making It Too Long</a:t>
            </a:r>
            <a:endParaRPr lang="en-US" sz="1600" dirty="0"/>
          </a:p>
        </p:txBody>
      </p:sp>
      <p:sp>
        <p:nvSpPr>
          <p:cNvPr id="20" name="Text 18"/>
          <p:cNvSpPr/>
          <p:nvPr/>
        </p:nvSpPr>
        <p:spPr>
          <a:xfrm>
            <a:off x="6858001" y="3708888"/>
            <a:ext cx="5029200" cy="495300"/>
          </a:xfrm>
          <a:prstGeom prst="rect">
            <a:avLst/>
          </a:prstGeom>
          <a:noFill/>
          <a:ln/>
        </p:spPr>
        <p:txBody>
          <a:bodyPr wrap="square" lIns="0" tIns="0" rIns="0" bIns="0" rtlCol="0" anchor="ctr"/>
          <a:lstStyle/>
          <a:p>
            <a:pPr>
              <a:lnSpc>
                <a:spcPct val="140000"/>
              </a:lnSpc>
            </a:pPr>
            <a:r>
              <a:rPr lang="en-US" sz="1200" dirty="0">
                <a:solidFill>
                  <a:srgbClr val="86868B"/>
                </a:solidFill>
                <a:latin typeface="Liter" pitchFamily="34" charset="0"/>
                <a:ea typeface="Liter" pitchFamily="34" charset="-122"/>
                <a:cs typeface="Liter" pitchFamily="34" charset="-120"/>
              </a:rPr>
              <a:t>Lengthy statements dilute the message. Keep it concise—ideally 2-4 sentences that capture the essence.</a:t>
            </a:r>
            <a:endParaRPr lang="en-US" sz="1600" dirty="0"/>
          </a:p>
        </p:txBody>
      </p:sp>
      <p:sp>
        <p:nvSpPr>
          <p:cNvPr id="25" name="Shape 23"/>
          <p:cNvSpPr/>
          <p:nvPr/>
        </p:nvSpPr>
        <p:spPr>
          <a:xfrm>
            <a:off x="6248400" y="4457028"/>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E5E5E5"/>
          </a:solidFill>
          <a:ln/>
        </p:spPr>
        <p:txBody>
          <a:bodyPr/>
          <a:lstStyle/>
          <a:p>
            <a:endParaRPr lang="en-US"/>
          </a:p>
        </p:txBody>
      </p:sp>
      <p:sp>
        <p:nvSpPr>
          <p:cNvPr id="26" name="Text 24"/>
          <p:cNvSpPr/>
          <p:nvPr/>
        </p:nvSpPr>
        <p:spPr>
          <a:xfrm>
            <a:off x="6205538" y="4457028"/>
            <a:ext cx="542925" cy="457200"/>
          </a:xfrm>
          <a:prstGeom prst="rect">
            <a:avLst/>
          </a:prstGeom>
          <a:noFill/>
          <a:ln/>
        </p:spPr>
        <p:txBody>
          <a:bodyPr wrap="square" lIns="0" tIns="0" rIns="0" bIns="0" rtlCol="0" anchor="ctr"/>
          <a:lstStyle/>
          <a:p>
            <a:pPr algn="ctr">
              <a:lnSpc>
                <a:spcPct val="130000"/>
              </a:lnSpc>
            </a:pPr>
            <a:r>
              <a:rPr lang="en-US" sz="1350" b="1" dirty="0">
                <a:solidFill>
                  <a:srgbClr val="1D1D1D"/>
                </a:solidFill>
                <a:latin typeface="Liter" pitchFamily="34" charset="0"/>
                <a:ea typeface="Liter" pitchFamily="34" charset="-122"/>
                <a:cs typeface="Liter" pitchFamily="34" charset="-120"/>
              </a:rPr>
              <a:t>✕</a:t>
            </a:r>
            <a:endParaRPr lang="en-US" sz="1600" dirty="0"/>
          </a:p>
        </p:txBody>
      </p:sp>
      <p:sp>
        <p:nvSpPr>
          <p:cNvPr id="27" name="Text 25"/>
          <p:cNvSpPr/>
          <p:nvPr/>
        </p:nvSpPr>
        <p:spPr>
          <a:xfrm>
            <a:off x="6858001" y="4457028"/>
            <a:ext cx="5038725" cy="266700"/>
          </a:xfrm>
          <a:prstGeom prst="rect">
            <a:avLst/>
          </a:prstGeom>
          <a:noFill/>
          <a:ln/>
        </p:spPr>
        <p:txBody>
          <a:bodyPr wrap="square" lIns="0" tIns="0" rIns="0" bIns="0" rtlCol="0" anchor="ctr"/>
          <a:lstStyle/>
          <a:p>
            <a:pPr>
              <a:lnSpc>
                <a:spcPct val="130000"/>
              </a:lnSpc>
            </a:pPr>
            <a:r>
              <a:rPr lang="en-US" sz="1350" b="1" dirty="0">
                <a:solidFill>
                  <a:srgbClr val="1D1D1D"/>
                </a:solidFill>
                <a:latin typeface="Liter" pitchFamily="34" charset="0"/>
                <a:ea typeface="Liter" pitchFamily="34" charset="-122"/>
                <a:cs typeface="Liter" pitchFamily="34" charset="-120"/>
              </a:rPr>
              <a:t>Excluding Stakeholders</a:t>
            </a:r>
            <a:endParaRPr lang="en-US" sz="1600" dirty="0"/>
          </a:p>
        </p:txBody>
      </p:sp>
      <p:sp>
        <p:nvSpPr>
          <p:cNvPr id="28" name="Text 26"/>
          <p:cNvSpPr/>
          <p:nvPr/>
        </p:nvSpPr>
        <p:spPr>
          <a:xfrm>
            <a:off x="6858001" y="4761828"/>
            <a:ext cx="5029200" cy="495300"/>
          </a:xfrm>
          <a:prstGeom prst="rect">
            <a:avLst/>
          </a:prstGeom>
          <a:noFill/>
          <a:ln/>
        </p:spPr>
        <p:txBody>
          <a:bodyPr wrap="square" lIns="0" tIns="0" rIns="0" bIns="0" rtlCol="0" anchor="ctr"/>
          <a:lstStyle/>
          <a:p>
            <a:pPr>
              <a:lnSpc>
                <a:spcPct val="140000"/>
              </a:lnSpc>
            </a:pPr>
            <a:r>
              <a:rPr lang="en-US" sz="1200" dirty="0">
                <a:solidFill>
                  <a:srgbClr val="86868B"/>
                </a:solidFill>
                <a:latin typeface="Liter" pitchFamily="34" charset="0"/>
                <a:ea typeface="Liter" pitchFamily="34" charset="-122"/>
                <a:cs typeface="Liter" pitchFamily="34" charset="-120"/>
              </a:rPr>
              <a:t>Writing in isolation leads to blind spots. Involve those who experience the problem for better accuracy.</a:t>
            </a:r>
            <a:endParaRPr lang="en-US" sz="1600" dirty="0"/>
          </a:p>
        </p:txBody>
      </p:sp>
      <p:sp>
        <p:nvSpPr>
          <p:cNvPr id="29" name="Shape 27"/>
          <p:cNvSpPr/>
          <p:nvPr/>
        </p:nvSpPr>
        <p:spPr>
          <a:xfrm>
            <a:off x="381000" y="4462326"/>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E5E5E5"/>
          </a:solidFill>
          <a:ln/>
        </p:spPr>
        <p:txBody>
          <a:bodyPr/>
          <a:lstStyle/>
          <a:p>
            <a:endParaRPr lang="en-US"/>
          </a:p>
        </p:txBody>
      </p:sp>
      <p:sp>
        <p:nvSpPr>
          <p:cNvPr id="30" name="Text 28"/>
          <p:cNvSpPr/>
          <p:nvPr/>
        </p:nvSpPr>
        <p:spPr>
          <a:xfrm>
            <a:off x="338138" y="4462326"/>
            <a:ext cx="542925" cy="457200"/>
          </a:xfrm>
          <a:prstGeom prst="rect">
            <a:avLst/>
          </a:prstGeom>
          <a:noFill/>
          <a:ln/>
        </p:spPr>
        <p:txBody>
          <a:bodyPr wrap="square" lIns="0" tIns="0" rIns="0" bIns="0" rtlCol="0" anchor="ctr"/>
          <a:lstStyle/>
          <a:p>
            <a:pPr algn="ctr">
              <a:lnSpc>
                <a:spcPct val="130000"/>
              </a:lnSpc>
            </a:pPr>
            <a:r>
              <a:rPr lang="en-US" sz="1350" b="1" dirty="0">
                <a:solidFill>
                  <a:srgbClr val="1D1D1D"/>
                </a:solidFill>
                <a:latin typeface="Liter" pitchFamily="34" charset="0"/>
                <a:ea typeface="Liter" pitchFamily="34" charset="-122"/>
                <a:cs typeface="Liter" pitchFamily="34" charset="-120"/>
              </a:rPr>
              <a:t>✕</a:t>
            </a:r>
            <a:endParaRPr lang="en-US" sz="1600" dirty="0"/>
          </a:p>
        </p:txBody>
      </p:sp>
      <p:sp>
        <p:nvSpPr>
          <p:cNvPr id="31" name="Text 29"/>
          <p:cNvSpPr/>
          <p:nvPr/>
        </p:nvSpPr>
        <p:spPr>
          <a:xfrm>
            <a:off x="990600" y="4462326"/>
            <a:ext cx="5038725" cy="266700"/>
          </a:xfrm>
          <a:prstGeom prst="rect">
            <a:avLst/>
          </a:prstGeom>
          <a:noFill/>
          <a:ln/>
        </p:spPr>
        <p:txBody>
          <a:bodyPr wrap="square" lIns="0" tIns="0" rIns="0" bIns="0" rtlCol="0" anchor="ctr"/>
          <a:lstStyle/>
          <a:p>
            <a:pPr>
              <a:lnSpc>
                <a:spcPct val="130000"/>
              </a:lnSpc>
            </a:pPr>
            <a:r>
              <a:rPr lang="en-US" sz="1350" b="1" dirty="0">
                <a:solidFill>
                  <a:srgbClr val="1D1D1D"/>
                </a:solidFill>
                <a:latin typeface="Liter" pitchFamily="34" charset="0"/>
                <a:ea typeface="Liter" pitchFamily="34" charset="-122"/>
                <a:cs typeface="Liter" pitchFamily="34" charset="-120"/>
              </a:rPr>
              <a:t>No Quantifiable Data</a:t>
            </a:r>
            <a:endParaRPr lang="en-US" sz="1600" dirty="0"/>
          </a:p>
        </p:txBody>
      </p:sp>
      <p:sp>
        <p:nvSpPr>
          <p:cNvPr id="32" name="Text 30"/>
          <p:cNvSpPr/>
          <p:nvPr/>
        </p:nvSpPr>
        <p:spPr>
          <a:xfrm>
            <a:off x="990600" y="4767126"/>
            <a:ext cx="5029200" cy="495300"/>
          </a:xfrm>
          <a:prstGeom prst="rect">
            <a:avLst/>
          </a:prstGeom>
          <a:noFill/>
          <a:ln/>
        </p:spPr>
        <p:txBody>
          <a:bodyPr wrap="square" lIns="0" tIns="0" rIns="0" bIns="0" rtlCol="0" anchor="ctr"/>
          <a:lstStyle/>
          <a:p>
            <a:pPr>
              <a:lnSpc>
                <a:spcPct val="140000"/>
              </a:lnSpc>
            </a:pPr>
            <a:r>
              <a:rPr lang="en-US" sz="1200" dirty="0">
                <a:solidFill>
                  <a:srgbClr val="86868B"/>
                </a:solidFill>
                <a:latin typeface="Liter" pitchFamily="34" charset="0"/>
                <a:ea typeface="Liter" pitchFamily="34" charset="-122"/>
                <a:cs typeface="Liter" pitchFamily="34" charset="-120"/>
              </a:rPr>
              <a:t>Statements without numbers lack credibility. Include measurable aspects to demonstrate scale and impact.</a:t>
            </a:r>
            <a:endParaRPr lang="en-US" sz="1600" dirty="0"/>
          </a:p>
        </p:txBody>
      </p:sp>
      <p:sp>
        <p:nvSpPr>
          <p:cNvPr id="37" name="Shape 35"/>
          <p:cNvSpPr/>
          <p:nvPr/>
        </p:nvSpPr>
        <p:spPr>
          <a:xfrm>
            <a:off x="381000" y="6093280"/>
            <a:ext cx="11430000" cy="5443"/>
          </a:xfrm>
          <a:custGeom>
            <a:avLst/>
            <a:gdLst/>
            <a:ahLst/>
            <a:cxnLst/>
            <a:rect l="l" t="t" r="r" b="b"/>
            <a:pathLst>
              <a:path w="11430000" h="5443">
                <a:moveTo>
                  <a:pt x="0" y="0"/>
                </a:moveTo>
                <a:lnTo>
                  <a:pt x="11430000" y="0"/>
                </a:lnTo>
                <a:lnTo>
                  <a:pt x="11430000" y="5443"/>
                </a:lnTo>
                <a:lnTo>
                  <a:pt x="0" y="5443"/>
                </a:lnTo>
                <a:lnTo>
                  <a:pt x="0" y="0"/>
                </a:lnTo>
                <a:close/>
              </a:path>
            </a:pathLst>
          </a:custGeom>
          <a:solidFill>
            <a:srgbClr val="E5E5E5"/>
          </a:solidFill>
          <a:ln/>
        </p:spPr>
        <p:txBody>
          <a:bodyPr/>
          <a:lstStyle/>
          <a:p>
            <a:endParaRPr lang="en-US"/>
          </a:p>
        </p:txBody>
      </p:sp>
      <p:sp>
        <p:nvSpPr>
          <p:cNvPr id="38" name="Shape 36"/>
          <p:cNvSpPr/>
          <p:nvPr/>
        </p:nvSpPr>
        <p:spPr>
          <a:xfrm>
            <a:off x="400050" y="6286500"/>
            <a:ext cx="152400" cy="152400"/>
          </a:xfrm>
          <a:custGeom>
            <a:avLst/>
            <a:gdLst/>
            <a:ahLst/>
            <a:cxnLst/>
            <a:rect l="l" t="t" r="r" b="b"/>
            <a:pathLst>
              <a:path w="152400" h="152400">
                <a:moveTo>
                  <a:pt x="76200" y="0"/>
                </a:moveTo>
                <a:cubicBezTo>
                  <a:pt x="77569" y="0"/>
                  <a:pt x="78938" y="298"/>
                  <a:pt x="80189" y="863"/>
                </a:cubicBezTo>
                <a:lnTo>
                  <a:pt x="136267" y="24646"/>
                </a:lnTo>
                <a:cubicBezTo>
                  <a:pt x="142815" y="27414"/>
                  <a:pt x="147697" y="33873"/>
                  <a:pt x="147667" y="41672"/>
                </a:cubicBezTo>
                <a:cubicBezTo>
                  <a:pt x="147518" y="71199"/>
                  <a:pt x="135374" y="125224"/>
                  <a:pt x="84088" y="149781"/>
                </a:cubicBezTo>
                <a:cubicBezTo>
                  <a:pt x="79117" y="152162"/>
                  <a:pt x="73343" y="152162"/>
                  <a:pt x="68372" y="149781"/>
                </a:cubicBezTo>
                <a:cubicBezTo>
                  <a:pt x="17056" y="125224"/>
                  <a:pt x="4941" y="71199"/>
                  <a:pt x="4792" y="41672"/>
                </a:cubicBezTo>
                <a:cubicBezTo>
                  <a:pt x="4762" y="33873"/>
                  <a:pt x="9644" y="27414"/>
                  <a:pt x="16192" y="24646"/>
                </a:cubicBezTo>
                <a:lnTo>
                  <a:pt x="72241" y="863"/>
                </a:lnTo>
                <a:cubicBezTo>
                  <a:pt x="73491" y="298"/>
                  <a:pt x="74831" y="0"/>
                  <a:pt x="76200" y="0"/>
                </a:cubicBezTo>
                <a:close/>
                <a:moveTo>
                  <a:pt x="76200" y="19883"/>
                </a:moveTo>
                <a:lnTo>
                  <a:pt x="76200" y="132427"/>
                </a:lnTo>
                <a:cubicBezTo>
                  <a:pt x="117277" y="112544"/>
                  <a:pt x="128320" y="68491"/>
                  <a:pt x="128588" y="42118"/>
                </a:cubicBezTo>
                <a:lnTo>
                  <a:pt x="76200" y="19913"/>
                </a:lnTo>
                <a:lnTo>
                  <a:pt x="76200" y="19913"/>
                </a:lnTo>
                <a:close/>
              </a:path>
            </a:pathLst>
          </a:custGeom>
          <a:solidFill>
            <a:srgbClr val="1D1D1D"/>
          </a:solidFill>
          <a:ln/>
        </p:spPr>
        <p:txBody>
          <a:bodyPr/>
          <a:lstStyle/>
          <a:p>
            <a:endParaRPr lang="en-US"/>
          </a:p>
        </p:txBody>
      </p:sp>
      <p:sp>
        <p:nvSpPr>
          <p:cNvPr id="39" name="Text 37"/>
          <p:cNvSpPr/>
          <p:nvPr/>
        </p:nvSpPr>
        <p:spPr>
          <a:xfrm>
            <a:off x="628650" y="6248400"/>
            <a:ext cx="11258550" cy="228600"/>
          </a:xfrm>
          <a:prstGeom prst="rect">
            <a:avLst/>
          </a:prstGeom>
          <a:noFill/>
          <a:ln/>
        </p:spPr>
        <p:txBody>
          <a:bodyPr wrap="square" lIns="0" tIns="0" rIns="0" bIns="0" rtlCol="0" anchor="ctr"/>
          <a:lstStyle/>
          <a:p>
            <a:pPr>
              <a:lnSpc>
                <a:spcPct val="130000"/>
              </a:lnSpc>
            </a:pPr>
            <a:r>
              <a:rPr lang="en-US" sz="1200" b="1" dirty="0">
                <a:solidFill>
                  <a:srgbClr val="1D1D1D"/>
                </a:solidFill>
                <a:latin typeface="Liter" pitchFamily="34" charset="0"/>
                <a:ea typeface="Liter" pitchFamily="34" charset="-122"/>
                <a:cs typeface="Liter" pitchFamily="34" charset="-120"/>
              </a:rPr>
              <a:t>Prevention:</a:t>
            </a:r>
            <a:r>
              <a:rPr lang="en-US" sz="1200" dirty="0">
                <a:solidFill>
                  <a:srgbClr val="86868B"/>
                </a:solidFill>
                <a:latin typeface="Liter" pitchFamily="34" charset="0"/>
                <a:ea typeface="Liter" pitchFamily="34" charset="-122"/>
                <a:cs typeface="Liter" pitchFamily="34" charset="-120"/>
              </a:rPr>
              <a:t> </a:t>
            </a:r>
            <a:r>
              <a:rPr lang="en-US" sz="1200" dirty="0">
                <a:solidFill>
                  <a:schemeClr val="accent5"/>
                </a:solidFill>
                <a:latin typeface="Liter" pitchFamily="34" charset="0"/>
                <a:ea typeface="Liter" pitchFamily="34" charset="-122"/>
                <a:cs typeface="Liter" pitchFamily="34" charset="-120"/>
              </a:rPr>
              <a:t>Review your statement against this checklist before finalizing. Awareness is the first step to avoidance.</a:t>
            </a:r>
            <a:endParaRPr lang="en-US" sz="1600" dirty="0">
              <a:solidFill>
                <a:schemeClr val="accent5"/>
              </a:solidFill>
            </a:endParaRP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name="Slide 13">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353391" y="353391"/>
            <a:ext cx="11547061" cy="176696"/>
          </a:xfrm>
          <a:prstGeom prst="rect">
            <a:avLst/>
          </a:prstGeom>
          <a:noFill/>
          <a:ln/>
        </p:spPr>
        <p:txBody>
          <a:bodyPr wrap="square" lIns="0" tIns="0" rIns="0" bIns="0" rtlCol="0" anchor="ctr"/>
          <a:lstStyle/>
          <a:p>
            <a:pPr>
              <a:lnSpc>
                <a:spcPct val="120000"/>
              </a:lnSpc>
            </a:pPr>
            <a:r>
              <a:rPr lang="en-US" sz="974" b="1" kern="0" spc="97" dirty="0">
                <a:solidFill>
                  <a:srgbClr val="86868B"/>
                </a:solidFill>
                <a:latin typeface="Liter" pitchFamily="34" charset="0"/>
                <a:ea typeface="Liter" pitchFamily="34" charset="-122"/>
                <a:cs typeface="Liter" pitchFamily="34" charset="-120"/>
              </a:rPr>
              <a:t>TOOLS</a:t>
            </a:r>
            <a:endParaRPr lang="en-US" sz="1600" dirty="0"/>
          </a:p>
        </p:txBody>
      </p:sp>
      <p:sp>
        <p:nvSpPr>
          <p:cNvPr id="3" name="Text 1"/>
          <p:cNvSpPr/>
          <p:nvPr/>
        </p:nvSpPr>
        <p:spPr>
          <a:xfrm>
            <a:off x="353391" y="636104"/>
            <a:ext cx="11697252" cy="424070"/>
          </a:xfrm>
          <a:prstGeom prst="rect">
            <a:avLst/>
          </a:prstGeom>
          <a:noFill/>
          <a:ln/>
        </p:spPr>
        <p:txBody>
          <a:bodyPr wrap="square" lIns="0" tIns="0" rIns="0" bIns="0" rtlCol="0" anchor="ctr"/>
          <a:lstStyle/>
          <a:p>
            <a:pPr>
              <a:lnSpc>
                <a:spcPct val="80000"/>
              </a:lnSpc>
            </a:pPr>
            <a:r>
              <a:rPr lang="en-US" sz="3339" b="1" dirty="0">
                <a:solidFill>
                  <a:srgbClr val="1D1D1D"/>
                </a:solidFill>
                <a:latin typeface="Liter" pitchFamily="34" charset="0"/>
                <a:ea typeface="Liter" pitchFamily="34" charset="-122"/>
                <a:cs typeface="Liter" pitchFamily="34" charset="-120"/>
              </a:rPr>
              <a:t>Templates to Get You Started</a:t>
            </a:r>
            <a:endParaRPr lang="en-US" sz="1600" dirty="0"/>
          </a:p>
        </p:txBody>
      </p:sp>
      <p:sp>
        <p:nvSpPr>
          <p:cNvPr id="4" name="Text 2"/>
          <p:cNvSpPr/>
          <p:nvPr/>
        </p:nvSpPr>
        <p:spPr>
          <a:xfrm>
            <a:off x="353391" y="1342887"/>
            <a:ext cx="11573565" cy="291548"/>
          </a:xfrm>
          <a:prstGeom prst="rect">
            <a:avLst/>
          </a:prstGeom>
          <a:noFill/>
          <a:ln/>
        </p:spPr>
        <p:txBody>
          <a:bodyPr wrap="square" lIns="0" tIns="0" rIns="0" bIns="0" rtlCol="0" anchor="ctr"/>
          <a:lstStyle/>
          <a:p>
            <a:pPr>
              <a:lnSpc>
                <a:spcPct val="140000"/>
              </a:lnSpc>
            </a:pPr>
            <a:r>
              <a:rPr lang="en-US" sz="1391" dirty="0">
                <a:solidFill>
                  <a:srgbClr val="86868B"/>
                </a:solidFill>
                <a:latin typeface="Liter" pitchFamily="34" charset="0"/>
                <a:ea typeface="Liter" pitchFamily="34" charset="-122"/>
                <a:cs typeface="Liter" pitchFamily="34" charset="-120"/>
              </a:rPr>
              <a:t>Use these </a:t>
            </a:r>
            <a:r>
              <a:rPr lang="en-US" sz="1391" b="1" dirty="0">
                <a:solidFill>
                  <a:srgbClr val="1D1D1D"/>
                </a:solidFill>
                <a:latin typeface="Liter" pitchFamily="34" charset="0"/>
                <a:ea typeface="Liter" pitchFamily="34" charset="-122"/>
                <a:cs typeface="Liter" pitchFamily="34" charset="-120"/>
              </a:rPr>
              <a:t>practical templates</a:t>
            </a:r>
            <a:r>
              <a:rPr lang="en-US" sz="1391" dirty="0">
                <a:solidFill>
                  <a:srgbClr val="86868B"/>
                </a:solidFill>
                <a:latin typeface="Liter" pitchFamily="34" charset="0"/>
                <a:ea typeface="Liter" pitchFamily="34" charset="-122"/>
                <a:cs typeface="Liter" pitchFamily="34" charset="-120"/>
              </a:rPr>
              <a:t> as starting points. Customize them to fit your specific context and needs.</a:t>
            </a:r>
            <a:endParaRPr lang="en-US" sz="1600" dirty="0"/>
          </a:p>
        </p:txBody>
      </p:sp>
      <p:sp>
        <p:nvSpPr>
          <p:cNvPr id="5" name="Shape 3"/>
          <p:cNvSpPr/>
          <p:nvPr/>
        </p:nvSpPr>
        <p:spPr>
          <a:xfrm>
            <a:off x="371061" y="2062844"/>
            <a:ext cx="35339" cy="1678609"/>
          </a:xfrm>
          <a:custGeom>
            <a:avLst/>
            <a:gdLst/>
            <a:ahLst/>
            <a:cxnLst/>
            <a:rect l="l" t="t" r="r" b="b"/>
            <a:pathLst>
              <a:path w="35339" h="1678609">
                <a:moveTo>
                  <a:pt x="0" y="0"/>
                </a:moveTo>
                <a:lnTo>
                  <a:pt x="35339" y="0"/>
                </a:lnTo>
                <a:lnTo>
                  <a:pt x="35339" y="1678609"/>
                </a:lnTo>
                <a:lnTo>
                  <a:pt x="0" y="1678609"/>
                </a:lnTo>
                <a:lnTo>
                  <a:pt x="0" y="0"/>
                </a:lnTo>
                <a:close/>
              </a:path>
            </a:pathLst>
          </a:custGeom>
          <a:solidFill>
            <a:srgbClr val="1D1D1D"/>
          </a:solidFill>
          <a:ln/>
        </p:spPr>
        <p:txBody>
          <a:bodyPr/>
          <a:lstStyle/>
          <a:p>
            <a:endParaRPr lang="en-US"/>
          </a:p>
        </p:txBody>
      </p:sp>
      <p:sp>
        <p:nvSpPr>
          <p:cNvPr id="6" name="Shape 4"/>
          <p:cNvSpPr/>
          <p:nvPr/>
        </p:nvSpPr>
        <p:spPr>
          <a:xfrm>
            <a:off x="671443" y="2062844"/>
            <a:ext cx="494748" cy="494748"/>
          </a:xfrm>
          <a:custGeom>
            <a:avLst/>
            <a:gdLst/>
            <a:ahLst/>
            <a:cxnLst/>
            <a:rect l="l" t="t" r="r" b="b"/>
            <a:pathLst>
              <a:path w="494748" h="494748">
                <a:moveTo>
                  <a:pt x="247374" y="0"/>
                </a:moveTo>
                <a:lnTo>
                  <a:pt x="247374" y="0"/>
                </a:lnTo>
                <a:cubicBezTo>
                  <a:pt x="383903" y="0"/>
                  <a:pt x="494748" y="110845"/>
                  <a:pt x="494748" y="247374"/>
                </a:cubicBezTo>
                <a:lnTo>
                  <a:pt x="494748" y="247374"/>
                </a:lnTo>
                <a:cubicBezTo>
                  <a:pt x="494748" y="383903"/>
                  <a:pt x="383903" y="494748"/>
                  <a:pt x="247374" y="494748"/>
                </a:cubicBezTo>
                <a:lnTo>
                  <a:pt x="247374" y="494748"/>
                </a:lnTo>
                <a:cubicBezTo>
                  <a:pt x="110845" y="494748"/>
                  <a:pt x="0" y="383903"/>
                  <a:pt x="0" y="247374"/>
                </a:cubicBezTo>
                <a:lnTo>
                  <a:pt x="0" y="247374"/>
                </a:lnTo>
                <a:cubicBezTo>
                  <a:pt x="0" y="110845"/>
                  <a:pt x="110845" y="0"/>
                  <a:pt x="247374" y="0"/>
                </a:cubicBezTo>
                <a:close/>
              </a:path>
            </a:pathLst>
          </a:custGeom>
          <a:solidFill>
            <a:srgbClr val="1D1D1D"/>
          </a:solidFill>
          <a:ln/>
        </p:spPr>
        <p:txBody>
          <a:bodyPr/>
          <a:lstStyle/>
          <a:p>
            <a:endParaRPr lang="en-US"/>
          </a:p>
        </p:txBody>
      </p:sp>
      <p:sp>
        <p:nvSpPr>
          <p:cNvPr id="7" name="Text 5"/>
          <p:cNvSpPr/>
          <p:nvPr/>
        </p:nvSpPr>
        <p:spPr>
          <a:xfrm>
            <a:off x="618435" y="2062844"/>
            <a:ext cx="600765" cy="494748"/>
          </a:xfrm>
          <a:prstGeom prst="rect">
            <a:avLst/>
          </a:prstGeom>
          <a:noFill/>
          <a:ln/>
        </p:spPr>
        <p:txBody>
          <a:bodyPr wrap="square" lIns="0" tIns="0" rIns="0" bIns="0" rtlCol="0" anchor="ctr"/>
          <a:lstStyle/>
          <a:p>
            <a:pPr algn="ctr">
              <a:lnSpc>
                <a:spcPct val="110000"/>
              </a:lnSpc>
            </a:pPr>
            <a:r>
              <a:rPr lang="en-US" sz="1670" b="1" dirty="0">
                <a:solidFill>
                  <a:srgbClr val="FFFFFF"/>
                </a:solidFill>
                <a:latin typeface="Liter" pitchFamily="34" charset="0"/>
                <a:ea typeface="Liter" pitchFamily="34" charset="-122"/>
                <a:cs typeface="Liter" pitchFamily="34" charset="-120"/>
              </a:rPr>
              <a:t>1</a:t>
            </a:r>
            <a:endParaRPr lang="en-US" sz="1600" dirty="0"/>
          </a:p>
        </p:txBody>
      </p:sp>
      <p:sp>
        <p:nvSpPr>
          <p:cNvPr id="8" name="Text 6"/>
          <p:cNvSpPr/>
          <p:nvPr/>
        </p:nvSpPr>
        <p:spPr>
          <a:xfrm>
            <a:off x="1307548" y="2168861"/>
            <a:ext cx="3021496" cy="282713"/>
          </a:xfrm>
          <a:prstGeom prst="rect">
            <a:avLst/>
          </a:prstGeom>
          <a:noFill/>
          <a:ln/>
        </p:spPr>
        <p:txBody>
          <a:bodyPr wrap="square" lIns="0" tIns="0" rIns="0" bIns="0" rtlCol="0" anchor="ctr"/>
          <a:lstStyle/>
          <a:p>
            <a:pPr>
              <a:lnSpc>
                <a:spcPct val="110000"/>
              </a:lnSpc>
            </a:pPr>
            <a:r>
              <a:rPr lang="en-US" sz="1670" b="1" dirty="0">
                <a:solidFill>
                  <a:srgbClr val="1D1D1D"/>
                </a:solidFill>
                <a:latin typeface="Liter" pitchFamily="34" charset="0"/>
                <a:ea typeface="Liter" pitchFamily="34" charset="-122"/>
                <a:cs typeface="Liter" pitchFamily="34" charset="-120"/>
              </a:rPr>
              <a:t>Template 1: Customer-Focused</a:t>
            </a:r>
            <a:endParaRPr lang="en-US" sz="1600" dirty="0"/>
          </a:p>
        </p:txBody>
      </p:sp>
      <p:sp>
        <p:nvSpPr>
          <p:cNvPr id="9" name="Shape 7"/>
          <p:cNvSpPr/>
          <p:nvPr/>
        </p:nvSpPr>
        <p:spPr>
          <a:xfrm>
            <a:off x="673968" y="2701473"/>
            <a:ext cx="11154544" cy="685327"/>
          </a:xfrm>
          <a:custGeom>
            <a:avLst/>
            <a:gdLst/>
            <a:ahLst/>
            <a:cxnLst/>
            <a:rect l="l" t="t" r="r" b="b"/>
            <a:pathLst>
              <a:path w="11154544" h="685327">
                <a:moveTo>
                  <a:pt x="70678" y="0"/>
                </a:moveTo>
                <a:lnTo>
                  <a:pt x="11083866" y="0"/>
                </a:lnTo>
                <a:cubicBezTo>
                  <a:pt x="11122901" y="0"/>
                  <a:pt x="11154544" y="31644"/>
                  <a:pt x="11154544" y="70678"/>
                </a:cubicBezTo>
                <a:lnTo>
                  <a:pt x="11154544" y="614649"/>
                </a:lnTo>
                <a:cubicBezTo>
                  <a:pt x="11154544" y="653683"/>
                  <a:pt x="11122901" y="685327"/>
                  <a:pt x="11083866" y="685327"/>
                </a:cubicBezTo>
                <a:lnTo>
                  <a:pt x="70678" y="685327"/>
                </a:lnTo>
                <a:cubicBezTo>
                  <a:pt x="31644" y="685327"/>
                  <a:pt x="0" y="653683"/>
                  <a:pt x="0" y="614649"/>
                </a:cubicBezTo>
                <a:lnTo>
                  <a:pt x="0" y="70678"/>
                </a:lnTo>
                <a:cubicBezTo>
                  <a:pt x="0" y="31644"/>
                  <a:pt x="31644" y="0"/>
                  <a:pt x="70678" y="0"/>
                </a:cubicBezTo>
                <a:close/>
              </a:path>
            </a:pathLst>
          </a:custGeom>
          <a:solidFill>
            <a:srgbClr val="FFFFFF"/>
          </a:solidFill>
          <a:ln w="7257">
            <a:solidFill>
              <a:srgbClr val="E5E5E5"/>
            </a:solidFill>
            <a:prstDash val="solid"/>
          </a:ln>
        </p:spPr>
        <p:txBody>
          <a:bodyPr/>
          <a:lstStyle/>
          <a:p>
            <a:endParaRPr lang="en-US"/>
          </a:p>
        </p:txBody>
      </p:sp>
      <p:sp>
        <p:nvSpPr>
          <p:cNvPr id="10" name="Text 8"/>
          <p:cNvSpPr/>
          <p:nvPr/>
        </p:nvSpPr>
        <p:spPr>
          <a:xfrm>
            <a:off x="888527" y="2916030"/>
            <a:ext cx="10804939" cy="256209"/>
          </a:xfrm>
          <a:prstGeom prst="rect">
            <a:avLst/>
          </a:prstGeom>
          <a:noFill/>
          <a:ln/>
        </p:spPr>
        <p:txBody>
          <a:bodyPr wrap="square" lIns="0" tIns="0" rIns="0" bIns="0" rtlCol="0" anchor="ctr"/>
          <a:lstStyle/>
          <a:p>
            <a:pPr>
              <a:lnSpc>
                <a:spcPct val="140000"/>
              </a:lnSpc>
            </a:pPr>
            <a:r>
              <a:rPr lang="en-US" sz="1252" dirty="0">
                <a:solidFill>
                  <a:srgbClr val="1D1D1D"/>
                </a:solidFill>
                <a:latin typeface="Liter" pitchFamily="34" charset="0"/>
                <a:ea typeface="Liter" pitchFamily="34" charset="-122"/>
                <a:cs typeface="Liter" pitchFamily="34" charset="-120"/>
              </a:rPr>
              <a:t>"</a:t>
            </a:r>
            <a:r>
              <a:rPr lang="en-US" sz="1252" dirty="0">
                <a:solidFill>
                  <a:schemeClr val="accent5"/>
                </a:solidFill>
                <a:latin typeface="Liter" pitchFamily="34" charset="0"/>
                <a:ea typeface="Liter" pitchFamily="34" charset="-122"/>
                <a:cs typeface="Liter" pitchFamily="34" charset="-120"/>
              </a:rPr>
              <a:t>Our</a:t>
            </a:r>
            <a:r>
              <a:rPr lang="en-US" sz="1252" dirty="0">
                <a:solidFill>
                  <a:srgbClr val="1D1D1D"/>
                </a:solidFill>
                <a:latin typeface="Liter" pitchFamily="34" charset="0"/>
                <a:ea typeface="Liter" pitchFamily="34" charset="-122"/>
                <a:cs typeface="Liter" pitchFamily="34" charset="-120"/>
              </a:rPr>
              <a:t> </a:t>
            </a:r>
            <a:r>
              <a:rPr lang="en-US" sz="1252" dirty="0">
                <a:solidFill>
                  <a:srgbClr val="1D1D1D"/>
                </a:solidFill>
                <a:highlight>
                  <a:srgbClr val="E5E5E5">
                    <a:alpha val="100000"/>
                  </a:srgbClr>
                </a:highlight>
                <a:latin typeface="Liter" pitchFamily="34" charset="0"/>
                <a:ea typeface="Liter" pitchFamily="34" charset="-122"/>
                <a:cs typeface="Liter" pitchFamily="34" charset="-120"/>
              </a:rPr>
              <a:t>[client/customer] </a:t>
            </a:r>
            <a:r>
              <a:rPr lang="en-US" sz="1252" dirty="0">
                <a:solidFill>
                  <a:schemeClr val="accent5"/>
                </a:solidFill>
                <a:latin typeface="Liter" pitchFamily="34" charset="0"/>
                <a:ea typeface="Liter" pitchFamily="34" charset="-122"/>
                <a:cs typeface="Liter" pitchFamily="34" charset="-120"/>
              </a:rPr>
              <a:t>experiences</a:t>
            </a:r>
            <a:r>
              <a:rPr lang="en-US" sz="1252" dirty="0">
                <a:solidFill>
                  <a:srgbClr val="1D1D1D"/>
                </a:solidFill>
                <a:latin typeface="Liter" pitchFamily="34" charset="0"/>
                <a:ea typeface="Liter" pitchFamily="34" charset="-122"/>
                <a:cs typeface="Liter" pitchFamily="34" charset="-120"/>
              </a:rPr>
              <a:t> </a:t>
            </a:r>
            <a:r>
              <a:rPr lang="en-US" sz="1252" dirty="0">
                <a:solidFill>
                  <a:srgbClr val="1D1D1D"/>
                </a:solidFill>
                <a:highlight>
                  <a:srgbClr val="E5E5E5">
                    <a:alpha val="100000"/>
                  </a:srgbClr>
                </a:highlight>
                <a:latin typeface="Liter" pitchFamily="34" charset="0"/>
                <a:ea typeface="Liter" pitchFamily="34" charset="-122"/>
                <a:cs typeface="Liter" pitchFamily="34" charset="-120"/>
              </a:rPr>
              <a:t>[problem] </a:t>
            </a:r>
            <a:r>
              <a:rPr lang="en-US" sz="1252" dirty="0">
                <a:solidFill>
                  <a:schemeClr val="accent5"/>
                </a:solidFill>
                <a:latin typeface="Liter" pitchFamily="34" charset="0"/>
                <a:ea typeface="Liter" pitchFamily="34" charset="-122"/>
                <a:cs typeface="Liter" pitchFamily="34" charset="-120"/>
              </a:rPr>
              <a:t>when</a:t>
            </a:r>
            <a:r>
              <a:rPr lang="en-US" sz="1252" dirty="0">
                <a:solidFill>
                  <a:srgbClr val="1D1D1D"/>
                </a:solidFill>
                <a:latin typeface="Liter" pitchFamily="34" charset="0"/>
                <a:ea typeface="Liter" pitchFamily="34" charset="-122"/>
                <a:cs typeface="Liter" pitchFamily="34" charset="-120"/>
              </a:rPr>
              <a:t> </a:t>
            </a:r>
            <a:r>
              <a:rPr lang="en-US" sz="1252" dirty="0">
                <a:solidFill>
                  <a:srgbClr val="1D1D1D"/>
                </a:solidFill>
                <a:highlight>
                  <a:srgbClr val="E5E5E5">
                    <a:alpha val="100000"/>
                  </a:srgbClr>
                </a:highlight>
                <a:latin typeface="Liter" pitchFamily="34" charset="0"/>
                <a:ea typeface="Liter" pitchFamily="34" charset="-122"/>
                <a:cs typeface="Liter" pitchFamily="34" charset="-120"/>
              </a:rPr>
              <a:t>[context] </a:t>
            </a:r>
            <a:r>
              <a:rPr lang="en-US" sz="1252" dirty="0">
                <a:solidFill>
                  <a:srgbClr val="1D1D1D"/>
                </a:solidFill>
                <a:latin typeface="Liter" pitchFamily="34" charset="0"/>
                <a:ea typeface="Liter" pitchFamily="34" charset="-122"/>
                <a:cs typeface="Liter" pitchFamily="34" charset="-120"/>
              </a:rPr>
              <a:t>, </a:t>
            </a:r>
            <a:r>
              <a:rPr lang="en-US" sz="1252" dirty="0">
                <a:solidFill>
                  <a:schemeClr val="accent5"/>
                </a:solidFill>
                <a:latin typeface="Liter" pitchFamily="34" charset="0"/>
                <a:ea typeface="Liter" pitchFamily="34" charset="-122"/>
                <a:cs typeface="Liter" pitchFamily="34" charset="-120"/>
              </a:rPr>
              <a:t>resulting in </a:t>
            </a:r>
            <a:r>
              <a:rPr lang="en-US" sz="1252" dirty="0">
                <a:solidFill>
                  <a:srgbClr val="1D1D1D"/>
                </a:solidFill>
                <a:highlight>
                  <a:srgbClr val="E5E5E5">
                    <a:alpha val="100000"/>
                  </a:srgbClr>
                </a:highlight>
                <a:latin typeface="Liter" pitchFamily="34" charset="0"/>
                <a:ea typeface="Liter" pitchFamily="34" charset="-122"/>
                <a:cs typeface="Liter" pitchFamily="34" charset="-120"/>
              </a:rPr>
              <a:t>[negative impact] </a:t>
            </a:r>
            <a:r>
              <a:rPr lang="en-US" sz="1252" dirty="0">
                <a:solidFill>
                  <a:srgbClr val="1D1D1D"/>
                </a:solidFill>
                <a:latin typeface="Liter" pitchFamily="34" charset="0"/>
                <a:ea typeface="Liter" pitchFamily="34" charset="-122"/>
                <a:cs typeface="Liter" pitchFamily="34" charset="-120"/>
              </a:rPr>
              <a:t>. </a:t>
            </a:r>
            <a:r>
              <a:rPr lang="en-US" sz="1252" dirty="0">
                <a:solidFill>
                  <a:schemeClr val="accent5"/>
                </a:solidFill>
                <a:latin typeface="Liter" pitchFamily="34" charset="0"/>
                <a:ea typeface="Liter" pitchFamily="34" charset="-122"/>
                <a:cs typeface="Liter" pitchFamily="34" charset="-120"/>
              </a:rPr>
              <a:t>Addressing this problem will </a:t>
            </a:r>
            <a:r>
              <a:rPr lang="en-US" sz="1252" dirty="0">
                <a:solidFill>
                  <a:srgbClr val="1D1D1D"/>
                </a:solidFill>
                <a:highlight>
                  <a:srgbClr val="E5E5E5">
                    <a:alpha val="100000"/>
                  </a:srgbClr>
                </a:highlight>
                <a:latin typeface="Liter" pitchFamily="34" charset="0"/>
                <a:ea typeface="Liter" pitchFamily="34" charset="-122"/>
                <a:cs typeface="Liter" pitchFamily="34" charset="-120"/>
              </a:rPr>
              <a:t>[desired outcome] </a:t>
            </a:r>
            <a:r>
              <a:rPr lang="en-US" sz="1252" dirty="0">
                <a:solidFill>
                  <a:srgbClr val="1D1D1D"/>
                </a:solidFill>
                <a:latin typeface="Liter" pitchFamily="34" charset="0"/>
                <a:ea typeface="Liter" pitchFamily="34" charset="-122"/>
                <a:cs typeface="Liter" pitchFamily="34" charset="-120"/>
              </a:rPr>
              <a:t>."</a:t>
            </a:r>
            <a:endParaRPr lang="en-US" sz="1600" dirty="0"/>
          </a:p>
        </p:txBody>
      </p:sp>
      <p:sp>
        <p:nvSpPr>
          <p:cNvPr id="11" name="Text 9"/>
          <p:cNvSpPr/>
          <p:nvPr/>
        </p:nvSpPr>
        <p:spPr>
          <a:xfrm>
            <a:off x="671443" y="3532886"/>
            <a:ext cx="11237843" cy="212035"/>
          </a:xfrm>
          <a:prstGeom prst="rect">
            <a:avLst/>
          </a:prstGeom>
          <a:noFill/>
          <a:ln/>
        </p:spPr>
        <p:txBody>
          <a:bodyPr wrap="square" lIns="0" tIns="0" rIns="0" bIns="0" rtlCol="0" anchor="ctr"/>
          <a:lstStyle/>
          <a:p>
            <a:pPr>
              <a:lnSpc>
                <a:spcPct val="130000"/>
              </a:lnSpc>
            </a:pPr>
            <a:r>
              <a:rPr lang="en-US" sz="1113" b="1" dirty="0">
                <a:solidFill>
                  <a:srgbClr val="1D1D1D"/>
                </a:solidFill>
                <a:latin typeface="Liter" pitchFamily="34" charset="0"/>
                <a:ea typeface="Liter" pitchFamily="34" charset="-122"/>
                <a:cs typeface="Liter" pitchFamily="34" charset="-120"/>
              </a:rPr>
              <a:t>Best for:</a:t>
            </a:r>
            <a:r>
              <a:rPr lang="en-US" sz="1113" dirty="0">
                <a:solidFill>
                  <a:srgbClr val="86868B"/>
                </a:solidFill>
                <a:latin typeface="Liter" pitchFamily="34" charset="0"/>
                <a:ea typeface="Liter" pitchFamily="34" charset="-122"/>
                <a:cs typeface="Liter" pitchFamily="34" charset="-120"/>
              </a:rPr>
              <a:t> Customer experience issues, service problems, user experience challenges</a:t>
            </a:r>
            <a:endParaRPr lang="en-US" sz="1600" dirty="0"/>
          </a:p>
        </p:txBody>
      </p:sp>
      <p:sp>
        <p:nvSpPr>
          <p:cNvPr id="12" name="Shape 10"/>
          <p:cNvSpPr/>
          <p:nvPr/>
        </p:nvSpPr>
        <p:spPr>
          <a:xfrm>
            <a:off x="371061" y="4027634"/>
            <a:ext cx="35339" cy="1943652"/>
          </a:xfrm>
          <a:custGeom>
            <a:avLst/>
            <a:gdLst/>
            <a:ahLst/>
            <a:cxnLst/>
            <a:rect l="l" t="t" r="r" b="b"/>
            <a:pathLst>
              <a:path w="35339" h="1943652">
                <a:moveTo>
                  <a:pt x="0" y="0"/>
                </a:moveTo>
                <a:lnTo>
                  <a:pt x="35339" y="0"/>
                </a:lnTo>
                <a:lnTo>
                  <a:pt x="35339" y="1943652"/>
                </a:lnTo>
                <a:lnTo>
                  <a:pt x="0" y="1943652"/>
                </a:lnTo>
                <a:lnTo>
                  <a:pt x="0" y="0"/>
                </a:lnTo>
                <a:close/>
              </a:path>
            </a:pathLst>
          </a:custGeom>
          <a:solidFill>
            <a:srgbClr val="1D1D1D"/>
          </a:solidFill>
          <a:ln/>
        </p:spPr>
        <p:txBody>
          <a:bodyPr/>
          <a:lstStyle/>
          <a:p>
            <a:endParaRPr lang="en-US"/>
          </a:p>
        </p:txBody>
      </p:sp>
      <p:sp>
        <p:nvSpPr>
          <p:cNvPr id="13" name="Shape 11"/>
          <p:cNvSpPr/>
          <p:nvPr/>
        </p:nvSpPr>
        <p:spPr>
          <a:xfrm>
            <a:off x="671443" y="4027634"/>
            <a:ext cx="494748" cy="494748"/>
          </a:xfrm>
          <a:custGeom>
            <a:avLst/>
            <a:gdLst/>
            <a:ahLst/>
            <a:cxnLst/>
            <a:rect l="l" t="t" r="r" b="b"/>
            <a:pathLst>
              <a:path w="494748" h="494748">
                <a:moveTo>
                  <a:pt x="247374" y="0"/>
                </a:moveTo>
                <a:lnTo>
                  <a:pt x="247374" y="0"/>
                </a:lnTo>
                <a:cubicBezTo>
                  <a:pt x="383903" y="0"/>
                  <a:pt x="494748" y="110845"/>
                  <a:pt x="494748" y="247374"/>
                </a:cubicBezTo>
                <a:lnTo>
                  <a:pt x="494748" y="247374"/>
                </a:lnTo>
                <a:cubicBezTo>
                  <a:pt x="494748" y="383903"/>
                  <a:pt x="383903" y="494748"/>
                  <a:pt x="247374" y="494748"/>
                </a:cubicBezTo>
                <a:lnTo>
                  <a:pt x="247374" y="494748"/>
                </a:lnTo>
                <a:cubicBezTo>
                  <a:pt x="110845" y="494748"/>
                  <a:pt x="0" y="383903"/>
                  <a:pt x="0" y="247374"/>
                </a:cubicBezTo>
                <a:lnTo>
                  <a:pt x="0" y="247374"/>
                </a:lnTo>
                <a:cubicBezTo>
                  <a:pt x="0" y="110845"/>
                  <a:pt x="110845" y="0"/>
                  <a:pt x="247374" y="0"/>
                </a:cubicBezTo>
                <a:close/>
              </a:path>
            </a:pathLst>
          </a:custGeom>
          <a:solidFill>
            <a:srgbClr val="1D1D1D"/>
          </a:solidFill>
          <a:ln/>
        </p:spPr>
        <p:txBody>
          <a:bodyPr/>
          <a:lstStyle/>
          <a:p>
            <a:endParaRPr lang="en-US"/>
          </a:p>
        </p:txBody>
      </p:sp>
      <p:sp>
        <p:nvSpPr>
          <p:cNvPr id="14" name="Text 12"/>
          <p:cNvSpPr/>
          <p:nvPr/>
        </p:nvSpPr>
        <p:spPr>
          <a:xfrm>
            <a:off x="618435" y="4027634"/>
            <a:ext cx="600765" cy="494748"/>
          </a:xfrm>
          <a:prstGeom prst="rect">
            <a:avLst/>
          </a:prstGeom>
          <a:noFill/>
          <a:ln/>
        </p:spPr>
        <p:txBody>
          <a:bodyPr wrap="square" lIns="0" tIns="0" rIns="0" bIns="0" rtlCol="0" anchor="ctr"/>
          <a:lstStyle/>
          <a:p>
            <a:pPr algn="ctr">
              <a:lnSpc>
                <a:spcPct val="110000"/>
              </a:lnSpc>
            </a:pPr>
            <a:r>
              <a:rPr lang="en-US" sz="1670" b="1" dirty="0">
                <a:solidFill>
                  <a:srgbClr val="FFFFFF"/>
                </a:solidFill>
                <a:latin typeface="Liter" pitchFamily="34" charset="0"/>
                <a:ea typeface="Liter" pitchFamily="34" charset="-122"/>
                <a:cs typeface="Liter" pitchFamily="34" charset="-120"/>
              </a:rPr>
              <a:t>2</a:t>
            </a:r>
            <a:endParaRPr lang="en-US" sz="1600" dirty="0"/>
          </a:p>
        </p:txBody>
      </p:sp>
      <p:sp>
        <p:nvSpPr>
          <p:cNvPr id="15" name="Text 13"/>
          <p:cNvSpPr/>
          <p:nvPr/>
        </p:nvSpPr>
        <p:spPr>
          <a:xfrm>
            <a:off x="1307548" y="4133652"/>
            <a:ext cx="3056835" cy="282713"/>
          </a:xfrm>
          <a:prstGeom prst="rect">
            <a:avLst/>
          </a:prstGeom>
          <a:noFill/>
          <a:ln/>
        </p:spPr>
        <p:txBody>
          <a:bodyPr wrap="square" lIns="0" tIns="0" rIns="0" bIns="0" rtlCol="0" anchor="ctr"/>
          <a:lstStyle/>
          <a:p>
            <a:pPr>
              <a:lnSpc>
                <a:spcPct val="110000"/>
              </a:lnSpc>
            </a:pPr>
            <a:r>
              <a:rPr lang="en-US" sz="1670" b="1" dirty="0">
                <a:solidFill>
                  <a:srgbClr val="1D1D1D"/>
                </a:solidFill>
                <a:latin typeface="Liter" pitchFamily="34" charset="0"/>
                <a:ea typeface="Liter" pitchFamily="34" charset="-122"/>
                <a:cs typeface="Liter" pitchFamily="34" charset="-120"/>
              </a:rPr>
              <a:t>Template 2: Observation-Based</a:t>
            </a:r>
            <a:endParaRPr lang="en-US" sz="1600" dirty="0"/>
          </a:p>
        </p:txBody>
      </p:sp>
      <p:sp>
        <p:nvSpPr>
          <p:cNvPr id="16" name="Shape 14"/>
          <p:cNvSpPr/>
          <p:nvPr/>
        </p:nvSpPr>
        <p:spPr>
          <a:xfrm>
            <a:off x="673968" y="4666263"/>
            <a:ext cx="11154544" cy="950370"/>
          </a:xfrm>
          <a:custGeom>
            <a:avLst/>
            <a:gdLst/>
            <a:ahLst/>
            <a:cxnLst/>
            <a:rect l="l" t="t" r="r" b="b"/>
            <a:pathLst>
              <a:path w="11154544" h="950370">
                <a:moveTo>
                  <a:pt x="70679" y="0"/>
                </a:moveTo>
                <a:lnTo>
                  <a:pt x="11083865" y="0"/>
                </a:lnTo>
                <a:cubicBezTo>
                  <a:pt x="11122900" y="0"/>
                  <a:pt x="11154544" y="31644"/>
                  <a:pt x="11154544" y="70679"/>
                </a:cubicBezTo>
                <a:lnTo>
                  <a:pt x="11154544" y="879691"/>
                </a:lnTo>
                <a:cubicBezTo>
                  <a:pt x="11154544" y="918726"/>
                  <a:pt x="11122900" y="950370"/>
                  <a:pt x="11083865" y="950370"/>
                </a:cubicBezTo>
                <a:lnTo>
                  <a:pt x="70679" y="950370"/>
                </a:lnTo>
                <a:cubicBezTo>
                  <a:pt x="31644" y="950370"/>
                  <a:pt x="0" y="918726"/>
                  <a:pt x="0" y="879691"/>
                </a:cubicBezTo>
                <a:lnTo>
                  <a:pt x="0" y="70679"/>
                </a:lnTo>
                <a:cubicBezTo>
                  <a:pt x="0" y="31670"/>
                  <a:pt x="31670" y="0"/>
                  <a:pt x="70679" y="0"/>
                </a:cubicBezTo>
                <a:close/>
              </a:path>
            </a:pathLst>
          </a:custGeom>
          <a:solidFill>
            <a:srgbClr val="FFFFFF"/>
          </a:solidFill>
          <a:ln w="7257">
            <a:solidFill>
              <a:srgbClr val="E5E5E5"/>
            </a:solidFill>
            <a:prstDash val="solid"/>
          </a:ln>
        </p:spPr>
        <p:txBody>
          <a:bodyPr/>
          <a:lstStyle/>
          <a:p>
            <a:endParaRPr lang="en-US"/>
          </a:p>
        </p:txBody>
      </p:sp>
      <p:sp>
        <p:nvSpPr>
          <p:cNvPr id="17" name="Text 15"/>
          <p:cNvSpPr/>
          <p:nvPr/>
        </p:nvSpPr>
        <p:spPr>
          <a:xfrm>
            <a:off x="888527" y="4880821"/>
            <a:ext cx="10804939" cy="521252"/>
          </a:xfrm>
          <a:prstGeom prst="rect">
            <a:avLst/>
          </a:prstGeom>
          <a:noFill/>
          <a:ln/>
        </p:spPr>
        <p:txBody>
          <a:bodyPr wrap="square" lIns="0" tIns="0" rIns="0" bIns="0" rtlCol="0" anchor="ctr"/>
          <a:lstStyle/>
          <a:p>
            <a:pPr>
              <a:lnSpc>
                <a:spcPct val="140000"/>
              </a:lnSpc>
            </a:pPr>
            <a:r>
              <a:rPr lang="en-US" sz="1252" dirty="0">
                <a:solidFill>
                  <a:srgbClr val="1D1D1D"/>
                </a:solidFill>
                <a:latin typeface="Liter" pitchFamily="34" charset="0"/>
                <a:ea typeface="Liter" pitchFamily="34" charset="-122"/>
                <a:cs typeface="Liter" pitchFamily="34" charset="-120"/>
              </a:rPr>
              <a:t>"</a:t>
            </a:r>
            <a:r>
              <a:rPr lang="en-US" sz="1252" dirty="0">
                <a:solidFill>
                  <a:schemeClr val="accent5"/>
                </a:solidFill>
                <a:latin typeface="Liter" pitchFamily="34" charset="0"/>
                <a:ea typeface="Liter" pitchFamily="34" charset="-122"/>
                <a:cs typeface="Liter" pitchFamily="34" charset="-120"/>
              </a:rPr>
              <a:t>We have observed </a:t>
            </a:r>
            <a:r>
              <a:rPr lang="en-US" sz="1252" dirty="0">
                <a:solidFill>
                  <a:srgbClr val="1D1D1D"/>
                </a:solidFill>
                <a:highlight>
                  <a:srgbClr val="E5E5E5">
                    <a:alpha val="100000"/>
                  </a:srgbClr>
                </a:highlight>
                <a:latin typeface="Liter" pitchFamily="34" charset="0"/>
                <a:ea typeface="Liter" pitchFamily="34" charset="-122"/>
                <a:cs typeface="Liter" pitchFamily="34" charset="-120"/>
              </a:rPr>
              <a:t>[specific issue] </a:t>
            </a:r>
            <a:r>
              <a:rPr lang="en-US" sz="1252" dirty="0">
                <a:solidFill>
                  <a:schemeClr val="accent5"/>
                </a:solidFill>
                <a:latin typeface="Liter" pitchFamily="34" charset="0"/>
                <a:ea typeface="Liter" pitchFamily="34" charset="-122"/>
                <a:cs typeface="Liter" pitchFamily="34" charset="-120"/>
              </a:rPr>
              <a:t>in</a:t>
            </a:r>
            <a:r>
              <a:rPr lang="en-US" sz="1252" dirty="0">
                <a:solidFill>
                  <a:srgbClr val="1D1D1D"/>
                </a:solidFill>
                <a:latin typeface="Liter" pitchFamily="34" charset="0"/>
                <a:ea typeface="Liter" pitchFamily="34" charset="-122"/>
                <a:cs typeface="Liter" pitchFamily="34" charset="-120"/>
              </a:rPr>
              <a:t> </a:t>
            </a:r>
            <a:r>
              <a:rPr lang="en-US" sz="1252" dirty="0">
                <a:solidFill>
                  <a:srgbClr val="1D1D1D"/>
                </a:solidFill>
                <a:highlight>
                  <a:srgbClr val="E5E5E5">
                    <a:alpha val="100000"/>
                  </a:srgbClr>
                </a:highlight>
                <a:latin typeface="Liter" pitchFamily="34" charset="0"/>
                <a:ea typeface="Liter" pitchFamily="34" charset="-122"/>
                <a:cs typeface="Liter" pitchFamily="34" charset="-120"/>
              </a:rPr>
              <a:t>[context/situation] </a:t>
            </a:r>
            <a:r>
              <a:rPr lang="en-US" sz="1252" dirty="0">
                <a:solidFill>
                  <a:srgbClr val="1D1D1D"/>
                </a:solidFill>
                <a:latin typeface="Liter" pitchFamily="34" charset="0"/>
                <a:ea typeface="Liter" pitchFamily="34" charset="-122"/>
                <a:cs typeface="Liter" pitchFamily="34" charset="-120"/>
              </a:rPr>
              <a:t>, </a:t>
            </a:r>
            <a:r>
              <a:rPr lang="en-US" sz="1252" dirty="0">
                <a:solidFill>
                  <a:schemeClr val="accent5"/>
                </a:solidFill>
                <a:latin typeface="Liter" pitchFamily="34" charset="0"/>
                <a:ea typeface="Liter" pitchFamily="34" charset="-122"/>
                <a:cs typeface="Liter" pitchFamily="34" charset="-120"/>
              </a:rPr>
              <a:t>causing</a:t>
            </a:r>
            <a:r>
              <a:rPr lang="en-US" sz="1252" dirty="0">
                <a:solidFill>
                  <a:srgbClr val="1D1D1D"/>
                </a:solidFill>
                <a:latin typeface="Liter" pitchFamily="34" charset="0"/>
                <a:ea typeface="Liter" pitchFamily="34" charset="-122"/>
                <a:cs typeface="Liter" pitchFamily="34" charset="-120"/>
              </a:rPr>
              <a:t> </a:t>
            </a:r>
            <a:r>
              <a:rPr lang="en-US" sz="1252" dirty="0">
                <a:solidFill>
                  <a:srgbClr val="1D1D1D"/>
                </a:solidFill>
                <a:highlight>
                  <a:srgbClr val="E5E5E5">
                    <a:alpha val="100000"/>
                  </a:srgbClr>
                </a:highlight>
                <a:latin typeface="Liter" pitchFamily="34" charset="0"/>
                <a:ea typeface="Liter" pitchFamily="34" charset="-122"/>
                <a:cs typeface="Liter" pitchFamily="34" charset="-120"/>
              </a:rPr>
              <a:t>[unwanted result] </a:t>
            </a:r>
            <a:r>
              <a:rPr lang="en-US" sz="1252" dirty="0">
                <a:solidFill>
                  <a:srgbClr val="1D1D1D"/>
                </a:solidFill>
                <a:latin typeface="Liter" pitchFamily="34" charset="0"/>
                <a:ea typeface="Liter" pitchFamily="34" charset="-122"/>
                <a:cs typeface="Liter" pitchFamily="34" charset="-120"/>
              </a:rPr>
              <a:t>. </a:t>
            </a:r>
            <a:r>
              <a:rPr lang="en-US" sz="1252" dirty="0">
                <a:solidFill>
                  <a:schemeClr val="accent5"/>
                </a:solidFill>
                <a:latin typeface="Liter" pitchFamily="34" charset="0"/>
                <a:ea typeface="Liter" pitchFamily="34" charset="-122"/>
                <a:cs typeface="Liter" pitchFamily="34" charset="-120"/>
              </a:rPr>
              <a:t>Eliminating this obstacle could lead to </a:t>
            </a:r>
            <a:r>
              <a:rPr lang="en-US" sz="1252" dirty="0">
                <a:solidFill>
                  <a:srgbClr val="1D1D1D"/>
                </a:solidFill>
                <a:highlight>
                  <a:srgbClr val="E5E5E5">
                    <a:alpha val="100000"/>
                  </a:srgbClr>
                </a:highlight>
                <a:latin typeface="Liter" pitchFamily="34" charset="0"/>
                <a:ea typeface="Liter" pitchFamily="34" charset="-122"/>
                <a:cs typeface="Liter" pitchFamily="34" charset="-120"/>
              </a:rPr>
              <a:t>[potential benefit] </a:t>
            </a:r>
            <a:r>
              <a:rPr lang="en-US" sz="1252" dirty="0">
                <a:solidFill>
                  <a:srgbClr val="1D1D1D"/>
                </a:solidFill>
                <a:latin typeface="Liter" pitchFamily="34" charset="0"/>
                <a:ea typeface="Liter" pitchFamily="34" charset="-122"/>
                <a:cs typeface="Liter" pitchFamily="34" charset="-120"/>
              </a:rPr>
              <a:t>, </a:t>
            </a:r>
            <a:r>
              <a:rPr lang="en-US" sz="1252" dirty="0">
                <a:solidFill>
                  <a:schemeClr val="accent5"/>
                </a:solidFill>
                <a:latin typeface="Liter" pitchFamily="34" charset="0"/>
                <a:ea typeface="Liter" pitchFamily="34" charset="-122"/>
                <a:cs typeface="Liter" pitchFamily="34" charset="-120"/>
              </a:rPr>
              <a:t>improving</a:t>
            </a:r>
            <a:r>
              <a:rPr lang="en-US" sz="1252" dirty="0">
                <a:solidFill>
                  <a:srgbClr val="1D1D1D"/>
                </a:solidFill>
                <a:latin typeface="Liter" pitchFamily="34" charset="0"/>
                <a:ea typeface="Liter" pitchFamily="34" charset="-122"/>
                <a:cs typeface="Liter" pitchFamily="34" charset="-120"/>
              </a:rPr>
              <a:t> </a:t>
            </a:r>
            <a:r>
              <a:rPr lang="en-US" sz="1252" dirty="0">
                <a:solidFill>
                  <a:srgbClr val="1D1D1D"/>
                </a:solidFill>
                <a:highlight>
                  <a:srgbClr val="E5E5E5">
                    <a:alpha val="100000"/>
                  </a:srgbClr>
                </a:highlight>
                <a:latin typeface="Liter" pitchFamily="34" charset="0"/>
                <a:ea typeface="Liter" pitchFamily="34" charset="-122"/>
                <a:cs typeface="Liter" pitchFamily="34" charset="-120"/>
              </a:rPr>
              <a:t>[aspect of the project] </a:t>
            </a:r>
            <a:r>
              <a:rPr lang="en-US" sz="1252" dirty="0">
                <a:solidFill>
                  <a:srgbClr val="1D1D1D"/>
                </a:solidFill>
                <a:latin typeface="Liter" pitchFamily="34" charset="0"/>
                <a:ea typeface="Liter" pitchFamily="34" charset="-122"/>
                <a:cs typeface="Liter" pitchFamily="34" charset="-120"/>
              </a:rPr>
              <a:t>."</a:t>
            </a:r>
            <a:endParaRPr lang="en-US" sz="1600" dirty="0"/>
          </a:p>
        </p:txBody>
      </p:sp>
      <p:sp>
        <p:nvSpPr>
          <p:cNvPr id="18" name="Text 16"/>
          <p:cNvSpPr/>
          <p:nvPr/>
        </p:nvSpPr>
        <p:spPr>
          <a:xfrm>
            <a:off x="671443" y="5756102"/>
            <a:ext cx="11237843" cy="212035"/>
          </a:xfrm>
          <a:prstGeom prst="rect">
            <a:avLst/>
          </a:prstGeom>
          <a:noFill/>
          <a:ln/>
        </p:spPr>
        <p:txBody>
          <a:bodyPr wrap="square" lIns="0" tIns="0" rIns="0" bIns="0" rtlCol="0" anchor="ctr"/>
          <a:lstStyle/>
          <a:p>
            <a:pPr>
              <a:lnSpc>
                <a:spcPct val="130000"/>
              </a:lnSpc>
            </a:pPr>
            <a:r>
              <a:rPr lang="en-US" sz="1113" b="1" dirty="0">
                <a:solidFill>
                  <a:srgbClr val="1D1D1D"/>
                </a:solidFill>
                <a:latin typeface="Liter" pitchFamily="34" charset="0"/>
                <a:ea typeface="Liter" pitchFamily="34" charset="-122"/>
                <a:cs typeface="Liter" pitchFamily="34" charset="-120"/>
              </a:rPr>
              <a:t>Best for:</a:t>
            </a:r>
            <a:r>
              <a:rPr lang="en-US" sz="1113" dirty="0">
                <a:solidFill>
                  <a:srgbClr val="86868B"/>
                </a:solidFill>
                <a:latin typeface="Liter" pitchFamily="34" charset="0"/>
                <a:ea typeface="Liter" pitchFamily="34" charset="-122"/>
                <a:cs typeface="Liter" pitchFamily="34" charset="-120"/>
              </a:rPr>
              <a:t> Process inefficiencies, operational challenges, systemic issues</a:t>
            </a:r>
            <a:endParaRPr lang="en-US" sz="1600" dirty="0"/>
          </a:p>
        </p:txBody>
      </p:sp>
      <p:sp>
        <p:nvSpPr>
          <p:cNvPr id="19" name="Shape 17"/>
          <p:cNvSpPr/>
          <p:nvPr/>
        </p:nvSpPr>
        <p:spPr>
          <a:xfrm>
            <a:off x="353391" y="6332888"/>
            <a:ext cx="11485217" cy="5048"/>
          </a:xfrm>
          <a:custGeom>
            <a:avLst/>
            <a:gdLst/>
            <a:ahLst/>
            <a:cxnLst/>
            <a:rect l="l" t="t" r="r" b="b"/>
            <a:pathLst>
              <a:path w="11485217" h="5048">
                <a:moveTo>
                  <a:pt x="0" y="0"/>
                </a:moveTo>
                <a:lnTo>
                  <a:pt x="11485217" y="0"/>
                </a:lnTo>
                <a:lnTo>
                  <a:pt x="11485217" y="5048"/>
                </a:lnTo>
                <a:lnTo>
                  <a:pt x="0" y="5048"/>
                </a:lnTo>
                <a:lnTo>
                  <a:pt x="0" y="0"/>
                </a:lnTo>
                <a:close/>
              </a:path>
            </a:pathLst>
          </a:custGeom>
          <a:solidFill>
            <a:srgbClr val="E5E5E5"/>
          </a:solidFill>
          <a:ln/>
        </p:spPr>
        <p:txBody>
          <a:bodyPr/>
          <a:lstStyle/>
          <a:p>
            <a:endParaRPr lang="en-US"/>
          </a:p>
        </p:txBody>
      </p:sp>
      <p:sp>
        <p:nvSpPr>
          <p:cNvPr id="20" name="Shape 18"/>
          <p:cNvSpPr/>
          <p:nvPr/>
        </p:nvSpPr>
        <p:spPr>
          <a:xfrm>
            <a:off x="371061" y="6582784"/>
            <a:ext cx="141357" cy="141357"/>
          </a:xfrm>
          <a:custGeom>
            <a:avLst/>
            <a:gdLst/>
            <a:ahLst/>
            <a:cxnLst/>
            <a:rect l="l" t="t" r="r" b="b"/>
            <a:pathLst>
              <a:path w="141357" h="141357">
                <a:moveTo>
                  <a:pt x="110021" y="3368"/>
                </a:moveTo>
                <a:lnTo>
                  <a:pt x="85670" y="27719"/>
                </a:lnTo>
                <a:lnTo>
                  <a:pt x="113637" y="55687"/>
                </a:lnTo>
                <a:lnTo>
                  <a:pt x="137988" y="31336"/>
                </a:lnTo>
                <a:cubicBezTo>
                  <a:pt x="140142" y="29155"/>
                  <a:pt x="141357" y="26228"/>
                  <a:pt x="141357" y="23191"/>
                </a:cubicBezTo>
                <a:cubicBezTo>
                  <a:pt x="141357" y="20154"/>
                  <a:pt x="140142" y="17228"/>
                  <a:pt x="137988" y="15047"/>
                </a:cubicBezTo>
                <a:lnTo>
                  <a:pt x="126310" y="3368"/>
                </a:lnTo>
                <a:cubicBezTo>
                  <a:pt x="124129" y="1215"/>
                  <a:pt x="121202" y="0"/>
                  <a:pt x="118165" y="0"/>
                </a:cubicBezTo>
                <a:cubicBezTo>
                  <a:pt x="115128" y="0"/>
                  <a:pt x="112202" y="1215"/>
                  <a:pt x="110021" y="3368"/>
                </a:cubicBezTo>
                <a:close/>
                <a:moveTo>
                  <a:pt x="76310" y="37078"/>
                </a:moveTo>
                <a:lnTo>
                  <a:pt x="3368" y="110021"/>
                </a:lnTo>
                <a:cubicBezTo>
                  <a:pt x="1215" y="112202"/>
                  <a:pt x="0" y="115128"/>
                  <a:pt x="0" y="118165"/>
                </a:cubicBezTo>
                <a:cubicBezTo>
                  <a:pt x="0" y="121202"/>
                  <a:pt x="1215" y="124129"/>
                  <a:pt x="3368" y="126310"/>
                </a:cubicBezTo>
                <a:lnTo>
                  <a:pt x="15047" y="137988"/>
                </a:lnTo>
                <a:cubicBezTo>
                  <a:pt x="17228" y="140142"/>
                  <a:pt x="20154" y="141357"/>
                  <a:pt x="23191" y="141357"/>
                </a:cubicBezTo>
                <a:cubicBezTo>
                  <a:pt x="26228" y="141357"/>
                  <a:pt x="29155" y="140142"/>
                  <a:pt x="31336" y="137988"/>
                </a:cubicBezTo>
                <a:lnTo>
                  <a:pt x="104278" y="65046"/>
                </a:lnTo>
                <a:lnTo>
                  <a:pt x="76310" y="37078"/>
                </a:lnTo>
                <a:close/>
              </a:path>
            </a:pathLst>
          </a:custGeom>
          <a:solidFill>
            <a:srgbClr val="1D1D1D"/>
          </a:solidFill>
          <a:ln/>
        </p:spPr>
        <p:txBody>
          <a:bodyPr/>
          <a:lstStyle/>
          <a:p>
            <a:endParaRPr lang="en-US"/>
          </a:p>
        </p:txBody>
      </p:sp>
      <p:sp>
        <p:nvSpPr>
          <p:cNvPr id="21" name="Text 19"/>
          <p:cNvSpPr/>
          <p:nvPr/>
        </p:nvSpPr>
        <p:spPr>
          <a:xfrm>
            <a:off x="579254" y="6547445"/>
            <a:ext cx="11330033" cy="212035"/>
          </a:xfrm>
          <a:prstGeom prst="rect">
            <a:avLst/>
          </a:prstGeom>
          <a:noFill/>
          <a:ln/>
        </p:spPr>
        <p:txBody>
          <a:bodyPr wrap="square" lIns="0" tIns="0" rIns="0" bIns="0" rtlCol="0" anchor="ctr"/>
          <a:lstStyle/>
          <a:p>
            <a:pPr>
              <a:lnSpc>
                <a:spcPct val="130000"/>
              </a:lnSpc>
            </a:pPr>
            <a:r>
              <a:rPr lang="en-US" sz="1113" b="1" dirty="0">
                <a:solidFill>
                  <a:srgbClr val="1D1D1D"/>
                </a:solidFill>
                <a:latin typeface="Liter" pitchFamily="34" charset="0"/>
                <a:ea typeface="Liter" pitchFamily="34" charset="-122"/>
                <a:cs typeface="Liter" pitchFamily="34" charset="-120"/>
              </a:rPr>
              <a:t>Customization Tip:</a:t>
            </a:r>
            <a:r>
              <a:rPr lang="en-US" sz="1113" dirty="0">
                <a:solidFill>
                  <a:srgbClr val="86868B"/>
                </a:solidFill>
                <a:latin typeface="Liter" pitchFamily="34" charset="0"/>
                <a:ea typeface="Liter" pitchFamily="34" charset="-122"/>
                <a:cs typeface="Liter" pitchFamily="34" charset="-120"/>
              </a:rPr>
              <a:t> </a:t>
            </a:r>
            <a:r>
              <a:rPr lang="en-US" sz="1113" dirty="0">
                <a:solidFill>
                  <a:schemeClr val="accent5"/>
                </a:solidFill>
                <a:latin typeface="Liter" pitchFamily="34" charset="0"/>
                <a:ea typeface="Liter" pitchFamily="34" charset="-122"/>
                <a:cs typeface="Liter" pitchFamily="34" charset="-120"/>
              </a:rPr>
              <a:t>Replace the bracketed placeholders with specific details from your situation. The more precise, the better</a:t>
            </a:r>
            <a:r>
              <a:rPr lang="en-US" sz="1113" dirty="0">
                <a:solidFill>
                  <a:srgbClr val="86868B"/>
                </a:solidFill>
                <a:latin typeface="Liter" pitchFamily="34" charset="0"/>
                <a:ea typeface="Liter" pitchFamily="34" charset="-122"/>
                <a:cs typeface="Liter" pitchFamily="34" charset="-120"/>
              </a:rPr>
              <a:t>.</a:t>
            </a:r>
            <a:endParaRPr lang="en-US" sz="1600"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name="Slide 14">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5523742" y="1073473"/>
            <a:ext cx="914400" cy="914400"/>
          </a:xfrm>
          <a:custGeom>
            <a:avLst/>
            <a:gdLst/>
            <a:ahLst/>
            <a:cxnLst/>
            <a:rect l="l" t="t" r="r" b="b"/>
            <a:pathLst>
              <a:path w="914400" h="914400">
                <a:moveTo>
                  <a:pt x="457200" y="0"/>
                </a:moveTo>
                <a:lnTo>
                  <a:pt x="457200" y="0"/>
                </a:lnTo>
                <a:cubicBezTo>
                  <a:pt x="709536" y="0"/>
                  <a:pt x="914400" y="204864"/>
                  <a:pt x="914400" y="457200"/>
                </a:cubicBezTo>
                <a:lnTo>
                  <a:pt x="914400" y="457200"/>
                </a:lnTo>
                <a:cubicBezTo>
                  <a:pt x="914400" y="709536"/>
                  <a:pt x="709536" y="914400"/>
                  <a:pt x="457200" y="914400"/>
                </a:cubicBezTo>
                <a:lnTo>
                  <a:pt x="457200" y="914400"/>
                </a:lnTo>
                <a:cubicBezTo>
                  <a:pt x="204864" y="914400"/>
                  <a:pt x="0" y="709536"/>
                  <a:pt x="0" y="457200"/>
                </a:cubicBezTo>
                <a:lnTo>
                  <a:pt x="0" y="457200"/>
                </a:lnTo>
                <a:cubicBezTo>
                  <a:pt x="0" y="204864"/>
                  <a:pt x="204864" y="0"/>
                  <a:pt x="457200" y="0"/>
                </a:cubicBezTo>
                <a:close/>
              </a:path>
            </a:pathLst>
          </a:custGeom>
          <a:solidFill>
            <a:srgbClr val="1D1D1D"/>
          </a:solidFill>
          <a:ln/>
        </p:spPr>
        <p:txBody>
          <a:bodyPr/>
          <a:lstStyle/>
          <a:p>
            <a:endParaRPr lang="en-US"/>
          </a:p>
        </p:txBody>
      </p:sp>
      <p:sp>
        <p:nvSpPr>
          <p:cNvPr id="3" name="Shape 1"/>
          <p:cNvSpPr/>
          <p:nvPr/>
        </p:nvSpPr>
        <p:spPr>
          <a:xfrm>
            <a:off x="5809492" y="1359223"/>
            <a:ext cx="342900" cy="342900"/>
          </a:xfrm>
          <a:custGeom>
            <a:avLst/>
            <a:gdLst/>
            <a:ahLst/>
            <a:cxnLst/>
            <a:rect l="l" t="t" r="r" b="b"/>
            <a:pathLst>
              <a:path w="342900" h="342900">
                <a:moveTo>
                  <a:pt x="171450" y="342900"/>
                </a:moveTo>
                <a:cubicBezTo>
                  <a:pt x="266076" y="342900"/>
                  <a:pt x="342900" y="266076"/>
                  <a:pt x="342900" y="171450"/>
                </a:cubicBezTo>
                <a:cubicBezTo>
                  <a:pt x="342900" y="76824"/>
                  <a:pt x="266076" y="0"/>
                  <a:pt x="171450" y="0"/>
                </a:cubicBezTo>
                <a:cubicBezTo>
                  <a:pt x="76824" y="0"/>
                  <a:pt x="0" y="76824"/>
                  <a:pt x="0" y="171450"/>
                </a:cubicBezTo>
                <a:cubicBezTo>
                  <a:pt x="0" y="266076"/>
                  <a:pt x="76824" y="342900"/>
                  <a:pt x="171450" y="342900"/>
                </a:cubicBezTo>
                <a:close/>
                <a:moveTo>
                  <a:pt x="227975" y="142451"/>
                </a:moveTo>
                <a:lnTo>
                  <a:pt x="174397" y="228176"/>
                </a:lnTo>
                <a:cubicBezTo>
                  <a:pt x="171584" y="232663"/>
                  <a:pt x="166762" y="235476"/>
                  <a:pt x="161471" y="235744"/>
                </a:cubicBezTo>
                <a:cubicBezTo>
                  <a:pt x="156180" y="236012"/>
                  <a:pt x="151090" y="233601"/>
                  <a:pt x="147943" y="229314"/>
                </a:cubicBezTo>
                <a:lnTo>
                  <a:pt x="115796" y="186452"/>
                </a:lnTo>
                <a:cubicBezTo>
                  <a:pt x="110438" y="179353"/>
                  <a:pt x="111911" y="169307"/>
                  <a:pt x="119010" y="163949"/>
                </a:cubicBezTo>
                <a:cubicBezTo>
                  <a:pt x="126110" y="158591"/>
                  <a:pt x="136155" y="160065"/>
                  <a:pt x="141513" y="167164"/>
                </a:cubicBezTo>
                <a:lnTo>
                  <a:pt x="159596" y="191274"/>
                </a:lnTo>
                <a:lnTo>
                  <a:pt x="200717" y="125440"/>
                </a:lnTo>
                <a:cubicBezTo>
                  <a:pt x="205405" y="117939"/>
                  <a:pt x="215317" y="115595"/>
                  <a:pt x="222885" y="120350"/>
                </a:cubicBezTo>
                <a:cubicBezTo>
                  <a:pt x="230453" y="125105"/>
                  <a:pt x="232730" y="134950"/>
                  <a:pt x="227975" y="142518"/>
                </a:cubicBezTo>
                <a:close/>
              </a:path>
            </a:pathLst>
          </a:custGeom>
          <a:solidFill>
            <a:srgbClr val="FFFFFF"/>
          </a:solidFill>
          <a:ln/>
        </p:spPr>
        <p:txBody>
          <a:bodyPr/>
          <a:lstStyle/>
          <a:p>
            <a:endParaRPr lang="en-US"/>
          </a:p>
        </p:txBody>
      </p:sp>
      <p:sp>
        <p:nvSpPr>
          <p:cNvPr id="19" name="Shape 17"/>
          <p:cNvSpPr/>
          <p:nvPr/>
        </p:nvSpPr>
        <p:spPr>
          <a:xfrm>
            <a:off x="5486400" y="5817394"/>
            <a:ext cx="1219200" cy="0"/>
          </a:xfrm>
          <a:custGeom>
            <a:avLst/>
            <a:gdLst/>
            <a:ahLst/>
            <a:cxnLst/>
            <a:rect l="l" t="t" r="r" b="b"/>
            <a:pathLst>
              <a:path w="1219200">
                <a:moveTo>
                  <a:pt x="0" y="0"/>
                </a:moveTo>
                <a:lnTo>
                  <a:pt x="1219200" y="0"/>
                </a:lnTo>
                <a:lnTo>
                  <a:pt x="1219200" y="0"/>
                </a:lnTo>
                <a:lnTo>
                  <a:pt x="0" y="0"/>
                </a:lnTo>
                <a:lnTo>
                  <a:pt x="0" y="0"/>
                </a:lnTo>
                <a:close/>
              </a:path>
            </a:pathLst>
          </a:custGeom>
          <a:solidFill>
            <a:srgbClr val="1D1D1D"/>
          </a:solidFill>
          <a:ln/>
        </p:spPr>
        <p:txBody>
          <a:bodyPr/>
          <a:lstStyle/>
          <a:p>
            <a:endParaRPr lang="en-US"/>
          </a:p>
        </p:txBody>
      </p:sp>
      <p:sp>
        <p:nvSpPr>
          <p:cNvPr id="20" name="Text 18"/>
          <p:cNvSpPr/>
          <p:nvPr/>
        </p:nvSpPr>
        <p:spPr>
          <a:xfrm>
            <a:off x="3158640" y="2877669"/>
            <a:ext cx="5779467" cy="619125"/>
          </a:xfrm>
          <a:prstGeom prst="rect">
            <a:avLst/>
          </a:prstGeom>
          <a:noFill/>
          <a:ln/>
        </p:spPr>
        <p:txBody>
          <a:bodyPr wrap="square" lIns="0" tIns="0" rIns="0" bIns="0" rtlCol="0" anchor="ctr"/>
          <a:lstStyle/>
          <a:p>
            <a:pPr algn="ctr">
              <a:lnSpc>
                <a:spcPct val="140000"/>
              </a:lnSpc>
            </a:pPr>
            <a:r>
              <a:rPr lang="en-US" sz="2000" dirty="0">
                <a:solidFill>
                  <a:srgbClr val="86868B"/>
                </a:solidFill>
                <a:latin typeface="Liter" pitchFamily="34" charset="0"/>
                <a:ea typeface="Liter" pitchFamily="34" charset="-122"/>
                <a:cs typeface="Liter" pitchFamily="34" charset="-120"/>
              </a:rPr>
              <a:t>Your case statement is not just documentation—</a:t>
            </a:r>
            <a:endParaRPr lang="en-US" sz="2000" dirty="0"/>
          </a:p>
          <a:p>
            <a:pPr algn="ctr">
              <a:lnSpc>
                <a:spcPct val="140000"/>
              </a:lnSpc>
            </a:pPr>
            <a:r>
              <a:rPr lang="en-US" sz="2000" b="1" dirty="0">
                <a:solidFill>
                  <a:srgbClr val="1D1D1D"/>
                </a:solidFill>
                <a:latin typeface="Liter" pitchFamily="34" charset="0"/>
                <a:ea typeface="Liter" pitchFamily="34" charset="-122"/>
                <a:cs typeface="Liter" pitchFamily="34" charset="-120"/>
              </a:rPr>
              <a:t>it's your roadmap to success.</a:t>
            </a:r>
            <a:endParaRPr lang="en-US" sz="2000" dirty="0"/>
          </a:p>
        </p:txBody>
      </p:sp>
    </p:spTree>
  </p:cSld>
  <p:clrMapOvr>
    <a:masterClrMapping/>
  </p:clrMapOvr>
  <p:transition>
    <p:fade/>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1287</TotalTime>
  <Words>963</Words>
  <Application>Microsoft Office PowerPoint</Application>
  <PresentationFormat>Widescreen</PresentationFormat>
  <Paragraphs>109</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Liter</vt:lpstr>
      <vt:lpstr>Custom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Case Statement Guide</dc:title>
  <dc:subject>Case Statement Guide</dc:subject>
  <dc:creator>Kimi</dc:creator>
  <cp:lastModifiedBy>Sayed Ali</cp:lastModifiedBy>
  <cp:revision>8</cp:revision>
  <dcterms:created xsi:type="dcterms:W3CDTF">2026-02-03T09:14:04Z</dcterms:created>
  <dcterms:modified xsi:type="dcterms:W3CDTF">2026-02-16T08:14:10Z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{"Label":"Case Statement Guide","ContentProducer":"001191110108MACG2KBH8F10000","ProduceID":"19c22c1b-dd22-87a7-8000-00001cee8290","ReservedCode1":"","ContentPropagator":"001191110108MACG2KBH8F20000","PropagateID":"19c22c1b-dd22-87a7-8000-00001cee8290","ReservedCode2":""}</vt:lpwstr>
  </property>
</Properties>
</file>